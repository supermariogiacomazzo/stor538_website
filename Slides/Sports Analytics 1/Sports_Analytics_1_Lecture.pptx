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282" r:id="rId3"/>
    <p:sldId id="258" r:id="rId4"/>
    <p:sldId id="283" r:id="rId5"/>
    <p:sldId id="295" r:id="rId6"/>
    <p:sldId id="260" r:id="rId7"/>
    <p:sldId id="259" r:id="rId8"/>
    <p:sldId id="261" r:id="rId9"/>
    <p:sldId id="263" r:id="rId10"/>
    <p:sldId id="262" r:id="rId11"/>
    <p:sldId id="297" r:id="rId12"/>
    <p:sldId id="264" r:id="rId13"/>
    <p:sldId id="291" r:id="rId14"/>
    <p:sldId id="265" r:id="rId15"/>
    <p:sldId id="286" r:id="rId16"/>
    <p:sldId id="266" r:id="rId17"/>
    <p:sldId id="267" r:id="rId18"/>
    <p:sldId id="288" r:id="rId19"/>
    <p:sldId id="289" r:id="rId20"/>
    <p:sldId id="290" r:id="rId21"/>
    <p:sldId id="296" r:id="rId22"/>
    <p:sldId id="269" r:id="rId23"/>
    <p:sldId id="270" r:id="rId24"/>
    <p:sldId id="271" r:id="rId25"/>
    <p:sldId id="272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5583"/>
    <a:srgbClr val="F76464"/>
    <a:srgbClr val="882E2E"/>
    <a:srgbClr val="DB5B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55" autoAdjust="0"/>
    <p:restoredTop sz="94973" autoAdjust="0"/>
  </p:normalViewPr>
  <p:slideViewPr>
    <p:cSldViewPr snapToGrid="0">
      <p:cViewPr>
        <p:scale>
          <a:sx n="100" d="100"/>
          <a:sy n="100" d="100"/>
        </p:scale>
        <p:origin x="2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4E5E84-956F-4423-97B3-5936A6D8EEEE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3D9EF6-5B6D-4923-9412-628692DCC0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746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3500F-1FE6-865F-C89A-94FD7AD7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CB92F-DB22-80F9-1437-FCB2DD3697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6AB2C4-D622-6DFC-9312-486D80505A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0DEA3-5F4B-6A68-4B81-10EEB126F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32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201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200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19B7-2DA9-5A56-FE7A-0FF2E59C0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FFB6C-D2EC-0A91-887D-E8B60180B8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9D3FBA-753A-DA6B-AA82-B0487A44B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444D5-296D-1DD5-717A-3E9228332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100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3306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6556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8482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8305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39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564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1588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981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49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5702-728A-83B1-2DA2-FEF7F98E5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2BFB0-430B-BCF2-793D-99E56A43C7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69C35C-C8D6-0C09-3117-142477DCF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F2989-54B3-9686-E169-CE6F16A21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5966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9757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0027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3805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3D9EF6-5B6D-4923-9412-628692DCC0E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318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EFD90-18A5-461A-97B5-BF5D964D24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F3264F-69B9-437C-A766-FC30EF0F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A968FE-277D-4FAE-A16D-32913B01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A93C4-52E7-4696-B94F-37CFF7B9A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EB5F3-DE9E-4FD6-B37A-94BE3D41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591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EA10-8D81-465C-81FF-EA62D730A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E3FD49-B406-49EC-8015-D32BF2193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B6DA73-9FF6-4552-830B-364450604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84263-C145-4184-9AB8-C0184BF6D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4AD532-E280-4728-A9EE-56C0B5124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6446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CD4AA-A53E-4146-9CDB-2F0A94CD3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A2CE9F-D854-4A48-8BE9-C34C23BB5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F39BC-7DAB-4116-847E-1920F11F9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FE6BE-067B-4573-98ED-6E55CD1B6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43CF-83B4-43C4-AB95-4DB39B461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205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B937E-605B-4EAD-A5F0-E4BE62960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8AECCE-AF5E-48A1-92E9-086187BFA4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D40F2E-CBC6-4A0E-943C-CC4C0CE791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68192-586B-4EC7-8DA5-137D4E3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5F421-F128-432A-86E5-27970BF48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E0C05C-066A-4700-BD42-A159CD70D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000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AA41D-7EC3-449B-851E-0F77B8336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0C785B-10A6-4B50-B1BC-1A17305F3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CAF710-8ED1-4FE8-9EE1-B574629CAC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C2A21A-3F2A-4824-BCE2-9A7772A8C2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67A615-D4BC-4095-9C20-CD4F9BF98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CCACE0-B120-48AC-AF25-A247F93B6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8BC188-04E8-4C76-968E-6726720F3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D8CCCD-71D1-4F3F-A403-6224E3F8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46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B1AC-EC2A-4BD4-91CC-AFB7D17F8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C65E60F-4C44-4CAF-AB05-25729A2AB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3677B5-CBF4-4458-93AE-155D078C4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E60569-84C5-4DF4-A2BF-DCB0FEF49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62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ED8FF8-0842-405C-9C34-FB6F4841C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E4E9F5-EE5B-46BE-BE67-A4A9E1FDC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B2951-4B33-4835-9113-98118792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158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2DF96-69DF-4F06-A7B9-F6AEDE53E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0C669-C0D6-43D8-BDC1-428B0BFDB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57871-B9A5-4AF1-8C22-5EFAB20D06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80336-9845-4157-B43A-2DA162111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BC2E-00D4-4B98-A70F-8B43C6540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F0F678-C6B2-4319-AFF1-E313FB2D3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18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38E65-2B5B-449C-9BD6-052C2D705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0A7755-3ABB-4B90-9CA8-8F1C1DE30F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2AF249-C3B4-48AC-8A9B-0AE4691673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E72F56-0F14-4C38-A91D-F297CE54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CEE1E0-7248-4931-83D5-B20FBF601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7E2062-542F-4254-A653-03548B1A2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646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3CD8C-6E53-4F40-8380-A92F3B994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8C0C9-02DA-4CEC-85ED-72230B0543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F42F39-2249-4A7F-A3D2-6D10985A2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F54834-23F0-4572-9180-C7FD81522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99F3B-3D9B-4B75-96D1-264C43EE8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99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D029F3-D01E-4258-B9B7-98C4FCF70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111006-B6E1-4AAD-84CD-B296071D5D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DFB41D-AAC0-41AD-B89E-2A54D14EB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6A8BA-9134-45A5-B9C2-7F06ACC05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D21FB-D40F-4086-B1EF-D48D15B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925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98F0C-B37D-42DC-A26E-3F2DE9A08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023FA3-1FB5-45B6-AED5-AA46BE35C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060C43-94CF-49C0-969C-E320D7A0FA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1C039-66A3-4640-815B-3B5A8B7D868D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BB117C-3B02-46C9-8C04-D8B212580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44BE7-C0B5-4B71-9B7D-446B8E2D9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77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google.com/forms/d/e/1FAIpQLSeUZhibzggxIDcUYNzg42y8EEzNfwVCb3JkSvARvzwfSIT01Q/viewform?usp=sf_lin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image" Target="../media/image1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jpg"/><Relationship Id="rId4" Type="http://schemas.openxmlformats.org/officeDocument/2006/relationships/image" Target="../media/image1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5445C-8F3E-4F4B-B272-8D9F0BC49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6" y="5091762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 dirty="0">
                <a:latin typeface="Selawik Semibold" panose="020B0702040204020203" pitchFamily="34" charset="0"/>
              </a:rPr>
              <a:t>Sports Analytics 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C54F8-420D-42C9-AB41-8EA29A4112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99107" y="5091763"/>
            <a:ext cx="2974207" cy="1264587"/>
          </a:xfrm>
        </p:spPr>
        <p:txBody>
          <a:bodyPr anchor="ctr">
            <a:normAutofit/>
          </a:bodyPr>
          <a:lstStyle/>
          <a:p>
            <a:pPr algn="l"/>
            <a:r>
              <a:rPr lang="en-US" sz="2000" dirty="0">
                <a:latin typeface="Selawik Semibold" panose="020B0702040204020203" pitchFamily="34" charset="0"/>
              </a:rPr>
              <a:t>Produced by Dr. Mario</a:t>
            </a:r>
          </a:p>
          <a:p>
            <a:pPr algn="l"/>
            <a:r>
              <a:rPr lang="en-US" sz="2000" dirty="0">
                <a:latin typeface="Selawik Semibold" panose="020B0702040204020203" pitchFamily="34" charset="0"/>
              </a:rPr>
              <a:t>UNC </a:t>
            </a:r>
            <a:r>
              <a:rPr lang="en-US" sz="2000">
                <a:latin typeface="Selawik Semibold" panose="020B0702040204020203" pitchFamily="34" charset="0"/>
              </a:rPr>
              <a:t>STOR 538</a:t>
            </a:r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949" b="23506"/>
          <a:stretch/>
        </p:blipFill>
        <p:spPr>
          <a:xfrm>
            <a:off x="-3983" y="10"/>
            <a:ext cx="12192000" cy="457199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26E481-B945-4179-BD79-05E96E9B2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rgbClr val="FFFFFF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53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on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369424" cy="4574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800" dirty="0">
                <a:latin typeface="Selawik Semibold" panose="020B0702040204020203" pitchFamily="34" charset="0"/>
              </a:rPr>
              <a:t>Complete the … </a:t>
            </a:r>
          </a:p>
          <a:p>
            <a:pPr marL="0" indent="0" algn="ctr">
              <a:buNone/>
            </a:pPr>
            <a:endParaRPr lang="en-US" sz="4000" dirty="0">
              <a:latin typeface="Selawik Semibold" panose="020B0702040204020203" pitchFamily="34" charset="0"/>
              <a:hlinkClick r:id="rId2"/>
            </a:endParaRPr>
          </a:p>
          <a:p>
            <a:pPr marL="0" indent="0" algn="ctr">
              <a:buNone/>
            </a:pPr>
            <a:r>
              <a:rPr lang="en-US" sz="8000" dirty="0">
                <a:latin typeface="Selawik Semibold" panose="020B0702040204020203" pitchFamily="34" charset="0"/>
                <a:hlinkClick r:id="rId2"/>
              </a:rPr>
              <a:t>Survey</a:t>
            </a:r>
            <a:endParaRPr lang="en-US" sz="8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45790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Demographics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369424" cy="457453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42 Responses (Thank You!!)</a:t>
            </a: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Seniors (14/42)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Juniors (18/42)</a:t>
            </a:r>
            <a:endParaRPr lang="en-US" sz="1600" dirty="0">
              <a:latin typeface="Selawik Semibold" panose="020B0702040204020203" pitchFamily="34" charset="0"/>
            </a:endParaRPr>
          </a:p>
          <a:p>
            <a:pPr marL="0" indent="0">
              <a:buNone/>
            </a:pPr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Sophomores (9/42)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Other (1/42)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1151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R Experience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369424" cy="457453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A1E06C-33CF-F8E5-AE9C-2C49CB11AD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672" y="1742199"/>
            <a:ext cx="7341472" cy="48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825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11337-C09B-594F-C8A4-608599218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A9F3628-4610-BC6F-48E3-B83EF8A84F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FC2EB7-4826-EB23-D4AE-160D0238B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Goal After Graduation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4C1F6BB-CDA6-4970-A4C6-79705BC26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6369424" cy="4574533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sz="1600" dirty="0">
              <a:latin typeface="Selawik Semibold" panose="020B0702040204020203" pitchFamily="34" charset="0"/>
            </a:endParaRPr>
          </a:p>
          <a:p>
            <a:endParaRPr lang="en-US" sz="24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79516073-55A9-EF6A-92FA-C7CF80AAF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FEA0993C-6B1E-5556-FEB0-07AD313AC1B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7151D4B-F807-3510-EF8F-099218F7345A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60A1A1-2616-57C0-7AB6-55781E518AAE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DCDDF6-33B2-1B30-CACF-8584E25CAAD1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3D966E6-3FEC-2BC1-BA70-18E75040C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14" y="1744485"/>
            <a:ext cx="7332531" cy="4888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154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Watched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E84E9-6AE7-ADB0-B659-759CF2637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281" y="1608918"/>
            <a:ext cx="7910480" cy="52736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A89D491-8FC2-4F8B-210C-1032F4F3BBEA}"/>
              </a:ext>
            </a:extLst>
          </p:cNvPr>
          <p:cNvSpPr txBox="1"/>
          <p:nvPr/>
        </p:nvSpPr>
        <p:spPr>
          <a:xfrm>
            <a:off x="2981585" y="2706342"/>
            <a:ext cx="34470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54 Unique Sports Represented</a:t>
            </a:r>
          </a:p>
        </p:txBody>
      </p:sp>
    </p:spTree>
    <p:extLst>
      <p:ext uri="{BB962C8B-B14F-4D97-AF65-F5344CB8AC3E}">
        <p14:creationId xmlns:p14="http://schemas.microsoft.com/office/powerpoint/2010/main" val="3046537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Played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BC6E8B-9E7E-0A53-2CD8-471120D7BF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186" y="1618308"/>
            <a:ext cx="7873623" cy="5249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FA6BE3B-023D-B2E9-F739-53D7AAA11D03}"/>
              </a:ext>
            </a:extLst>
          </p:cNvPr>
          <p:cNvSpPr txBox="1"/>
          <p:nvPr/>
        </p:nvSpPr>
        <p:spPr>
          <a:xfrm>
            <a:off x="3008519" y="2468609"/>
            <a:ext cx="34470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42 Unique Sports Represented</a:t>
            </a:r>
          </a:p>
        </p:txBody>
      </p:sp>
    </p:spTree>
    <p:extLst>
      <p:ext uri="{BB962C8B-B14F-4D97-AF65-F5344CB8AC3E}">
        <p14:creationId xmlns:p14="http://schemas.microsoft.com/office/powerpoint/2010/main" val="1424658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Survey Results: Combined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2FEF91-B4B1-7F7A-D9C8-3ACFEF4A5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608918"/>
            <a:ext cx="10466414" cy="523320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75F80BC-FF65-426F-BFEE-18370DE11A6D}"/>
              </a:ext>
            </a:extLst>
          </p:cNvPr>
          <p:cNvSpPr txBox="1"/>
          <p:nvPr/>
        </p:nvSpPr>
        <p:spPr>
          <a:xfrm>
            <a:off x="729580" y="5902589"/>
            <a:ext cx="3964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b="1" dirty="0">
                <a:solidFill>
                  <a:schemeClr val="bg1"/>
                </a:solidFill>
                <a:latin typeface="Selawik Semibold" panose="020B0702040204020203" pitchFamily="34" charset="0"/>
              </a:rPr>
              <a:t>Watched = Red</a:t>
            </a:r>
          </a:p>
          <a:p>
            <a:pPr lvl="1"/>
            <a:r>
              <a:rPr lang="en-US" b="1" dirty="0">
                <a:solidFill>
                  <a:schemeClr val="bg1"/>
                </a:solidFill>
                <a:latin typeface="Selawik Semibold" panose="020B0702040204020203" pitchFamily="34" charset="0"/>
              </a:rPr>
              <a:t>Played = Blue</a:t>
            </a:r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635680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6833347" cy="464660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Most Popular World Sports (hdled.com)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“Ranked Based Off Global Popularity, Media Coverage, and Cultural Significance”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From Most Popular to Least Popular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Soccer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Cricket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Basketball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Tennis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Hockey (Field and Ice)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American Football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Baseball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Golf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Table Tennis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Volleyball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72845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2038469"/>
            <a:ext cx="7168376" cy="1125362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Most Popular World Sports (worldatlas.com)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Based on Number of Fans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10" name="Picture 9" descr="A screenshot of a sports list&#10;&#10;AI-generated content may be incorrect.">
            <a:extLst>
              <a:ext uri="{FF2B5EF4-FFF2-40B4-BE49-F238E27FC236}">
                <a16:creationId xmlns:a16="http://schemas.microsoft.com/office/drawing/2014/main" id="{6B320F58-50B5-2DA3-4CFB-1B4F5A1988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972" y="2934481"/>
            <a:ext cx="5051648" cy="3558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9043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71032F-D93B-7A36-1EB3-964E3093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1C193F9-7F4D-68E5-3701-4D74A2CDC9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179F39-E305-A28A-E30B-770E59EDA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06EAF48-F559-1238-CE10-41D58FF2F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78" y="2038469"/>
            <a:ext cx="7168376" cy="4583260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Most Popular World Sports (biggestglobalsports.com)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Ranking of Top 5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Football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Basketball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Tennis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Cricket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Baseball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Gives Rationale for Metric But No Formula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Discusses Data Without Providing the Data or Preview of Data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4964E1EA-1153-C794-AF71-FD0A0D3D659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0EDCFD45-549E-1191-4ADA-9FFC41A7C72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83D322-0B6C-3053-A12F-4FD038C434B7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1B7CFE-7136-6786-DB9D-3DDEA7972C3F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F2EB8D-9B9E-C0C3-1240-12B42A25C811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2436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7267832" cy="4527469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Most Popular US Sports (Gallup.com)</a:t>
            </a:r>
          </a:p>
          <a:p>
            <a:pPr marL="457200" lvl="1" indent="0">
              <a:buNone/>
            </a:pPr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41% of US Adults Say Football is “Favorite”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Football has been “Favorite” Since 1972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Not True with Young Adults (Basketball)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Soccer is Interesting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&lt;2% Prior to 2004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Consistently Above 2% Since 2008 (High of 7%)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Updated to 2024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 descr="A graph of a sports game&#10;&#10;Description automatically generated with medium confidence">
            <a:extLst>
              <a:ext uri="{FF2B5EF4-FFF2-40B4-BE49-F238E27FC236}">
                <a16:creationId xmlns:a16="http://schemas.microsoft.com/office/drawing/2014/main" id="{F2DEBC7F-F0CF-0154-04EC-9F63294FFE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60" b="9313"/>
          <a:stretch/>
        </p:blipFill>
        <p:spPr>
          <a:xfrm>
            <a:off x="7466250" y="3628266"/>
            <a:ext cx="4725750" cy="3088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1050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1249"/>
            <a:ext cx="7267832" cy="4527469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Infographic About US Sports (Statista.com)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B20B5FC-5E6F-0792-CFD6-8F2ED59738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950" y="2473807"/>
            <a:ext cx="4652345" cy="4243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9594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50"/>
            <a:ext cx="6632943" cy="48662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Revenue in Sports Leagues (Forbes 2022)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 descr="Chart, bar chart&#10;&#10;Description automatically generated">
            <a:extLst>
              <a:ext uri="{FF2B5EF4-FFF2-40B4-BE49-F238E27FC236}">
                <a16:creationId xmlns:a16="http://schemas.microsoft.com/office/drawing/2014/main" id="{00CA4986-23D4-59DC-3076-556D48B155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6901" y="2507876"/>
            <a:ext cx="4527334" cy="4071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4320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50"/>
            <a:ext cx="6632943" cy="486626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Revenue in Sports Leagues (Forbes 2022)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8" name="Picture 7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41A55D49-6774-0F25-43B3-8A9BC69672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646" y="2507876"/>
            <a:ext cx="6467832" cy="231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5508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Revenue in Sports Leagues (Wikipedia)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List Based off Most Recent Data (in Euro)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NFL (American Football,19.1 Billion)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MLB (Baseball, 11.0 Billion) – Swapped with NBA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NBA (Basketball, 10.6 Billion)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EPL (Soccer, 7.7 Billion, England)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NHL (Hockey, 6.0 Billion)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La Liga (Soccer, 5.2 Billion, Spain)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Bundesliga (Soccer, 4.4 Billion, Germany)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Serie A (Soccer, 3.6 Billion, Italy)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Ligue 1 (Soccer, 2.4 Billion, France)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MLS (Soccer, 2.2 Billion, US) – Up From 1.5 Billion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Compare Revenue Per Team and Revenue Per Match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954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Growth in Team Sports (sisugaurd.com)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 descr="A screenshot of a cell phone&#10;&#10;Description automatically generated">
            <a:extLst>
              <a:ext uri="{FF2B5EF4-FFF2-40B4-BE49-F238E27FC236}">
                <a16:creationId xmlns:a16="http://schemas.microsoft.com/office/drawing/2014/main" id="{ED404A5E-A92F-40E3-803A-B7C744A38E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998" y="2440640"/>
            <a:ext cx="4911998" cy="41881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F57D43-4A99-47D7-A02E-3A57D96B7B4F}"/>
              </a:ext>
            </a:extLst>
          </p:cNvPr>
          <p:cNvSpPr txBox="1"/>
          <p:nvPr/>
        </p:nvSpPr>
        <p:spPr>
          <a:xfrm>
            <a:off x="6123996" y="5528278"/>
            <a:ext cx="38251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Based on 2017 Annual Report </a:t>
            </a:r>
          </a:p>
          <a:p>
            <a:r>
              <a:rPr lang="en-US" dirty="0"/>
              <a:t>On US Trends in Team Sports </a:t>
            </a:r>
          </a:p>
          <a:p>
            <a:r>
              <a:rPr lang="en-US" dirty="0"/>
              <a:t>By Sports &amp; Fitness Industry Association (SFIA)</a:t>
            </a:r>
          </a:p>
        </p:txBody>
      </p:sp>
    </p:spTree>
    <p:extLst>
      <p:ext uri="{BB962C8B-B14F-4D97-AF65-F5344CB8AC3E}">
        <p14:creationId xmlns:p14="http://schemas.microsoft.com/office/powerpoint/2010/main" val="567599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Growth in Team Sports (SFIA Twitter)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Based off 2019 Report</a:t>
            </a:r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AC29A090-57F8-12EE-E6FF-69DDC4C792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0509" y="3160986"/>
            <a:ext cx="4043726" cy="335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7326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Growth in Team Sports (SFIA)</a:t>
            </a:r>
            <a:endParaRPr lang="en-US" sz="1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Interesting Information About 2022 Annual Report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Pandemic Effect on Team Sports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67 million in 2020 to 68.3 million in 2021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70.8 million in 2019</a:t>
            </a:r>
          </a:p>
          <a:p>
            <a:pPr lvl="2"/>
            <a:endParaRPr lang="en-US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Team Sports Ages 6-12 Increased 0.6 million in 2021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Basketball Continues to be Most Played (27.1 million)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Soccer Overtook Basketball for 6-year-olds in 2021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8684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Growth in Team Sports (SFIA)</a:t>
            </a:r>
            <a:endParaRPr lang="en-US" sz="1000" dirty="0">
              <a:latin typeface="Selawik Semibold" panose="020B0702040204020203" pitchFamily="34" charset="0"/>
            </a:endParaRPr>
          </a:p>
          <a:p>
            <a:pPr lvl="1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Participant Rate Changes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Fast-Pitch Softball (+15.3%)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Gymnastics (+10.9%)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Court Volleyball (+8.1%)</a:t>
            </a:r>
          </a:p>
          <a:p>
            <a:pPr lvl="2"/>
            <a:r>
              <a:rPr lang="en-US" sz="1600" dirty="0">
                <a:latin typeface="Selawik Semibold" panose="020B0702040204020203" pitchFamily="34" charset="0"/>
              </a:rPr>
              <a:t>Swimming on Team (+8%)</a:t>
            </a:r>
          </a:p>
          <a:p>
            <a:pPr lvl="1"/>
            <a:endParaRPr lang="en-US" sz="18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Team Sports Increased by 8 Million from 2022 to 2023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Sport Per Participant Continues a Downward Trend</a:t>
            </a:r>
          </a:p>
          <a:p>
            <a:pPr lvl="2"/>
            <a:r>
              <a:rPr lang="en-US" dirty="0">
                <a:latin typeface="Selawik Semibold" panose="020B0702040204020203" pitchFamily="34" charset="0"/>
              </a:rPr>
              <a:t>Mean  = 1.73 (Lowest in the Decade)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5587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2EDADD-602F-3957-F61F-816FB7B69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D23D674-21DC-DF6B-107A-D4956FEF6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725746-AB16-60CA-3823-593ADC1E5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Current Landscape of 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DEA36A2-F0C2-B954-0E78-E860425EA6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5109118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Article by Florian Zandt  (Statista.com)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96% of Americans Spent Time on Sports and Leisure Activities in 2021 (US BLS)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Number Consistent Along the Gender Divide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Article Focuses on Differences Between Men and Women Respondents</a:t>
            </a: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6556066A-93F4-1127-0093-7032D9DB380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69BEFD7-DDBB-436A-53C5-55680D9C10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3F1858F-9AE0-9180-48D0-97C45C5BEB0D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42294E-D525-7C9E-454D-7F8BAD725BE8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8876B09-8DC5-854E-911D-6228140682A0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A92EC190-D2B1-A60D-33AD-44329EE34B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180" y="1516481"/>
            <a:ext cx="5664818" cy="529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8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Dope Quote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2021249"/>
            <a:ext cx="7425020" cy="45812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The most meaningful way to</a:t>
            </a: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differentiate your company from your</a:t>
            </a: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competitors, the best way to put distance</a:t>
            </a: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between you and the crowd is to do an</a:t>
            </a: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outstanding job with information. </a:t>
            </a:r>
          </a:p>
          <a:p>
            <a:pPr marL="0" indent="0">
              <a:buNone/>
            </a:pPr>
            <a:endParaRPr lang="en-US" dirty="0">
              <a:latin typeface="Selawik Semibold" panose="020B07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How you gather, manage, and use information</a:t>
            </a: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will determine whether you win or lose.</a:t>
            </a:r>
          </a:p>
          <a:p>
            <a:pPr marL="0" indent="0">
              <a:buNone/>
            </a:pPr>
            <a:endParaRPr lang="en-US" dirty="0">
              <a:latin typeface="Selawik Semibold" panose="020B0702040204020203" pitchFamily="34" charset="0"/>
            </a:endParaRPr>
          </a:p>
          <a:p>
            <a:pPr marL="0" indent="0">
              <a:buNone/>
            </a:pPr>
            <a:r>
              <a:rPr lang="en-US" dirty="0">
                <a:latin typeface="Selawik Semibold" panose="020B0702040204020203" pitchFamily="34" charset="0"/>
              </a:rPr>
              <a:t>- Bill Gates</a:t>
            </a: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  <a:p>
            <a:pPr lvl="2"/>
            <a:endParaRPr lang="en-US" sz="16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4898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What is Sports Analytics?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Defined by Ben </a:t>
            </a:r>
            <a:r>
              <a:rPr lang="en-US" sz="2400" dirty="0" err="1">
                <a:latin typeface="Selawik Semibold" panose="020B0702040204020203" pitchFamily="34" charset="0"/>
              </a:rPr>
              <a:t>Alamar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Data Management</a:t>
            </a:r>
          </a:p>
          <a:p>
            <a:pPr lvl="1"/>
            <a:r>
              <a:rPr lang="en-US" sz="2000">
                <a:latin typeface="Selawik Semibold" panose="020B0702040204020203" pitchFamily="34" charset="0"/>
              </a:rPr>
              <a:t>Analytic </a:t>
            </a:r>
            <a:r>
              <a:rPr lang="en-US" sz="2000" dirty="0">
                <a:latin typeface="Selawik Semibold" panose="020B0702040204020203" pitchFamily="34" charset="0"/>
              </a:rPr>
              <a:t>Models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Information Systems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2E552F-CD5E-4928-A884-3509AF0AAD36}"/>
              </a:ext>
            </a:extLst>
          </p:cNvPr>
          <p:cNvSpPr txBox="1"/>
          <p:nvPr/>
        </p:nvSpPr>
        <p:spPr>
          <a:xfrm>
            <a:off x="365718" y="3783182"/>
            <a:ext cx="2205318" cy="954107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/>
              <a:t>Data </a:t>
            </a:r>
          </a:p>
          <a:p>
            <a:r>
              <a:rPr lang="en-US" sz="2800" dirty="0"/>
              <a:t>Management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DA0C6F-C9E0-47D4-9FC9-FCD1D65D2721}"/>
              </a:ext>
            </a:extLst>
          </p:cNvPr>
          <p:cNvSpPr txBox="1"/>
          <p:nvPr/>
        </p:nvSpPr>
        <p:spPr>
          <a:xfrm>
            <a:off x="353916" y="5407416"/>
            <a:ext cx="2205318" cy="954107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/>
              <a:t>Analytic Models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2BD579-13F5-48CC-B1C8-16F0934F3B44}"/>
              </a:ext>
            </a:extLst>
          </p:cNvPr>
          <p:cNvSpPr txBox="1"/>
          <p:nvPr/>
        </p:nvSpPr>
        <p:spPr>
          <a:xfrm>
            <a:off x="3225728" y="4163036"/>
            <a:ext cx="1907548" cy="954107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/>
              <a:t>Information</a:t>
            </a:r>
          </a:p>
          <a:p>
            <a:r>
              <a:rPr lang="en-US" sz="2800" dirty="0"/>
              <a:t>Systems</a:t>
            </a:r>
          </a:p>
        </p:txBody>
      </p:sp>
      <p:pic>
        <p:nvPicPr>
          <p:cNvPr id="10" name="Picture 9" descr="Decision Maker">
            <a:extLst>
              <a:ext uri="{FF2B5EF4-FFF2-40B4-BE49-F238E27FC236}">
                <a16:creationId xmlns:a16="http://schemas.microsoft.com/office/drawing/2014/main" id="{2911B196-1EA3-4ECD-850B-F7838FAD07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7968" y="4375030"/>
            <a:ext cx="2538848" cy="1516803"/>
          </a:xfrm>
          <a:prstGeom prst="rect">
            <a:avLst/>
          </a:prstGeom>
          <a:solidFill>
            <a:srgbClr val="000000">
              <a:shade val="95000"/>
            </a:srgbClr>
          </a:solidFill>
          <a:ln w="28575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914ED0-975E-41B2-86EC-5995292303DF}"/>
              </a:ext>
            </a:extLst>
          </p:cNvPr>
          <p:cNvSpPr txBox="1"/>
          <p:nvPr/>
        </p:nvSpPr>
        <p:spPr>
          <a:xfrm>
            <a:off x="5848506" y="5977904"/>
            <a:ext cx="2421642" cy="523220"/>
          </a:xfrm>
          <a:prstGeom prst="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800" dirty="0"/>
              <a:t>Decision Maker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34BACA9-7E25-4051-A7E8-D2B4C2C0145B}"/>
              </a:ext>
            </a:extLst>
          </p:cNvPr>
          <p:cNvSpPr/>
          <p:nvPr/>
        </p:nvSpPr>
        <p:spPr>
          <a:xfrm rot="5400000">
            <a:off x="1139801" y="4911200"/>
            <a:ext cx="497541" cy="31876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BA0E7CA-81EF-4647-8038-D30905E3C7C9}"/>
              </a:ext>
            </a:extLst>
          </p:cNvPr>
          <p:cNvSpPr/>
          <p:nvPr/>
        </p:nvSpPr>
        <p:spPr>
          <a:xfrm>
            <a:off x="2660863" y="4375030"/>
            <a:ext cx="497541" cy="31876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56068537-B0AA-411A-BA6C-AF1101648815}"/>
              </a:ext>
            </a:extLst>
          </p:cNvPr>
          <p:cNvSpPr/>
          <p:nvPr/>
        </p:nvSpPr>
        <p:spPr>
          <a:xfrm rot="20363812">
            <a:off x="2589987" y="5114621"/>
            <a:ext cx="574536" cy="31876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D65390E2-9ECB-47DE-9675-CB5E939AB195}"/>
              </a:ext>
            </a:extLst>
          </p:cNvPr>
          <p:cNvSpPr/>
          <p:nvPr/>
        </p:nvSpPr>
        <p:spPr>
          <a:xfrm>
            <a:off x="2655762" y="5786866"/>
            <a:ext cx="2965922" cy="31876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C46C3C4B-3AA7-4E8E-8FCB-77B719504DD8}"/>
              </a:ext>
            </a:extLst>
          </p:cNvPr>
          <p:cNvSpPr/>
          <p:nvPr/>
        </p:nvSpPr>
        <p:spPr>
          <a:xfrm>
            <a:off x="5214009" y="4695767"/>
            <a:ext cx="497541" cy="318768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F2662DF-6B81-4BCB-BE84-0E68709D2B8F}"/>
              </a:ext>
            </a:extLst>
          </p:cNvPr>
          <p:cNvSpPr/>
          <p:nvPr/>
        </p:nvSpPr>
        <p:spPr>
          <a:xfrm>
            <a:off x="260181" y="6334719"/>
            <a:ext cx="401738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Based on </a:t>
            </a:r>
            <a:r>
              <a:rPr lang="en-US" i="1" dirty="0"/>
              <a:t>Sports Analytics</a:t>
            </a:r>
            <a:r>
              <a:rPr lang="en-US" dirty="0"/>
              <a:t> by Ben </a:t>
            </a:r>
            <a:r>
              <a:rPr lang="en-US" dirty="0" err="1"/>
              <a:t>Alamar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60060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What is Sports Analytics?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Purpose: To Aid an Organization’s </a:t>
            </a:r>
            <a:r>
              <a:rPr lang="en-US" sz="2400" u="sng" dirty="0">
                <a:latin typeface="Selawik Semibold" panose="020B0702040204020203" pitchFamily="34" charset="0"/>
              </a:rPr>
              <a:t>Decision Makers</a:t>
            </a:r>
            <a:r>
              <a:rPr lang="en-US" sz="2400" dirty="0">
                <a:latin typeface="Selawik Semibold" panose="020B0702040204020203" pitchFamily="34" charset="0"/>
              </a:rPr>
              <a:t> in Gaining a Competitive Advantage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Goals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Save the Decision Maker Time by Making Information Acquisition Efficient </a:t>
            </a:r>
          </a:p>
          <a:p>
            <a:pPr marL="457200" lvl="1" indent="0">
              <a:buNone/>
            </a:pPr>
            <a:r>
              <a:rPr lang="en-US" sz="2000" dirty="0">
                <a:latin typeface="Selawik Semibold" panose="020B0702040204020203" pitchFamily="34" charset="0"/>
              </a:rPr>
              <a:t>   (Data Management/Information Systems)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Provide Decision Makers with Novel Insight</a:t>
            </a:r>
          </a:p>
          <a:p>
            <a:pPr marL="457200" lvl="1" indent="0">
              <a:buNone/>
            </a:pPr>
            <a:r>
              <a:rPr lang="en-US" sz="2000" dirty="0">
                <a:latin typeface="Selawik Semibold" panose="020B0702040204020203" pitchFamily="34" charset="0"/>
              </a:rPr>
              <a:t>   (Analytic Models)</a:t>
            </a:r>
          </a:p>
          <a:p>
            <a:pPr marL="457200" lvl="1" indent="0">
              <a:buNone/>
            </a:pPr>
            <a:endParaRPr lang="en-US" sz="2000" dirty="0">
              <a:latin typeface="Selawik Semibold" panose="020B0702040204020203" pitchFamily="34" charset="0"/>
            </a:endParaRPr>
          </a:p>
          <a:p>
            <a:r>
              <a:rPr lang="en-US" sz="2400" dirty="0">
                <a:latin typeface="Selawik Semibold" panose="020B0702040204020203" pitchFamily="34" charset="0"/>
              </a:rPr>
              <a:t>We are an Accessory to the Decision Maker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6961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6792F05-2FD4-4F18-815E-15391E8B4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9558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89AFCC-0FF0-498C-B11F-8990DF0DA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b="1" dirty="0">
                <a:latin typeface="Selawik Semibold" panose="020B0604020202020204" pitchFamily="34" charset="0"/>
              </a:rPr>
              <a:t>What is Sports Analytics?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D995594-59F2-4020-AB6F-751BAE84A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2021249"/>
            <a:ext cx="7324166" cy="4581257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Selawik Semibold" panose="020B0702040204020203" pitchFamily="34" charset="0"/>
              </a:rPr>
              <a:t>Different Decision Makers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Off-the-Field: Profit Driven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On-the-Field: Performance Driven</a:t>
            </a:r>
          </a:p>
          <a:p>
            <a:endParaRPr lang="en-US" sz="2400" dirty="0">
              <a:latin typeface="Selawik Semibold" panose="020B0702040204020203" pitchFamily="34" charset="0"/>
            </a:endParaRPr>
          </a:p>
          <a:p>
            <a:r>
              <a:rPr lang="en-US" sz="2400">
                <a:latin typeface="Selawik Semibold" panose="020B0702040204020203" pitchFamily="34" charset="0"/>
              </a:rPr>
              <a:t>Attributes of the </a:t>
            </a:r>
            <a:r>
              <a:rPr lang="en-US" sz="2400" dirty="0">
                <a:latin typeface="Selawik Semibold" panose="020B0702040204020203" pitchFamily="34" charset="0"/>
              </a:rPr>
              <a:t>Data Analyst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Competence – Ben </a:t>
            </a:r>
            <a:r>
              <a:rPr lang="en-US" sz="2000" dirty="0" err="1">
                <a:latin typeface="Selawik Semibold" panose="020B0702040204020203" pitchFamily="34" charset="0"/>
              </a:rPr>
              <a:t>Alamar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Leadership – Ben </a:t>
            </a:r>
            <a:r>
              <a:rPr lang="en-US" sz="2000" dirty="0" err="1">
                <a:latin typeface="Selawik Semibold" panose="020B0702040204020203" pitchFamily="34" charset="0"/>
              </a:rPr>
              <a:t>Alamar</a:t>
            </a:r>
            <a:endParaRPr lang="en-US" sz="2000" dirty="0">
              <a:latin typeface="Selawik Semibold" panose="020B0702040204020203" pitchFamily="34" charset="0"/>
            </a:endParaRP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Humility – Dr. Mario</a:t>
            </a:r>
          </a:p>
          <a:p>
            <a:pPr lvl="1"/>
            <a:r>
              <a:rPr lang="en-US" sz="2000" dirty="0">
                <a:latin typeface="Selawik Semibold" panose="020B0702040204020203" pitchFamily="34" charset="0"/>
              </a:rPr>
              <a:t>Honesty – Dr. Mario</a:t>
            </a: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16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  <a:p>
            <a:pPr lvl="1"/>
            <a:endParaRPr lang="en-US" sz="2000" dirty="0">
              <a:latin typeface="Selawik Semibold" panose="020B0702040204020203" pitchFamily="34" charset="0"/>
            </a:endParaRPr>
          </a:p>
        </p:txBody>
      </p:sp>
      <p:pic>
        <p:nvPicPr>
          <p:cNvPr id="4" name="Picture 3" descr="A drawing of a cartoon character&#10;&#10;Description automatically generated">
            <a:extLst>
              <a:ext uri="{FF2B5EF4-FFF2-40B4-BE49-F238E27FC236}">
                <a16:creationId xmlns:a16="http://schemas.microsoft.com/office/drawing/2014/main" id="{A7FDC859-D890-4904-9C64-27F43DA9045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16" r="2" b="2"/>
          <a:stretch/>
        </p:blipFill>
        <p:spPr>
          <a:xfrm>
            <a:off x="7471144" y="1700078"/>
            <a:ext cx="4720855" cy="2583792"/>
          </a:xfrm>
          <a:custGeom>
            <a:avLst/>
            <a:gdLst>
              <a:gd name="connsiteX0" fmla="*/ 0 w 5475077"/>
              <a:gd name="connsiteY0" fmla="*/ 0 h 2583792"/>
              <a:gd name="connsiteX1" fmla="*/ 5475077 w 5475077"/>
              <a:gd name="connsiteY1" fmla="*/ 0 h 2583792"/>
              <a:gd name="connsiteX2" fmla="*/ 5475077 w 5475077"/>
              <a:gd name="connsiteY2" fmla="*/ 2583792 h 2583792"/>
              <a:gd name="connsiteX3" fmla="*/ 1197192 w 5475077"/>
              <a:gd name="connsiteY3" fmla="*/ 2583792 h 25837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75077" h="2583792">
                <a:moveTo>
                  <a:pt x="0" y="0"/>
                </a:moveTo>
                <a:lnTo>
                  <a:pt x="5475077" y="0"/>
                </a:lnTo>
                <a:lnTo>
                  <a:pt x="5475077" y="2583792"/>
                </a:lnTo>
                <a:lnTo>
                  <a:pt x="1197192" y="2583792"/>
                </a:lnTo>
                <a:close/>
              </a:path>
            </a:pathLst>
          </a:custGeom>
        </p:spPr>
      </p:pic>
      <p:pic>
        <p:nvPicPr>
          <p:cNvPr id="5" name="Content Placeholder 4" descr="A picture containing indoor&#10;&#10;Description automatically generated">
            <a:extLst>
              <a:ext uri="{FF2B5EF4-FFF2-40B4-BE49-F238E27FC236}">
                <a16:creationId xmlns:a16="http://schemas.microsoft.com/office/drawing/2014/main" id="{A58F0E55-21F3-485B-A07F-1CE74177BD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00" r="3" b="6859"/>
          <a:stretch/>
        </p:blipFill>
        <p:spPr>
          <a:xfrm>
            <a:off x="8491869" y="4283870"/>
            <a:ext cx="3700129" cy="2583520"/>
          </a:xfrm>
          <a:custGeom>
            <a:avLst/>
            <a:gdLst>
              <a:gd name="connsiteX0" fmla="*/ 0 w 4277884"/>
              <a:gd name="connsiteY0" fmla="*/ 0 h 2583520"/>
              <a:gd name="connsiteX1" fmla="*/ 4277884 w 4277884"/>
              <a:gd name="connsiteY1" fmla="*/ 0 h 2583520"/>
              <a:gd name="connsiteX2" fmla="*/ 4277884 w 4277884"/>
              <a:gd name="connsiteY2" fmla="*/ 2583520 h 2583520"/>
              <a:gd name="connsiteX3" fmla="*/ 1192437 w 4277884"/>
              <a:gd name="connsiteY3" fmla="*/ 2583520 h 2583520"/>
              <a:gd name="connsiteX4" fmla="*/ 1188085 w 4277884"/>
              <a:gd name="connsiteY4" fmla="*/ 2574129 h 2583520"/>
              <a:gd name="connsiteX5" fmla="*/ 1192715 w 4277884"/>
              <a:gd name="connsiteY5" fmla="*/ 2574129 h 258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277884" h="2583520">
                <a:moveTo>
                  <a:pt x="0" y="0"/>
                </a:moveTo>
                <a:lnTo>
                  <a:pt x="4277884" y="0"/>
                </a:lnTo>
                <a:lnTo>
                  <a:pt x="4277884" y="2583520"/>
                </a:lnTo>
                <a:lnTo>
                  <a:pt x="1192437" y="2583520"/>
                </a:lnTo>
                <a:lnTo>
                  <a:pt x="1188085" y="2574129"/>
                </a:lnTo>
                <a:lnTo>
                  <a:pt x="1192715" y="2574129"/>
                </a:lnTo>
                <a:close/>
              </a:path>
            </a:pathLst>
          </a:cu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901312-C3C2-4CEC-80EF-823AB4FBB726}"/>
              </a:ext>
            </a:extLst>
          </p:cNvPr>
          <p:cNvSpPr/>
          <p:nvPr/>
        </p:nvSpPr>
        <p:spPr>
          <a:xfrm>
            <a:off x="-1" y="1608918"/>
            <a:ext cx="12191999" cy="91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0A7C9C-CA2C-4B9B-A125-2D09D5573B44}"/>
              </a:ext>
            </a:extLst>
          </p:cNvPr>
          <p:cNvSpPr/>
          <p:nvPr/>
        </p:nvSpPr>
        <p:spPr>
          <a:xfrm>
            <a:off x="1" y="6677247"/>
            <a:ext cx="12191999" cy="190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A085FC-1866-46D4-97F7-51AA45E48D4F}"/>
              </a:ext>
            </a:extLst>
          </p:cNvPr>
          <p:cNvSpPr/>
          <p:nvPr/>
        </p:nvSpPr>
        <p:spPr>
          <a:xfrm rot="4092292">
            <a:off x="5790668" y="4094517"/>
            <a:ext cx="5446699" cy="1370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B5B5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92454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955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05" r="19804" b="-1"/>
          <a:stretch/>
        </p:blipFill>
        <p:spPr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ln w="28575">
            <a:noFill/>
          </a:ln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9C460C-DD3D-4F1C-9FEE-8EC7228DF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32779" y="359964"/>
            <a:ext cx="7834193" cy="1264588"/>
          </a:xfrm>
        </p:spPr>
        <p:txBody>
          <a:bodyPr anchor="ctr">
            <a:normAutofit/>
          </a:bodyPr>
          <a:lstStyle/>
          <a:p>
            <a:pPr algn="r"/>
            <a:r>
              <a:rPr lang="en-US">
                <a:latin typeface="Selawik Semibold" panose="020B0702040204020203" pitchFamily="34" charset="0"/>
              </a:rPr>
              <a:t>Final Inspiration</a:t>
            </a:r>
            <a:endParaRPr lang="en-US" dirty="0">
              <a:latin typeface="Selawik Semibold" panose="020B0702040204020203" pitchFamily="34" charset="0"/>
            </a:endParaRP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FC1D832-5298-413A-ACCB-93C0C72C636D}"/>
              </a:ext>
            </a:extLst>
          </p:cNvPr>
          <p:cNvSpPr txBox="1">
            <a:spLocks/>
          </p:cNvSpPr>
          <p:nvPr/>
        </p:nvSpPr>
        <p:spPr>
          <a:xfrm>
            <a:off x="5160335" y="4357577"/>
            <a:ext cx="6725573" cy="3247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2800" dirty="0">
                <a:latin typeface="Selawik Semibold" panose="020B0702040204020203" pitchFamily="34" charset="0"/>
              </a:rPr>
              <a:t>If you’re not first, you’re </a:t>
            </a:r>
            <a:r>
              <a:rPr lang="en-US" sz="3600" dirty="0">
                <a:latin typeface="Selawik Semibold" panose="020B0702040204020203" pitchFamily="34" charset="0"/>
              </a:rPr>
              <a:t>Cleveland</a:t>
            </a:r>
            <a:r>
              <a:rPr lang="en-US" sz="2800" dirty="0">
                <a:latin typeface="Selawik Semibold" panose="020B0702040204020203" pitchFamily="34" charset="0"/>
              </a:rPr>
              <a:t>. #216</a:t>
            </a:r>
          </a:p>
          <a:p>
            <a:pPr algn="r"/>
            <a:endParaRPr lang="en-US" sz="2800" dirty="0">
              <a:latin typeface="Selawik Semibold" panose="020B0702040204020203" pitchFamily="34" charset="0"/>
            </a:endParaRPr>
          </a:p>
          <a:p>
            <a:pPr algn="r"/>
            <a:r>
              <a:rPr lang="en-US" sz="2800" dirty="0">
                <a:latin typeface="Selawik Semibold" panose="020B0702040204020203" pitchFamily="34" charset="0"/>
              </a:rPr>
              <a:t>- Mahatma Mario</a:t>
            </a: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4750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1677</TotalTime>
  <Words>840</Words>
  <Application>Microsoft Office PowerPoint</Application>
  <PresentationFormat>Widescreen</PresentationFormat>
  <Paragraphs>207</Paragraphs>
  <Slides>26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Calibri Light</vt:lpstr>
      <vt:lpstr>Selawik Semibold</vt:lpstr>
      <vt:lpstr>Office Theme</vt:lpstr>
      <vt:lpstr>Sports Analytics I</vt:lpstr>
      <vt:lpstr>Survey on Sports</vt:lpstr>
      <vt:lpstr>Survey Results: Demographics</vt:lpstr>
      <vt:lpstr>Survey Results: R Experience</vt:lpstr>
      <vt:lpstr>Survey Results: Goal After Graduation</vt:lpstr>
      <vt:lpstr>Survey Results: Watched</vt:lpstr>
      <vt:lpstr>Survey Results: Played</vt:lpstr>
      <vt:lpstr>Survey Results: Combined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Current Landscape of Sports</vt:lpstr>
      <vt:lpstr>Dope Quote</vt:lpstr>
      <vt:lpstr>What is Sports Analytics?</vt:lpstr>
      <vt:lpstr>What is Sports Analytics?</vt:lpstr>
      <vt:lpstr>What is Sports Analytics?</vt:lpstr>
      <vt:lpstr>Final Inspiration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Analytics I</dc:title>
  <dc:creator>Super Mario</dc:creator>
  <cp:lastModifiedBy>Giacomazzo, Mario Sy John</cp:lastModifiedBy>
  <cp:revision>63</cp:revision>
  <dcterms:created xsi:type="dcterms:W3CDTF">2019-08-23T03:13:37Z</dcterms:created>
  <dcterms:modified xsi:type="dcterms:W3CDTF">2026-01-08T21:34:32Z</dcterms:modified>
</cp:coreProperties>
</file>