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76" r:id="rId3"/>
    <p:sldId id="277" r:id="rId4"/>
    <p:sldId id="278" r:id="rId5"/>
    <p:sldId id="279" r:id="rId6"/>
    <p:sldId id="284" r:id="rId7"/>
    <p:sldId id="316" r:id="rId8"/>
    <p:sldId id="307" r:id="rId9"/>
    <p:sldId id="257" r:id="rId10"/>
    <p:sldId id="309" r:id="rId11"/>
    <p:sldId id="310" r:id="rId12"/>
    <p:sldId id="311" r:id="rId13"/>
    <p:sldId id="301" r:id="rId14"/>
    <p:sldId id="286" r:id="rId15"/>
    <p:sldId id="287" r:id="rId16"/>
    <p:sldId id="290" r:id="rId17"/>
    <p:sldId id="317" r:id="rId18"/>
    <p:sldId id="318" r:id="rId19"/>
    <p:sldId id="319" r:id="rId20"/>
    <p:sldId id="289" r:id="rId21"/>
    <p:sldId id="320" r:id="rId22"/>
    <p:sldId id="321" r:id="rId23"/>
    <p:sldId id="296" r:id="rId24"/>
    <p:sldId id="28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95583"/>
    <a:srgbClr val="F76464"/>
    <a:srgbClr val="882E2E"/>
    <a:srgbClr val="DB5B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61" autoAdjust="0"/>
    <p:restoredTop sz="94660"/>
  </p:normalViewPr>
  <p:slideViewPr>
    <p:cSldViewPr snapToGrid="0">
      <p:cViewPr varScale="1">
        <p:scale>
          <a:sx n="59" d="100"/>
          <a:sy n="59" d="100"/>
        </p:scale>
        <p:origin x="68" y="10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4E5E84-956F-4423-97B3-5936A6D8EEEE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3D9EF6-5B6D-4923-9412-628692DCC0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90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EFD90-18A5-461A-97B5-BF5D964D24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F3264F-69B9-437C-A766-FC30EF0F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A968FE-277D-4FAE-A16D-32913B01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0A93C4-52E7-4696-B94F-37CFF7B9A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EB5F3-DE9E-4FD6-B37A-94BE3D410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591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CEA10-8D81-465C-81FF-EA62D730A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3FD49-B406-49EC-8015-D32BF2193D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B6DA73-9FF6-4552-830B-364450604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84263-C145-4184-9AB8-C0184BF6D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4AD532-E280-4728-A9EE-56C0B5124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644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CD4AA-A53E-4146-9CDB-2F0A94CD3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2CE9F-D854-4A48-8BE9-C34C23BB5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F39BC-7DAB-4116-847E-1920F11F9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1FE6BE-067B-4573-98ED-6E55CD1B6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B43CF-83B4-43C4-AB95-4DB39B461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205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B937E-605B-4EAD-A5F0-E4BE62960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AECCE-AF5E-48A1-92E9-086187BFA4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D40F2E-CBC6-4A0E-943C-CC4C0CE791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68192-586B-4EC7-8DA5-137D4E3B4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D5F421-F128-432A-86E5-27970BF48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E0C05C-066A-4700-BD42-A159CD70D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000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AA41D-7EC3-449B-851E-0F77B8336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0C785B-10A6-4B50-B1BC-1A17305F31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CAF710-8ED1-4FE8-9EE1-B574629CAC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C2A21A-3F2A-4824-BCE2-9A7772A8C2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67A615-D4BC-4095-9C20-CD4F9BF984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CCACE0-B120-48AC-AF25-A247F93B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8BC188-04E8-4C76-968E-6726720F3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D8CCCD-71D1-4F3F-A403-6224E3F85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46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9B1AC-EC2A-4BD4-91CC-AFB7D17F8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65E60F-4C44-4CAF-AB05-25729A2AB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3677B5-CBF4-4458-93AE-155D078C4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E60569-84C5-4DF4-A2BF-DCB0FEF49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624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ED8FF8-0842-405C-9C34-FB6F4841C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E4E9F5-EE5B-46BE-BE67-A4A9E1FDC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5B2951-4B33-4835-9113-981187926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158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2DF96-69DF-4F06-A7B9-F6AEDE53E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0C669-C0D6-43D8-BDC1-428B0BFDB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557871-B9A5-4AF1-8C22-5EFAB20D06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480336-9845-4157-B43A-2DA162111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BC2E-00D4-4B98-A70F-8B43C6540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F0F678-C6B2-4319-AFF1-E313FB2D3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18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38E65-2B5B-449C-9BD6-052C2D705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0A7755-3ABB-4B90-9CA8-8F1C1DE30F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2AF249-C3B4-48AC-8A9B-0AE4691673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E72F56-0F14-4C38-A91D-F297CE54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CEE1E0-7248-4931-83D5-B20FBF601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7E2062-542F-4254-A653-03548B1A2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646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3CD8C-6E53-4F40-8380-A92F3B994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38C0C9-02DA-4CEC-85ED-72230B0543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F42F39-2249-4A7F-A3D2-6D10985A2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F54834-23F0-4572-9180-C7FD81522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99F3B-3D9B-4B75-96D1-264C43EE8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199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D029F3-D01E-4258-B9B7-98C4FCF705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111006-B6E1-4AAD-84CD-B296071D5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DFB41D-AAC0-41AD-B89E-2A54D14EB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6A8BA-9134-45A5-B9C2-7F06ACC05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D21FB-D40F-4086-B1EF-D48D15BEE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925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398F0C-B37D-42DC-A26E-3F2DE9A08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023FA3-1FB5-45B6-AED5-AA46BE35C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060C43-94CF-49C0-969C-E320D7A0FA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1C039-66A3-4640-815B-3B5A8B7D868D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BB117C-3B02-46C9-8C04-D8B212580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44BE7-C0B5-4B71-9B7D-446B8E2D9C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177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5445C-8F3E-4F4B-B272-8D9F0BC492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136" y="5091762"/>
            <a:ext cx="7834193" cy="1264588"/>
          </a:xfrm>
        </p:spPr>
        <p:txBody>
          <a:bodyPr anchor="ctr">
            <a:normAutofit/>
          </a:bodyPr>
          <a:lstStyle/>
          <a:p>
            <a:pPr algn="r"/>
            <a:r>
              <a:rPr lang="en-US" dirty="0">
                <a:latin typeface="Selawik Semibold" panose="020B0702040204020203" pitchFamily="34" charset="0"/>
              </a:rPr>
              <a:t>Sports Analytics III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CC54F8-420D-42C9-AB41-8EA29A4112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99107" y="5091763"/>
            <a:ext cx="2974207" cy="1264587"/>
          </a:xfrm>
        </p:spPr>
        <p:txBody>
          <a:bodyPr anchor="ctr">
            <a:normAutofit/>
          </a:bodyPr>
          <a:lstStyle/>
          <a:p>
            <a:pPr algn="l"/>
            <a:r>
              <a:rPr lang="en-US" sz="2000" dirty="0">
                <a:latin typeface="Selawik Semibold" panose="020B0702040204020203" pitchFamily="34" charset="0"/>
              </a:rPr>
              <a:t>Produced by Dr. Mario</a:t>
            </a:r>
          </a:p>
          <a:p>
            <a:pPr algn="l"/>
            <a:r>
              <a:rPr lang="en-US" sz="2000" dirty="0">
                <a:latin typeface="Selawik Semibold" panose="020B0702040204020203" pitchFamily="34" charset="0"/>
              </a:rPr>
              <a:t>UNC STOR 538</a:t>
            </a:r>
          </a:p>
        </p:txBody>
      </p:sp>
      <p:pic>
        <p:nvPicPr>
          <p:cNvPr id="5" name="Picture 4" descr="A picture containing indoor&#10;&#10;Description automatically generated">
            <a:extLst>
              <a:ext uri="{FF2B5EF4-FFF2-40B4-BE49-F238E27FC236}">
                <a16:creationId xmlns:a16="http://schemas.microsoft.com/office/drawing/2014/main" id="{48589EA3-03B9-4D42-8282-8AC52D63CBF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949" b="23506"/>
          <a:stretch/>
        </p:blipFill>
        <p:spPr>
          <a:xfrm>
            <a:off x="-3983" y="10"/>
            <a:ext cx="12192000" cy="457199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6E481-B945-4179-BD79-05E96E9B2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53085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Past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1249"/>
            <a:ext cx="6994712" cy="415571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Sports Analytics Use Survey (2013)</a:t>
            </a: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Sample of 27 People</a:t>
            </a:r>
            <a:r>
              <a:rPr lang="en-US" sz="2000" dirty="0">
                <a:latin typeface="Selawik Semibold" panose="020B0702040204020203" pitchFamily="34" charset="0"/>
              </a:rPr>
              <a:t> </a:t>
            </a:r>
            <a:r>
              <a:rPr lang="en-US" sz="2400" dirty="0">
                <a:latin typeface="Selawik Semibold" panose="020B0702040204020203" pitchFamily="34" charset="0"/>
              </a:rPr>
              <a:t>(NFL, MLB, NBA, EPL)</a:t>
            </a: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How Many Different Sources?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1-2 (6.7%) 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3-4 (33.3%) 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5-6 (13.3%) 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&gt;6 (46.71%) 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04090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Past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1249"/>
            <a:ext cx="6994712" cy="415571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How Much Data is Centralized?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All (31.3%)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Most (37.4%)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Some (31.3%)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How Much Data is Dependent on One Person?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Some (50.0%)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Most (43.7%)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All Data Centralized (6.3%)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89043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Past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653667" cy="4366104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Is Data Checked for Errors?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Always (31.3%)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Usually (37.5%)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Sometimes (18.8%)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Occasionally (6.1%)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Rarely (6.3%)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How Many Database Programmers are Employed?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0 (37.5%)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1-2 (50.0%)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3-4 (0.0%)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&gt;5 (12.5%)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43946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Past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653667" cy="4366104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How Many Statistical Analysts are Employed?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0 (20.0%)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1-2 (66.6%)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3-4 (0.0%)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&gt;5 (13.3%)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Roadblock: Difficulty Identifying Strong Applicant</a:t>
            </a: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Difficulty in Both Hiring and Evaluating</a:t>
            </a:r>
          </a:p>
          <a:p>
            <a:endParaRPr lang="en-US" sz="24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77070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Past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882219" cy="4366104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Clear Process for Hiring/Evaluating Analysts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Strongly Agree (13.3%/14.3%)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Somewhat Agree (13.3%/14.3%)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Neutral (26.7%/28.6%)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Somewhat Disagree (13.4%/21.4%)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Strongly Disagree (33.3%/21.4%)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Analytic Resources in Line with Strategic Game Plan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Strongly Agree (26.7%)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Somewhat Agree (33.3%)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Neutral (33.3%)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Strongly Disagree (6.7%)</a:t>
            </a:r>
          </a:p>
          <a:p>
            <a:endParaRPr lang="en-US" sz="24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16121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00F3C0-C912-B489-6CA8-9DE9FAB9B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11FCBAC-0F43-1624-F0BC-0B9AEF3B0F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BB04F-E03E-A1F4-A25D-03C7E983A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From Past to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21DA9B5-C380-9D33-056B-E4248B915C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7882219" cy="478706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Updated Survey in 2</a:t>
            </a:r>
            <a:r>
              <a:rPr lang="en-US" sz="2400" baseline="30000" dirty="0">
                <a:latin typeface="Selawik Semibold" panose="020B0702040204020203" pitchFamily="34" charset="0"/>
              </a:rPr>
              <a:t>nd</a:t>
            </a:r>
            <a:r>
              <a:rPr lang="en-US" sz="2400" dirty="0">
                <a:latin typeface="Selawik Semibold" panose="020B0702040204020203" pitchFamily="34" charset="0"/>
              </a:rPr>
              <a:t> Edition (2024)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163 People, 119 Orgs., 15 Sports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53% Use Statistics Regularly in Decision Making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58% Report Data is Mostly/Fully Centralized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32% Say Data is Regularly Presented Clearly and Consistently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83% Confirmed Analytics Group Will Grow in Next 5 Yrs.</a:t>
            </a:r>
          </a:p>
          <a:p>
            <a:endParaRPr lang="en-US" sz="10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Notable Differences Since 2013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Larger Datasets (Million Rows Per Game)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Due to Player Tracking (Approx. 25 Measurements Per Sec)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Measurements Across Whole Body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Speed at Which Questions Can be Answered is A Lot Faster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909C9DC4-5601-FB7F-C6E7-2EBC1C321F7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324B8670-C59A-C19D-97A0-522C8EA1B8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5B7801B-B3C9-48D4-6FE2-2977BD464189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314142-3B9C-5579-88CA-FCF9962B3853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E743927-0B71-4612-0457-797FAC9F701A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25900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77723"/>
            <a:ext cx="7138737" cy="4515152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Value Placed on Sports Analytics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Business Research Company Analysis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Global Sports Industry Valued at $495.38B (2025)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Expected CAGR in 2026 is 5.3%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Expected to Grow to $654.22B in 2030 (CAGR 5.8%)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North America = Largest / Africa = Fastest Growing</a:t>
            </a:r>
          </a:p>
          <a:p>
            <a:pPr lvl="1"/>
            <a:endParaRPr lang="en-US" sz="1800" b="1" dirty="0">
              <a:latin typeface="Selawik Semibold" panose="020B0702040204020203" pitchFamily="34" charset="0"/>
            </a:endParaRPr>
          </a:p>
          <a:p>
            <a:pPr lvl="1"/>
            <a:r>
              <a:rPr lang="en-US" sz="1800" dirty="0">
                <a:latin typeface="Selawik Semibold" panose="020B0702040204020203" pitchFamily="34" charset="0"/>
              </a:rPr>
              <a:t>Deloitte Article on Sports Industry Trends 2024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Continued Growth in Sports Industry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Fan Data Aggregated and Managed 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Increased Use in Generative AI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Massive Amounts of Data from “Mega Events” Means that Data Privacy and Security Will Be Important.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90245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138737" cy="415571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Value Placed on Sports Analytics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Grand View Research on Sports Analytics Market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Valued at $3.52B in 2023 and $4.47B in 2024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Expected CAGR Between 2025 and 2030 is 20.6%</a:t>
            </a: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Software Segment Dominates Services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On-Field Analytics Dominates Off-Field Analytics</a:t>
            </a:r>
          </a:p>
          <a:p>
            <a:pPr marL="457200" lvl="1" indent="0">
              <a:buNone/>
            </a:pP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E43B72-F462-425B-B219-B0768386DEEC}"/>
              </a:ext>
            </a:extLst>
          </p:cNvPr>
          <p:cNvSpPr txBox="1"/>
          <p:nvPr/>
        </p:nvSpPr>
        <p:spPr>
          <a:xfrm>
            <a:off x="1252904" y="5424934"/>
            <a:ext cx="1416594" cy="523220"/>
          </a:xfrm>
          <a:prstGeom prst="rect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800" dirty="0">
                <a:latin typeface="Selawik Semibold" panose="020B0702040204020203" pitchFamily="34" charset="0"/>
              </a:rPr>
              <a:t>$4.47B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72115E-F73D-4852-8A5F-59AE430EA59F}"/>
              </a:ext>
            </a:extLst>
          </p:cNvPr>
          <p:cNvSpPr/>
          <p:nvPr/>
        </p:nvSpPr>
        <p:spPr>
          <a:xfrm>
            <a:off x="4169055" y="5584777"/>
            <a:ext cx="1839886" cy="235028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C5BBC6-82F2-4DC7-A2F9-31693E65F111}"/>
              </a:ext>
            </a:extLst>
          </p:cNvPr>
          <p:cNvSpPr txBox="1"/>
          <p:nvPr/>
        </p:nvSpPr>
        <p:spPr>
          <a:xfrm>
            <a:off x="6054419" y="5200057"/>
            <a:ext cx="2302627" cy="769441"/>
          </a:xfrm>
          <a:prstGeom prst="rect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4400" dirty="0">
                <a:latin typeface="Selawik Semibold" panose="020B0702040204020203" pitchFamily="34" charset="0"/>
              </a:rPr>
              <a:t>$14.49B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CF2BB5-AC55-4BEB-A0CE-0249A27679CE}"/>
              </a:ext>
            </a:extLst>
          </p:cNvPr>
          <p:cNvCxnSpPr>
            <a:cxnSpLocks/>
          </p:cNvCxnSpPr>
          <p:nvPr/>
        </p:nvCxnSpPr>
        <p:spPr>
          <a:xfrm>
            <a:off x="1516220" y="6176962"/>
            <a:ext cx="595492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14EFB5-2CE4-4032-B9F9-9D7C37EE5521}"/>
              </a:ext>
            </a:extLst>
          </p:cNvPr>
          <p:cNvCxnSpPr>
            <a:cxnSpLocks/>
          </p:cNvCxnSpPr>
          <p:nvPr/>
        </p:nvCxnSpPr>
        <p:spPr>
          <a:xfrm>
            <a:off x="1961201" y="6033632"/>
            <a:ext cx="0" cy="2288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F1D6466-E4A1-4D26-BE56-C33ACFB0E384}"/>
              </a:ext>
            </a:extLst>
          </p:cNvPr>
          <p:cNvCxnSpPr>
            <a:cxnSpLocks/>
          </p:cNvCxnSpPr>
          <p:nvPr/>
        </p:nvCxnSpPr>
        <p:spPr>
          <a:xfrm>
            <a:off x="6950115" y="6033631"/>
            <a:ext cx="0" cy="2288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934B21C-3EDC-445D-B3CA-D9D872F4BC6E}"/>
              </a:ext>
            </a:extLst>
          </p:cNvPr>
          <p:cNvSpPr txBox="1"/>
          <p:nvPr/>
        </p:nvSpPr>
        <p:spPr>
          <a:xfrm>
            <a:off x="1632841" y="6281171"/>
            <a:ext cx="656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2024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E536FC-BB9D-4420-8917-FEB51410716B}"/>
              </a:ext>
            </a:extLst>
          </p:cNvPr>
          <p:cNvSpPr txBox="1"/>
          <p:nvPr/>
        </p:nvSpPr>
        <p:spPr>
          <a:xfrm>
            <a:off x="6621755" y="6262441"/>
            <a:ext cx="656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2030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078CE-7340-4719-9DB3-C8040F70D165}"/>
                  </a:ext>
                </a:extLst>
              </p:cNvPr>
              <p:cNvSpPr txBox="1"/>
              <p:nvPr/>
            </p:nvSpPr>
            <p:spPr>
              <a:xfrm>
                <a:off x="1961201" y="3714733"/>
                <a:ext cx="51628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𝑃𝑟𝑜𝑗𝑒𝑐𝑡𝑖𝑜𝑛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2030=5.68∗(1+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𝐶𝐴𝐺𝑅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)^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n-US" dirty="0"/>
                  <a:t> =14.49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078CE-7340-4719-9DB3-C8040F70D1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1201" y="3714733"/>
                <a:ext cx="5162857" cy="369332"/>
              </a:xfrm>
              <a:prstGeom prst="rect">
                <a:avLst/>
              </a:prstGeom>
              <a:blipFill>
                <a:blip r:embed="rId4"/>
                <a:stretch>
                  <a:fillRect l="-354" t="-8197" r="-708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0DD8629-3AA9-5B71-572E-2046BE8E688A}"/>
              </a:ext>
            </a:extLst>
          </p:cNvPr>
          <p:cNvCxnSpPr>
            <a:cxnSpLocks/>
          </p:cNvCxnSpPr>
          <p:nvPr/>
        </p:nvCxnSpPr>
        <p:spPr>
          <a:xfrm>
            <a:off x="3273807" y="6062557"/>
            <a:ext cx="0" cy="2288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09C8CD7-F3CD-94C5-5C53-80D99CDC2FA8}"/>
              </a:ext>
            </a:extLst>
          </p:cNvPr>
          <p:cNvSpPr txBox="1"/>
          <p:nvPr/>
        </p:nvSpPr>
        <p:spPr>
          <a:xfrm>
            <a:off x="2934445" y="6270631"/>
            <a:ext cx="656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622083-3495-C512-E385-B8E8A2D6210F}"/>
              </a:ext>
            </a:extLst>
          </p:cNvPr>
          <p:cNvSpPr txBox="1"/>
          <p:nvPr/>
        </p:nvSpPr>
        <p:spPr>
          <a:xfrm>
            <a:off x="2734057" y="5442987"/>
            <a:ext cx="1320268" cy="523220"/>
          </a:xfrm>
          <a:prstGeom prst="rect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800" dirty="0">
                <a:latin typeface="Selawik Semibold" panose="020B0702040204020203" pitchFamily="34" charset="0"/>
              </a:rPr>
              <a:t>$5.68B</a:t>
            </a:r>
          </a:p>
        </p:txBody>
      </p:sp>
    </p:spTree>
    <p:extLst>
      <p:ext uri="{BB962C8B-B14F-4D97-AF65-F5344CB8AC3E}">
        <p14:creationId xmlns:p14="http://schemas.microsoft.com/office/powerpoint/2010/main" val="27622726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138737" cy="415571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Value Placed on Sports Analytics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Grand View Research on Sports Analytics Market</a:t>
            </a:r>
          </a:p>
          <a:p>
            <a:pPr marL="457200" lvl="1" indent="0">
              <a:buNone/>
            </a:pP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1026" name="Picture 2" descr="Sports Analytics Market Share, By End-use, 2024 (%)">
            <a:extLst>
              <a:ext uri="{FF2B5EF4-FFF2-40B4-BE49-F238E27FC236}">
                <a16:creationId xmlns:a16="http://schemas.microsoft.com/office/drawing/2014/main" id="{8BCD257A-50E1-9619-45CA-46AF5607E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7769" y="3202651"/>
            <a:ext cx="638175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18672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138737" cy="415571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Value Placed on Sports Analytics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Grand View Research on Sports Analytics Market</a:t>
            </a:r>
          </a:p>
          <a:p>
            <a:pPr marL="457200" lvl="1" indent="0">
              <a:buNone/>
            </a:pP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2050" name="Picture 2" descr="Sports Analytics Market Trends, by Region, 2025 - 2030">
            <a:extLst>
              <a:ext uri="{FF2B5EF4-FFF2-40B4-BE49-F238E27FC236}">
                <a16:creationId xmlns:a16="http://schemas.microsoft.com/office/drawing/2014/main" id="{1C2266A0-83E8-1F8D-1201-4404A7534A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6692" y="3236106"/>
            <a:ext cx="638175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0266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138737" cy="4155713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Value Placed on Sports Analytics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Grand View Research on Sports Analytics Market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Agile Sports Analytics, LLC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Catapult Sports</a:t>
            </a:r>
          </a:p>
          <a:p>
            <a:pPr lvl="2"/>
            <a:r>
              <a:rPr lang="en-US" sz="1600" dirty="0" err="1">
                <a:latin typeface="Selawik Semibold" panose="020B0702040204020203" pitchFamily="34" charset="0"/>
              </a:rPr>
              <a:t>ChrynoHego</a:t>
            </a:r>
            <a:r>
              <a:rPr lang="en-US" sz="1600" dirty="0">
                <a:latin typeface="Selawik Semibold" panose="020B0702040204020203" pitchFamily="34" charset="0"/>
              </a:rPr>
              <a:t> Corporation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Deltatre</a:t>
            </a:r>
          </a:p>
          <a:p>
            <a:pPr lvl="2"/>
            <a:r>
              <a:rPr lang="en-US" sz="1600" dirty="0" err="1">
                <a:latin typeface="Selawik Semibold" panose="020B0702040204020203" pitchFamily="34" charset="0"/>
              </a:rPr>
              <a:t>Experfy</a:t>
            </a:r>
            <a:r>
              <a:rPr lang="en-US" sz="1600" dirty="0">
                <a:latin typeface="Selawik Semibold" panose="020B0702040204020203" pitchFamily="34" charset="0"/>
              </a:rPr>
              <a:t> Inc. 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Genius Sports Group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IBM Corporation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Oracle Corporation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SAP SE</a:t>
            </a:r>
          </a:p>
          <a:p>
            <a:pPr lvl="2"/>
            <a:r>
              <a:rPr lang="en-US" sz="1600" dirty="0" err="1">
                <a:latin typeface="Selawik Semibold" panose="020B0702040204020203" pitchFamily="34" charset="0"/>
              </a:rPr>
              <a:t>Aercont</a:t>
            </a:r>
            <a:r>
              <a:rPr lang="en-US" sz="1600" dirty="0">
                <a:latin typeface="Selawik Semibold" panose="020B0702040204020203" pitchFamily="34" charset="0"/>
              </a:rPr>
              <a:t> Vision Coaster LLC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The </a:t>
            </a:r>
            <a:r>
              <a:rPr lang="en-US" sz="1600" dirty="0" err="1">
                <a:latin typeface="Selawik Semibold" panose="020B0702040204020203" pitchFamily="34" charset="0"/>
              </a:rPr>
              <a:t>Sportradar</a:t>
            </a:r>
            <a:r>
              <a:rPr lang="en-US" sz="1600" dirty="0">
                <a:latin typeface="Selawik Semibold" panose="020B0702040204020203" pitchFamily="34" charset="0"/>
              </a:rPr>
              <a:t> Group</a:t>
            </a:r>
          </a:p>
          <a:p>
            <a:pPr lvl="2"/>
            <a:r>
              <a:rPr lang="en-US" sz="1600">
                <a:latin typeface="Selawik Semibold" panose="020B0702040204020203" pitchFamily="34" charset="0"/>
              </a:rPr>
              <a:t>Stats LLC</a:t>
            </a:r>
            <a:endParaRPr lang="en-US" sz="16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9515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7"/>
            <a:ext cx="8449850" cy="4787067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Modern Applications of Sports Analytics 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Forbes Article from 2021 by </a:t>
            </a:r>
            <a:r>
              <a:rPr lang="en-US" sz="2000" dirty="0" err="1">
                <a:latin typeface="Selawik Semibold" panose="020B0702040204020203" pitchFamily="34" charset="0"/>
              </a:rPr>
              <a:t>Abhas</a:t>
            </a:r>
            <a:r>
              <a:rPr lang="en-US" sz="2000" dirty="0">
                <a:latin typeface="Selawik Semibold" panose="020B0702040204020203" pitchFamily="34" charset="0"/>
              </a:rPr>
              <a:t> Ricky</a:t>
            </a:r>
          </a:p>
          <a:p>
            <a:pPr marL="457200" lvl="1" indent="0">
              <a:buNone/>
            </a:pPr>
            <a:r>
              <a:rPr lang="en-US" sz="2000" dirty="0">
                <a:latin typeface="Selawik Semibold" panose="020B0702040204020203" pitchFamily="34" charset="0"/>
              </a:rPr>
              <a:t> 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Helping the Team Win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Automated Video Analysis (Lincoln City, UK Football)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3D Depth Camera (NBA)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Wearable Technology (NBA, NHL)</a:t>
            </a: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Improving the Fan Experience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Analysis of Digital Engagement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Sentiment in Social Media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Analysis of Fan Behavior in Stadium (New England Patriots)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Wireless Internet and Phone Apps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Apps Supply Game Analytics, Parking Information, Promotions, and Traffic Information to the Fans (NFL)</a:t>
            </a:r>
          </a:p>
          <a:p>
            <a:pPr marL="914400" lvl="2" indent="0">
              <a:buNone/>
            </a:pPr>
            <a:endParaRPr lang="en-US" sz="18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88679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7653667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Modern Applications of Sports Analytics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Benefiting Other Stakeholders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Tracking Fan Behavior Outside the Stadium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Telecommunication, Retailers, Payment Providers, Ticket Agencies, and Sponsorships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Adapt to Quick Changes in Consumer Behavior</a:t>
            </a: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Optimizing the Back-Office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HR Practices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Game Scheduling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Supply Chain Management and Logistics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Marketing and Promotions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Procurement of Goods and Services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89604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Industry Present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7653668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Modern Applications of Sports Analytics</a:t>
            </a:r>
          </a:p>
          <a:p>
            <a:pPr lvl="1"/>
            <a:endParaRPr lang="en-US" sz="2000" b="1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Advancing Sports Gambling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Supreme Court Ruling Previous Statute Violated 10</a:t>
            </a:r>
            <a:r>
              <a:rPr lang="en-US" sz="1800" baseline="30000" dirty="0">
                <a:latin typeface="Selawik Semibold" panose="020B0702040204020203" pitchFamily="34" charset="0"/>
              </a:rPr>
              <a:t>th</a:t>
            </a:r>
            <a:r>
              <a:rPr lang="en-US" sz="1800" dirty="0">
                <a:latin typeface="Selawik Semibold" panose="020B0702040204020203" pitchFamily="34" charset="0"/>
              </a:rPr>
              <a:t> Amendment (Murphy v. National Collegiate Athletic Association)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States Free to Legislate Gambling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Improvement of Gambling Products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Data Aggregation and Visualization for Bettors 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Develop Daily Fantasy Sports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Grandview Research of US Market</a:t>
            </a:r>
          </a:p>
          <a:p>
            <a:pPr lvl="3"/>
            <a:r>
              <a:rPr lang="en-US" sz="1600" dirty="0">
                <a:latin typeface="Selawik Semibold" panose="020B0702040204020203" pitchFamily="34" charset="0"/>
              </a:rPr>
              <a:t>US Market Valued at $17.94B in 2024 and $19.76B in 2025</a:t>
            </a:r>
          </a:p>
          <a:p>
            <a:pPr lvl="3"/>
            <a:r>
              <a:rPr lang="en-US" sz="1600" dirty="0">
                <a:latin typeface="Selawik Semibold" panose="020B0702040204020203" pitchFamily="34" charset="0"/>
              </a:rPr>
              <a:t>Expected CAGR of 10.9% from 2025 to 2030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D458AE-9A69-51A1-D913-E07A7DDADB64}"/>
                  </a:ext>
                </a:extLst>
              </p:cNvPr>
              <p:cNvSpPr txBox="1"/>
              <p:nvPr/>
            </p:nvSpPr>
            <p:spPr>
              <a:xfrm>
                <a:off x="2110382" y="6123543"/>
                <a:ext cx="6161928" cy="3724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𝑃𝑟𝑜𝑗𝑒𝑐𝑡𝑖𝑜𝑛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2030=19.76∗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1+0.109</m:t>
                              </m:r>
                            </m:e>
                          </m:d>
                        </m:e>
                        <m:sup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=$33.15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D458AE-9A69-51A1-D913-E07A7DDAD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382" y="6123543"/>
                <a:ext cx="6161928" cy="372410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2550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Your Industry Future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8107018" cy="4695905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Prerequisites by Howard Hamilton </a:t>
            </a:r>
          </a:p>
          <a:p>
            <a:pPr marL="0" indent="0">
              <a:buNone/>
            </a:pPr>
            <a:r>
              <a:rPr lang="en-US" sz="2400" dirty="0">
                <a:latin typeface="Selawik Semibold" panose="020B0702040204020203" pitchFamily="34" charset="0"/>
              </a:rPr>
              <a:t>   (</a:t>
            </a:r>
            <a:r>
              <a:rPr lang="en-US" sz="2400" dirty="0" err="1">
                <a:latin typeface="Selawik Semibold" panose="020B0702040204020203" pitchFamily="34" charset="0"/>
              </a:rPr>
              <a:t>Soccermetrics</a:t>
            </a:r>
            <a:r>
              <a:rPr lang="en-US" sz="2400" dirty="0">
                <a:latin typeface="Selawik Semibold" panose="020B0702040204020203" pitchFamily="34" charset="0"/>
              </a:rPr>
              <a:t>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Technical Skills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Mathematics (Linear Algebra/Probability Essential)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Statistics (Frequentist and Bayesian Perspectives)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Machine Learning (Supervised and Unsupervised)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Programming (R/Python, Data Structures, OOP)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Databases</a:t>
            </a:r>
          </a:p>
          <a:p>
            <a:pPr lvl="2"/>
            <a:r>
              <a:rPr lang="en-US" sz="1800" dirty="0">
                <a:latin typeface="Selawik Semibold" panose="020B0702040204020203" pitchFamily="34" charset="0"/>
              </a:rPr>
              <a:t>Visualization</a:t>
            </a: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Socials Skills, Ethics, and the Law</a:t>
            </a:r>
          </a:p>
          <a:p>
            <a:pPr marL="457200" lvl="1" indent="0">
              <a:buNone/>
            </a:pP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Knowledgeable About All Aspects of the Sport</a:t>
            </a: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16201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1C4EFA-5130-624F-C38C-EEC01EA11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0F47418-5511-7542-0D67-5F60467148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0D8571-E13D-BFDF-2A5D-9B3E8EFCB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Your Industry Future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6DEAD07-2FD2-2C9C-68F7-07A15A50C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8107018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Real Jobs (Builtin.com)</a:t>
            </a:r>
          </a:p>
          <a:p>
            <a:pPr marL="0" indent="0">
              <a:buNone/>
            </a:pPr>
            <a:endParaRPr lang="en-US" sz="24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Senior Analytics Engineer, Underdog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Build Models and Ensure Data Quality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SQL and Data Modeling Expert (4+ Years)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Skilled in </a:t>
            </a:r>
            <a:r>
              <a:rPr lang="en-US" sz="1600" dirty="0" err="1">
                <a:latin typeface="Selawik Semibold" panose="020B0702040204020203" pitchFamily="34" charset="0"/>
              </a:rPr>
              <a:t>dbt</a:t>
            </a:r>
            <a:r>
              <a:rPr lang="en-US" sz="1600" dirty="0">
                <a:latin typeface="Selawik Semibold" panose="020B0702040204020203" pitchFamily="34" charset="0"/>
              </a:rPr>
              <a:t> and Cloud Data Warehouses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Statistical Analyst, The Athletic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Media Organization Under the NYT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Data Visualizations, Interactive Projects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Design Tools Like Figma or Adobe CS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No Mention of Data Science Background or Tools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4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4BCA7387-186B-BC41-F795-5E14B6CE46F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99476241-3907-4793-D90E-29C605438A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E6F93D2-DE78-1461-F79A-09ADB62138E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8B8F7D9-4B0D-D877-08BC-0C138370BC4A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2EDABE-0C0A-3F4A-F479-72190CA668A9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63254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336C81-F98A-69C1-DF30-5681F10F2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D901E50-F2D6-D6BA-FF1B-AE2B15823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5C1D46-D5A1-0CE8-B26D-BF89BB0C6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Your Industry Future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E453F8F-0DD8-0315-3021-64BAF411B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8107018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Real Jobs (Builtin.com)</a:t>
            </a:r>
          </a:p>
          <a:p>
            <a:pPr marL="0" indent="0">
              <a:buNone/>
            </a:pPr>
            <a:endParaRPr lang="en-US" sz="24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Data Scientist, </a:t>
            </a:r>
            <a:r>
              <a:rPr lang="en-US" sz="2000" dirty="0" err="1">
                <a:latin typeface="Selawik Semibold" panose="020B0702040204020203" pitchFamily="34" charset="0"/>
              </a:rPr>
              <a:t>Teamworks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Company Located in Durham, NC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Masters or PhD in Quantitative Field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Experience with Sports Tracking Datasets 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Lead Data Scientist, Dicks Sporting Goods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Not Entry Level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Elastic, SOLR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Engineering of APIs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TensorFlow, </a:t>
            </a:r>
            <a:r>
              <a:rPr lang="en-US" sz="1600" dirty="0" err="1">
                <a:latin typeface="Selawik Semibold" panose="020B0702040204020203" pitchFamily="34" charset="0"/>
              </a:rPr>
              <a:t>PyTor</a:t>
            </a:r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4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5C763E96-7FE7-4CE5-142B-3E664C745EA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618F6228-7088-3B19-BC95-ADF615E6D7D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6A86873-83E8-B2F6-565D-1340B151720E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3AED4A-8BC2-E2DB-94CA-9DAB6344D058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77F173-C342-48D8-4F39-8CE2EC696F9E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49920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159F0C-2778-EC60-60EF-CA0942D62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117A125-9D9D-B086-FB92-03EFCC5AE4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E71357-D153-F96A-DEFF-AB30CEF8E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Your Industry Future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978C52B-1930-8327-E4DE-6BC01FDB4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8107018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Real Jobs (</a:t>
            </a:r>
            <a:r>
              <a:rPr lang="en-US" sz="2400" dirty="0" err="1">
                <a:latin typeface="Selawik Semibold" panose="020B0702040204020203" pitchFamily="34" charset="0"/>
              </a:rPr>
              <a:t>TeamworkOnline</a:t>
            </a:r>
            <a:r>
              <a:rPr lang="en-US" sz="2400" dirty="0">
                <a:latin typeface="Selawik Semibold" panose="020B0702040204020203" pitchFamily="34" charset="0"/>
              </a:rPr>
              <a:t>)</a:t>
            </a:r>
          </a:p>
          <a:p>
            <a:pPr marL="0" indent="0">
              <a:buNone/>
            </a:pPr>
            <a:endParaRPr lang="en-US" sz="24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Data Engineer, LA Angels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Python (2+ Years), SQL APIs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Familiar with Relational Databases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Director of Data Science, Real Salt Lake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Oversee All Sport Science (GPS, Heart Rate, Force Plates, etc.)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Dashboard Development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Communication of Complex Data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Bachelors Degree in Exercise Science, Data Science, etc. 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Proficiency in R, Python, SQL, Power BI, Tableau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4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32FFBC7C-02B9-7EC1-ABC7-D264AF7F960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3BF0E8CF-4C46-3594-7516-9AB97C24E06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835728-A1F9-F435-D33B-62FFB44A963A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5FC45-AED2-EEA9-7868-AE1BEAFC8FF8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53D057-7E16-91A1-2AA4-F84C7AFFAD0A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30142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Your Industry Future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8107018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Real Jobs (</a:t>
            </a:r>
            <a:r>
              <a:rPr lang="en-US" sz="2400" dirty="0" err="1">
                <a:latin typeface="Selawik Semibold" panose="020B0702040204020203" pitchFamily="34" charset="0"/>
              </a:rPr>
              <a:t>TeamworkOnline</a:t>
            </a:r>
            <a:r>
              <a:rPr lang="en-US" sz="2400" dirty="0">
                <a:latin typeface="Selawik Semibold" panose="020B0702040204020203" pitchFamily="34" charset="0"/>
              </a:rPr>
              <a:t>)</a:t>
            </a:r>
          </a:p>
          <a:p>
            <a:pPr marL="0" indent="0">
              <a:buNone/>
            </a:pPr>
            <a:endParaRPr lang="en-US" sz="24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Football Data Analyst, Indianapolis Colts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Posted 3+ Months Ago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Research NFL and NCAA data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Strong in Python or R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Familiarity with Machine Learning and Statistical Models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Data Scientist, Tampa Bay Lightning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STEM Degree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3-5 Years Experience in Python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Docker, SQL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Time Series Data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4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7434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7F20B4-8AA8-E32C-9832-07B2CF1F8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BFF821B-627C-5866-CAA3-41F4CCA35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3A2C57-3415-92F7-18B1-9997C2034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Your Industry Future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BF264E2-D5E0-1F08-CE6A-F9C5B08864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8107018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Real Jobs (</a:t>
            </a:r>
            <a:r>
              <a:rPr lang="en-US" sz="2400" dirty="0" err="1">
                <a:latin typeface="Selawik Semibold" panose="020B0702040204020203" pitchFamily="34" charset="0"/>
              </a:rPr>
              <a:t>TeamworkOnline</a:t>
            </a:r>
            <a:r>
              <a:rPr lang="en-US" sz="2400" dirty="0">
                <a:latin typeface="Selawik Semibold" panose="020B0702040204020203" pitchFamily="34" charset="0"/>
              </a:rPr>
              <a:t>)</a:t>
            </a:r>
          </a:p>
          <a:p>
            <a:pPr marL="0" indent="0">
              <a:buNone/>
            </a:pPr>
            <a:endParaRPr lang="en-US" sz="24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Senior Data Scientist, Edmonton Oilers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Cloud Platforms and Databricks</a:t>
            </a:r>
          </a:p>
          <a:p>
            <a:pPr lvl="2"/>
            <a:r>
              <a:rPr lang="en-US" sz="1600" dirty="0" err="1">
                <a:latin typeface="Selawik Semibold" panose="020B0702040204020203" pitchFamily="34" charset="0"/>
              </a:rPr>
              <a:t>MLOps</a:t>
            </a:r>
            <a:r>
              <a:rPr lang="en-US" sz="1600" dirty="0">
                <a:latin typeface="Selawik Semibold" panose="020B0702040204020203" pitchFamily="34" charset="0"/>
              </a:rPr>
              <a:t>/</a:t>
            </a:r>
            <a:r>
              <a:rPr lang="en-US" sz="1600" dirty="0" err="1">
                <a:latin typeface="Selawik Semibold" panose="020B0702040204020203" pitchFamily="34" charset="0"/>
              </a:rPr>
              <a:t>ModelOps</a:t>
            </a:r>
            <a:r>
              <a:rPr lang="en-US" sz="1600" dirty="0">
                <a:latin typeface="Selawik Semibold" panose="020B0702040204020203" pitchFamily="34" charset="0"/>
              </a:rPr>
              <a:t>, Use </a:t>
            </a:r>
            <a:r>
              <a:rPr lang="en-US" sz="1600" dirty="0" err="1">
                <a:latin typeface="Selawik Semibold" panose="020B0702040204020203" pitchFamily="34" charset="0"/>
              </a:rPr>
              <a:t>MLFlow</a:t>
            </a:r>
            <a:endParaRPr lang="en-US" sz="1600" dirty="0">
              <a:latin typeface="Selawik Semibold" panose="020B0702040204020203" pitchFamily="34" charset="0"/>
            </a:endParaRP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Bachelors in Quantitative Field and 5+ Years Experience. 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Director of Data Science, Real Salt Lake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Oversee All Sport Science (GPS, Heart Rate, Force Plates, etc.)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Dashboard Development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Communication of Complex Data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Bachelors Degree in Exercise Science, Data Science, etc. 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Proficiency in R, Python, SQL, Power BI, Tableau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4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005348E4-7C45-273D-D0C2-6DEFF331DEF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B71AA3C4-6D4D-27BE-CE63-E425B1CFB6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95608FB-D971-8870-6C5A-6A7E3647F4D2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6D68F07-2CBF-E115-7812-660554F84ABC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F76DF93-6CDD-592A-686C-DB11954C657B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09911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44212E-E139-9CEB-9D02-EFEAEEF2A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90552E3-844E-4591-7F96-EEDCF5431D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812892-98DD-8EC8-4CA6-2EAAF5B51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Your Industry Future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C9B6A3A-727B-9553-0613-FFDBA2926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8107018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Real Jobs (</a:t>
            </a:r>
            <a:r>
              <a:rPr lang="en-US" sz="2400" dirty="0" err="1">
                <a:latin typeface="Selawik Semibold" panose="020B0702040204020203" pitchFamily="34" charset="0"/>
              </a:rPr>
              <a:t>TeamworkOnline</a:t>
            </a:r>
            <a:r>
              <a:rPr lang="en-US" sz="2400" dirty="0">
                <a:latin typeface="Selawik Semibold" panose="020B0702040204020203" pitchFamily="34" charset="0"/>
              </a:rPr>
              <a:t>)</a:t>
            </a:r>
          </a:p>
          <a:p>
            <a:pPr marL="0" indent="0">
              <a:buNone/>
            </a:pPr>
            <a:endParaRPr lang="en-US" sz="24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Data Scientist Fellow, Baltimore Orioles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Entry Level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SQL, R/Python, Statistical Analyses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Data Analytics Intern, Riddell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Entry Level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Working on Degree in STEM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SQL, Python, R, Power BI, Looker, Tableau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Data Quality and Reporting, USA Baseball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Entry Level and Located in Cary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R, SQL and Familiarity with Baseball Technologies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4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endParaRPr lang="en-US" sz="22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CC4F1728-50E9-4414-18D2-60BD1E57844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7DD6BDAA-212A-70C7-7E66-E85C20C6DF6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1166BCB-9689-F6A0-AA5D-461641227738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D99E28-21EE-87FE-786C-66522D6FA297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86AEE5E-E133-A1BA-8F21-D2AB02F0A441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08962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Your Industry Future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8"/>
            <a:ext cx="7460294" cy="469590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Conferences </a:t>
            </a:r>
          </a:p>
          <a:p>
            <a:pPr marL="0" indent="0">
              <a:buNone/>
            </a:pPr>
            <a:endParaRPr lang="en-US" sz="11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MIT Sloan (March)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International Sports Analytics Conference (July)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UConn Sports Analytics Symposium (April)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OSU Sports Analytics Conference (April)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Carnegie Mellon Sports Analytics Conference (?)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New England Symposium on Stat. in Sports (2025)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Great Lakes Data and Analytics (April)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International Conference on Sports Analytics and Data Visualization (August)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More International Conferences (See Link on Website)</a:t>
            </a:r>
          </a:p>
          <a:p>
            <a:pPr lvl="2"/>
            <a:endParaRPr lang="en-US" sz="18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64042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DB7C82F-AB7E-4F0C-B829-FA1B9C415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6172782" cy="6858000"/>
          </a:xfrm>
          <a:custGeom>
            <a:avLst/>
            <a:gdLst>
              <a:gd name="connsiteX0" fmla="*/ 6172782 w 6172782"/>
              <a:gd name="connsiteY0" fmla="*/ 0 h 6858000"/>
              <a:gd name="connsiteX1" fmla="*/ 69075 w 6172782"/>
              <a:gd name="connsiteY1" fmla="*/ 0 h 6858000"/>
              <a:gd name="connsiteX2" fmla="*/ 35131 w 6172782"/>
              <a:gd name="connsiteY2" fmla="*/ 267128 h 6858000"/>
              <a:gd name="connsiteX3" fmla="*/ 0 w 6172782"/>
              <a:gd name="connsiteY3" fmla="*/ 962845 h 6858000"/>
              <a:gd name="connsiteX4" fmla="*/ 3276103 w 6172782"/>
              <a:gd name="connsiteY4" fmla="*/ 6782205 h 6858000"/>
              <a:gd name="connsiteX5" fmla="*/ 3407923 w 6172782"/>
              <a:gd name="connsiteY5" fmla="*/ 6858000 h 6858000"/>
              <a:gd name="connsiteX6" fmla="*/ 6172782 w 617278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72782" h="6858000">
                <a:moveTo>
                  <a:pt x="6172782" y="0"/>
                </a:moveTo>
                <a:lnTo>
                  <a:pt x="69075" y="0"/>
                </a:lnTo>
                <a:lnTo>
                  <a:pt x="35131" y="267128"/>
                </a:lnTo>
                <a:cubicBezTo>
                  <a:pt x="11901" y="495874"/>
                  <a:pt x="0" y="727970"/>
                  <a:pt x="0" y="962845"/>
                </a:cubicBezTo>
                <a:cubicBezTo>
                  <a:pt x="0" y="3429034"/>
                  <a:pt x="1312002" y="5588789"/>
                  <a:pt x="3276103" y="6782205"/>
                </a:cubicBezTo>
                <a:lnTo>
                  <a:pt x="3407923" y="6858000"/>
                </a:lnTo>
                <a:lnTo>
                  <a:pt x="6172782" y="6858000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A picture containing indoor&#10;&#10;Description automatically generated">
            <a:extLst>
              <a:ext uri="{FF2B5EF4-FFF2-40B4-BE49-F238E27FC236}">
                <a16:creationId xmlns:a16="http://schemas.microsoft.com/office/drawing/2014/main" id="{48589EA3-03B9-4D42-8282-8AC52D63CBF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05" r="19804" b="-1"/>
          <a:stretch/>
        </p:blipFill>
        <p:spPr>
          <a:xfrm>
            <a:off x="20" y="10"/>
            <a:ext cx="6024134" cy="6857990"/>
          </a:xfrm>
          <a:custGeom>
            <a:avLst/>
            <a:gdLst>
              <a:gd name="connsiteX0" fmla="*/ 0 w 6024154"/>
              <a:gd name="connsiteY0" fmla="*/ 0 h 6858000"/>
              <a:gd name="connsiteX1" fmla="*/ 5953780 w 6024154"/>
              <a:gd name="connsiteY1" fmla="*/ 0 h 6858000"/>
              <a:gd name="connsiteX2" fmla="*/ 5989880 w 6024154"/>
              <a:gd name="connsiteY2" fmla="*/ 284091 h 6858000"/>
              <a:gd name="connsiteX3" fmla="*/ 6024154 w 6024154"/>
              <a:gd name="connsiteY3" fmla="*/ 962844 h 6858000"/>
              <a:gd name="connsiteX4" fmla="*/ 2549934 w 6024154"/>
              <a:gd name="connsiteY4" fmla="*/ 6800152 h 6858000"/>
              <a:gd name="connsiteX5" fmla="*/ 2436987 w 6024154"/>
              <a:gd name="connsiteY5" fmla="*/ 6858000 h 6858000"/>
              <a:gd name="connsiteX6" fmla="*/ 0 w 6024154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24154" h="6858000">
                <a:moveTo>
                  <a:pt x="0" y="0"/>
                </a:moveTo>
                <a:lnTo>
                  <a:pt x="5953780" y="0"/>
                </a:lnTo>
                <a:lnTo>
                  <a:pt x="5989880" y="284091"/>
                </a:lnTo>
                <a:cubicBezTo>
                  <a:pt x="6012544" y="507260"/>
                  <a:pt x="6024154" y="733696"/>
                  <a:pt x="6024154" y="962844"/>
                </a:cubicBezTo>
                <a:cubicBezTo>
                  <a:pt x="6024154" y="3483472"/>
                  <a:pt x="4619336" y="5675986"/>
                  <a:pt x="2549934" y="6800152"/>
                </a:cubicBezTo>
                <a:lnTo>
                  <a:pt x="2436987" y="6858000"/>
                </a:lnTo>
                <a:lnTo>
                  <a:pt x="0" y="6858000"/>
                </a:lnTo>
                <a:close/>
              </a:path>
            </a:pathLst>
          </a:custGeom>
          <a:ln w="28575">
            <a:noFill/>
          </a:ln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B9C460C-DD3D-4F1C-9FEE-8EC7228DF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32779" y="359964"/>
            <a:ext cx="7834193" cy="1264588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latin typeface="Selawik Semibold" panose="020B0702040204020203" pitchFamily="34" charset="0"/>
              </a:rPr>
              <a:t>Final Inspiration</a:t>
            </a:r>
            <a:endParaRPr lang="en-US" dirty="0">
              <a:latin typeface="Selawik Semibold" panose="020B0702040204020203" pitchFamily="34" charset="0"/>
            </a:endParaRPr>
          </a:p>
        </p:txBody>
      </p:sp>
      <p:sp>
        <p:nvSpPr>
          <p:cNvPr id="16" name="Content Placeholder 8">
            <a:extLst>
              <a:ext uri="{FF2B5EF4-FFF2-40B4-BE49-F238E27FC236}">
                <a16:creationId xmlns:a16="http://schemas.microsoft.com/office/drawing/2014/main" id="{EFC1D832-5298-413A-ACCB-93C0C72C636D}"/>
              </a:ext>
            </a:extLst>
          </p:cNvPr>
          <p:cNvSpPr txBox="1">
            <a:spLocks/>
          </p:cNvSpPr>
          <p:nvPr/>
        </p:nvSpPr>
        <p:spPr>
          <a:xfrm>
            <a:off x="5160335" y="4209296"/>
            <a:ext cx="6725573" cy="3247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2800" dirty="0">
                <a:latin typeface="Selawik Semibold" panose="020B0702040204020203" pitchFamily="34" charset="0"/>
              </a:rPr>
              <a:t> Defense wins championships. </a:t>
            </a:r>
          </a:p>
          <a:p>
            <a:pPr algn="r"/>
            <a:r>
              <a:rPr lang="en-US" sz="2800" dirty="0">
                <a:latin typeface="Selawik Semibold" panose="020B0702040204020203" pitchFamily="34" charset="0"/>
              </a:rPr>
              <a:t>Offense wins contracts.</a:t>
            </a:r>
          </a:p>
          <a:p>
            <a:pPr algn="r"/>
            <a:r>
              <a:rPr lang="en-US" sz="2800" dirty="0">
                <a:latin typeface="Selawik Semibold" panose="020B0702040204020203" pitchFamily="34" charset="0"/>
              </a:rPr>
              <a:t>Be offensive. </a:t>
            </a:r>
          </a:p>
          <a:p>
            <a:pPr algn="r"/>
            <a:endParaRPr lang="en-US" sz="2800" dirty="0">
              <a:latin typeface="Selawik Semibold" panose="020B0702040204020203" pitchFamily="34" charset="0"/>
            </a:endParaRPr>
          </a:p>
          <a:p>
            <a:pPr algn="r"/>
            <a:r>
              <a:rPr lang="en-US" sz="2800" dirty="0">
                <a:latin typeface="Selawik Semibold" panose="020B0702040204020203" pitchFamily="34" charset="0"/>
              </a:rPr>
              <a:t>- Mahatma Mario</a:t>
            </a:r>
          </a:p>
          <a:p>
            <a:pPr lvl="2" algn="r"/>
            <a:endParaRPr lang="en-US" sz="2800" dirty="0">
              <a:latin typeface="Selawik Semibold" panose="020B0702040204020203" pitchFamily="34" charset="0"/>
            </a:endParaRPr>
          </a:p>
          <a:p>
            <a:pPr lvl="2" algn="r"/>
            <a:endParaRPr lang="en-US" sz="2800" dirty="0">
              <a:latin typeface="Selawik Semibold" panose="020B0702040204020203" pitchFamily="34" charset="0"/>
            </a:endParaRPr>
          </a:p>
          <a:p>
            <a:pPr lvl="2" algn="r"/>
            <a:endParaRPr lang="en-US" sz="2800" dirty="0">
              <a:latin typeface="Selawik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475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2945</TotalTime>
  <Words>1367</Words>
  <Application>Microsoft Office PowerPoint</Application>
  <PresentationFormat>Widescreen</PresentationFormat>
  <Paragraphs>334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Selawik Semibold</vt:lpstr>
      <vt:lpstr>Office Theme</vt:lpstr>
      <vt:lpstr>Sports Analytics III</vt:lpstr>
      <vt:lpstr>Industry Past</vt:lpstr>
      <vt:lpstr>Industry Past</vt:lpstr>
      <vt:lpstr>Industry Past</vt:lpstr>
      <vt:lpstr>Industry Past</vt:lpstr>
      <vt:lpstr>Industry Past</vt:lpstr>
      <vt:lpstr>From Past to Present</vt:lpstr>
      <vt:lpstr>Industry Present</vt:lpstr>
      <vt:lpstr>Industry Present</vt:lpstr>
      <vt:lpstr>Industry Present</vt:lpstr>
      <vt:lpstr>Industry Present</vt:lpstr>
      <vt:lpstr>Industry Present</vt:lpstr>
      <vt:lpstr>Industry Present</vt:lpstr>
      <vt:lpstr>Industry Present</vt:lpstr>
      <vt:lpstr>Industry Present</vt:lpstr>
      <vt:lpstr>Your Industry Future</vt:lpstr>
      <vt:lpstr>Your Industry Future</vt:lpstr>
      <vt:lpstr>Your Industry Future</vt:lpstr>
      <vt:lpstr>Your Industry Future</vt:lpstr>
      <vt:lpstr>Your Industry Future</vt:lpstr>
      <vt:lpstr>Your Industry Future</vt:lpstr>
      <vt:lpstr>Your Industry Future</vt:lpstr>
      <vt:lpstr>Your Industry Future</vt:lpstr>
      <vt:lpstr>Final Inspiration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Sports Analytics I</dc:title>
  <dc:creator>Super Mario</dc:creator>
  <cp:lastModifiedBy>Giacomazzo, Mario Sy John</cp:lastModifiedBy>
  <cp:revision>99</cp:revision>
  <dcterms:created xsi:type="dcterms:W3CDTF">2019-08-23T03:13:37Z</dcterms:created>
  <dcterms:modified xsi:type="dcterms:W3CDTF">2026-01-21T00:20:11Z</dcterms:modified>
</cp:coreProperties>
</file>