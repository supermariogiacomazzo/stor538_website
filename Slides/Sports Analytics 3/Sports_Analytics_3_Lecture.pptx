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"/>
  </p:notesMasterIdLst>
  <p:sldIdLst>
    <p:sldId id="256" r:id="rId2"/>
    <p:sldId id="276" r:id="rId3"/>
    <p:sldId id="277" r:id="rId4"/>
    <p:sldId id="278" r:id="rId5"/>
    <p:sldId id="279" r:id="rId6"/>
    <p:sldId id="284" r:id="rId7"/>
    <p:sldId id="316" r:id="rId8"/>
    <p:sldId id="307" r:id="rId9"/>
    <p:sldId id="257" r:id="rId10"/>
    <p:sldId id="309" r:id="rId11"/>
    <p:sldId id="310" r:id="rId12"/>
    <p:sldId id="311" r:id="rId13"/>
    <p:sldId id="301" r:id="rId14"/>
    <p:sldId id="286" r:id="rId15"/>
    <p:sldId id="287" r:id="rId16"/>
    <p:sldId id="290" r:id="rId17"/>
    <p:sldId id="317" r:id="rId18"/>
    <p:sldId id="289" r:id="rId19"/>
    <p:sldId id="318" r:id="rId20"/>
    <p:sldId id="319" r:id="rId21"/>
    <p:sldId id="320" r:id="rId22"/>
    <p:sldId id="296" r:id="rId23"/>
    <p:sldId id="281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95583"/>
    <a:srgbClr val="F76464"/>
    <a:srgbClr val="882E2E"/>
    <a:srgbClr val="DB5B5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261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76" y="1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04E5E84-956F-4423-97B3-5936A6D8EEEE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3D9EF6-5B6D-4923-9412-628692DCC0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9903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EEFD90-18A5-461A-97B5-BF5D964D24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AF3264F-69B9-437C-A766-FC30EF0F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A968FE-277D-4FAE-A16D-32913B0161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1C039-66A3-4640-815B-3B5A8B7D868D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0A93C4-52E7-4696-B94F-37CFF7B9A7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3EB5F3-DE9E-4FD6-B37A-94BE3D4102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EBC32-F1AB-4BBF-A78B-0246EAD751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55917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4CEA10-8D81-465C-81FF-EA62D730A3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E3FD49-B406-49EC-8015-D32BF2193D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B6DA73-9FF6-4552-830B-364450604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1C039-66A3-4640-815B-3B5A8B7D868D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584263-C145-4184-9AB8-C0184BF6D7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4AD532-E280-4728-A9EE-56C0B5124D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EBC32-F1AB-4BBF-A78B-0246EAD751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96446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5CD4AA-A53E-4146-9CDB-2F0A94CD3B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A2CE9F-D854-4A48-8BE9-C34C23BB5C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3F39BC-7DAB-4116-847E-1920F11F97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1C039-66A3-4640-815B-3B5A8B7D868D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1FE6BE-067B-4573-98ED-6E55CD1B6B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6B43CF-83B4-43C4-AB95-4DB39B461D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EBC32-F1AB-4BBF-A78B-0246EAD751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22059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FB937E-605B-4EAD-A5F0-E4BE629609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8AECCE-AF5E-48A1-92E9-086187BFA4C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0D40F2E-CBC6-4A0E-943C-CC4C0CE791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E68192-586B-4EC7-8DA5-137D4E3B40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1C039-66A3-4640-815B-3B5A8B7D868D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D5F421-F128-432A-86E5-27970BF488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DE0C05C-066A-4700-BD42-A159CD70D2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EBC32-F1AB-4BBF-A78B-0246EAD751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40000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AA41D-7EC3-449B-851E-0F77B8336C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0C785B-10A6-4B50-B1BC-1A17305F31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FCAF710-8ED1-4FE8-9EE1-B574629CAC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4C2A21A-3F2A-4824-BCE2-9A7772A8C2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C67A615-D4BC-4095-9C20-CD4F9BF9844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CCCACE0-B120-48AC-AF25-A247F93B62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1C039-66A3-4640-815B-3B5A8B7D868D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B8BC188-04E8-4C76-968E-6726720F3A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CD8CCCD-71D1-4F3F-A403-6224E3F850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EBC32-F1AB-4BBF-A78B-0246EAD751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84466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B9B1AC-EC2A-4BD4-91CC-AFB7D17F8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C65E60F-4C44-4CAF-AB05-25729A2AB1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1C039-66A3-4640-815B-3B5A8B7D868D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43677B5-CBF4-4458-93AE-155D078C4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E60569-84C5-4DF4-A2BF-DCB0FEF499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EBC32-F1AB-4BBF-A78B-0246EAD751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36249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3ED8FF8-0842-405C-9C34-FB6F4841C5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1C039-66A3-4640-815B-3B5A8B7D868D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1E4E9F5-EE5B-46BE-BE67-A4A9E1FDCF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5B2951-4B33-4835-9113-9811879263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EBC32-F1AB-4BBF-A78B-0246EAD751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1583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F2DF96-69DF-4F06-A7B9-F6AEDE53E7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B0C669-C0D6-43D8-BDC1-428B0BFDB3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557871-B9A5-4AF1-8C22-5EFAB20D061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480336-9845-4157-B43A-2DA162111C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1C039-66A3-4640-815B-3B5A8B7D868D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1BBC2E-00D4-4B98-A70F-8B43C65407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F0F678-C6B2-4319-AFF1-E313FB2D31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EBC32-F1AB-4BBF-A78B-0246EAD751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50187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138E65-2B5B-449C-9BD6-052C2D705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00A7755-3ABB-4B90-9CA8-8F1C1DE30FD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72AF249-C3B4-48AC-8A9B-0AE4691673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E72F56-0F14-4C38-A91D-F297CE545E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1C039-66A3-4640-815B-3B5A8B7D868D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CEE1E0-7248-4931-83D5-B20FBF601B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7E2062-542F-4254-A653-03548B1A2A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EBC32-F1AB-4BBF-A78B-0246EAD751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06468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83CD8C-6E53-4F40-8380-A92F3B9949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38C0C9-02DA-4CEC-85ED-72230B0543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F42F39-2249-4A7F-A3D2-6D10985A26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1C039-66A3-4640-815B-3B5A8B7D868D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F54834-23F0-4572-9180-C7FD815223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199F3B-3D9B-4B75-96D1-264C43EE84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EBC32-F1AB-4BBF-A78B-0246EAD751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51991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ED029F3-D01E-4258-B9B7-98C4FCF705D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A111006-B6E1-4AAD-84CD-B296071D5D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DFB41D-AAC0-41AD-B89E-2A54D14EBA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1C039-66A3-4640-815B-3B5A8B7D868D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F6A8BA-9134-45A5-B9C2-7F06ACC05F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6D21FB-D40F-4086-B1EF-D48D15BEE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EBC32-F1AB-4BBF-A78B-0246EAD751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29257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A398F0C-B37D-42DC-A26E-3F2DE9A084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023FA3-1FB5-45B6-AED5-AA46BE35C4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060C43-94CF-49C0-969C-E320D7A0FA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81C039-66A3-4640-815B-3B5A8B7D868D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BB117C-3B02-46C9-8C04-D8B212580E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344BE7-C0B5-4B71-9B7D-446B8E2D9C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68EBC32-F1AB-4BBF-A78B-0246EAD751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01777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955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B5445C-8F3E-4F4B-B272-8D9F0BC492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3136" y="5091762"/>
            <a:ext cx="7834193" cy="1264588"/>
          </a:xfrm>
        </p:spPr>
        <p:txBody>
          <a:bodyPr anchor="ctr">
            <a:normAutofit/>
          </a:bodyPr>
          <a:lstStyle/>
          <a:p>
            <a:pPr algn="r"/>
            <a:r>
              <a:rPr lang="en-US" dirty="0">
                <a:latin typeface="Selawik Semibold" panose="020B0702040204020203" pitchFamily="34" charset="0"/>
              </a:rPr>
              <a:t>Sports Analytics III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ACC54F8-420D-42C9-AB41-8EA29A4112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99107" y="5091763"/>
            <a:ext cx="2974207" cy="1264587"/>
          </a:xfrm>
        </p:spPr>
        <p:txBody>
          <a:bodyPr anchor="ctr">
            <a:normAutofit/>
          </a:bodyPr>
          <a:lstStyle/>
          <a:p>
            <a:pPr algn="l"/>
            <a:r>
              <a:rPr lang="en-US" sz="2000" dirty="0">
                <a:latin typeface="Selawik Semibold" panose="020B0702040204020203" pitchFamily="34" charset="0"/>
              </a:rPr>
              <a:t>Produced by Dr. Mario</a:t>
            </a:r>
          </a:p>
          <a:p>
            <a:pPr algn="l"/>
            <a:r>
              <a:rPr lang="en-US" sz="2000" dirty="0">
                <a:latin typeface="Selawik Semibold" panose="020B0702040204020203" pitchFamily="34" charset="0"/>
              </a:rPr>
              <a:t>UNC STOR 538</a:t>
            </a:r>
          </a:p>
        </p:txBody>
      </p:sp>
      <p:pic>
        <p:nvPicPr>
          <p:cNvPr id="5" name="Picture 4" descr="A picture containing indoor&#10;&#10;Description automatically generated">
            <a:extLst>
              <a:ext uri="{FF2B5EF4-FFF2-40B4-BE49-F238E27FC236}">
                <a16:creationId xmlns:a16="http://schemas.microsoft.com/office/drawing/2014/main" id="{48589EA3-03B9-4D42-8282-8AC52D63CBF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949" b="23506"/>
          <a:stretch/>
        </p:blipFill>
        <p:spPr>
          <a:xfrm>
            <a:off x="-3983" y="10"/>
            <a:ext cx="12192000" cy="4571990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126E481-B945-4179-BD79-05E96E9B29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rgbClr val="FFFFFF">
                <a:alpha val="8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1530856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955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A6792F05-2FD4-4F18-815E-15391E8B4A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3955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89AFCC-0FF0-498C-B11F-8990DF0DA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b="1" dirty="0">
                <a:latin typeface="Selawik Semibold" panose="020B0604020202020204" pitchFamily="34" charset="0"/>
              </a:rPr>
              <a:t>Industry Past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D995594-59F2-4020-AB6F-751BAE84AD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21249"/>
            <a:ext cx="6994712" cy="4155713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Selawik Semibold" panose="020B0702040204020203" pitchFamily="34" charset="0"/>
              </a:rPr>
              <a:t>Sports Analytics Use Survey (2013)</a:t>
            </a:r>
          </a:p>
          <a:p>
            <a:endParaRPr lang="en-US" sz="2400" dirty="0">
              <a:latin typeface="Selawik Semibold" panose="020B0702040204020203" pitchFamily="34" charset="0"/>
            </a:endParaRPr>
          </a:p>
          <a:p>
            <a:r>
              <a:rPr lang="en-US" sz="2400" dirty="0">
                <a:latin typeface="Selawik Semibold" panose="020B0702040204020203" pitchFamily="34" charset="0"/>
              </a:rPr>
              <a:t>Sample of 27 People</a:t>
            </a:r>
            <a:r>
              <a:rPr lang="en-US" sz="2000" dirty="0">
                <a:latin typeface="Selawik Semibold" panose="020B0702040204020203" pitchFamily="34" charset="0"/>
              </a:rPr>
              <a:t> </a:t>
            </a:r>
            <a:r>
              <a:rPr lang="en-US" sz="2400" dirty="0">
                <a:latin typeface="Selawik Semibold" panose="020B0702040204020203" pitchFamily="34" charset="0"/>
              </a:rPr>
              <a:t>(NFL, MLB, NBA, EPL)</a:t>
            </a:r>
          </a:p>
          <a:p>
            <a:endParaRPr lang="en-US" sz="2400" dirty="0">
              <a:latin typeface="Selawik Semibold" panose="020B0702040204020203" pitchFamily="34" charset="0"/>
            </a:endParaRPr>
          </a:p>
          <a:p>
            <a:r>
              <a:rPr lang="en-US" sz="2400" dirty="0">
                <a:latin typeface="Selawik Semibold" panose="020B0702040204020203" pitchFamily="34" charset="0"/>
              </a:rPr>
              <a:t>How Many Different Sources?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1-2 (6.7%) 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3-4 (33.3%) 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5-6 (13.3%) 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&gt;6 (46.71%) </a:t>
            </a:r>
          </a:p>
        </p:txBody>
      </p:sp>
      <p:pic>
        <p:nvPicPr>
          <p:cNvPr id="4" name="Picture 3" descr="A drawing of a cartoon character&#10;&#10;Description automatically generated">
            <a:extLst>
              <a:ext uri="{FF2B5EF4-FFF2-40B4-BE49-F238E27FC236}">
                <a16:creationId xmlns:a16="http://schemas.microsoft.com/office/drawing/2014/main" id="{A7FDC859-D890-4904-9C64-27F43DA9045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16" r="2" b="2"/>
          <a:stretch/>
        </p:blipFill>
        <p:spPr>
          <a:xfrm>
            <a:off x="7471144" y="1700078"/>
            <a:ext cx="4720855" cy="2583792"/>
          </a:xfrm>
          <a:custGeom>
            <a:avLst/>
            <a:gdLst>
              <a:gd name="connsiteX0" fmla="*/ 0 w 5475077"/>
              <a:gd name="connsiteY0" fmla="*/ 0 h 2583792"/>
              <a:gd name="connsiteX1" fmla="*/ 5475077 w 5475077"/>
              <a:gd name="connsiteY1" fmla="*/ 0 h 2583792"/>
              <a:gd name="connsiteX2" fmla="*/ 5475077 w 5475077"/>
              <a:gd name="connsiteY2" fmla="*/ 2583792 h 2583792"/>
              <a:gd name="connsiteX3" fmla="*/ 1197192 w 5475077"/>
              <a:gd name="connsiteY3" fmla="*/ 2583792 h 25837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75077" h="2583792">
                <a:moveTo>
                  <a:pt x="0" y="0"/>
                </a:moveTo>
                <a:lnTo>
                  <a:pt x="5475077" y="0"/>
                </a:lnTo>
                <a:lnTo>
                  <a:pt x="5475077" y="2583792"/>
                </a:lnTo>
                <a:lnTo>
                  <a:pt x="1197192" y="2583792"/>
                </a:lnTo>
                <a:close/>
              </a:path>
            </a:pathLst>
          </a:custGeom>
        </p:spPr>
      </p:pic>
      <p:pic>
        <p:nvPicPr>
          <p:cNvPr id="5" name="Content Placeholder 4" descr="A picture containing indoor&#10;&#10;Description automatically generated">
            <a:extLst>
              <a:ext uri="{FF2B5EF4-FFF2-40B4-BE49-F238E27FC236}">
                <a16:creationId xmlns:a16="http://schemas.microsoft.com/office/drawing/2014/main" id="{A58F0E55-21F3-485B-A07F-1CE74177BDD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00" r="3" b="6859"/>
          <a:stretch/>
        </p:blipFill>
        <p:spPr>
          <a:xfrm>
            <a:off x="8491869" y="4283870"/>
            <a:ext cx="3700129" cy="2583520"/>
          </a:xfrm>
          <a:custGeom>
            <a:avLst/>
            <a:gdLst>
              <a:gd name="connsiteX0" fmla="*/ 0 w 4277884"/>
              <a:gd name="connsiteY0" fmla="*/ 0 h 2583520"/>
              <a:gd name="connsiteX1" fmla="*/ 4277884 w 4277884"/>
              <a:gd name="connsiteY1" fmla="*/ 0 h 2583520"/>
              <a:gd name="connsiteX2" fmla="*/ 4277884 w 4277884"/>
              <a:gd name="connsiteY2" fmla="*/ 2583520 h 2583520"/>
              <a:gd name="connsiteX3" fmla="*/ 1192437 w 4277884"/>
              <a:gd name="connsiteY3" fmla="*/ 2583520 h 2583520"/>
              <a:gd name="connsiteX4" fmla="*/ 1188085 w 4277884"/>
              <a:gd name="connsiteY4" fmla="*/ 2574129 h 2583520"/>
              <a:gd name="connsiteX5" fmla="*/ 1192715 w 4277884"/>
              <a:gd name="connsiteY5" fmla="*/ 2574129 h 2583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277884" h="2583520">
                <a:moveTo>
                  <a:pt x="0" y="0"/>
                </a:moveTo>
                <a:lnTo>
                  <a:pt x="4277884" y="0"/>
                </a:lnTo>
                <a:lnTo>
                  <a:pt x="4277884" y="2583520"/>
                </a:lnTo>
                <a:lnTo>
                  <a:pt x="1192437" y="2583520"/>
                </a:lnTo>
                <a:lnTo>
                  <a:pt x="1188085" y="2574129"/>
                </a:lnTo>
                <a:lnTo>
                  <a:pt x="1192715" y="2574129"/>
                </a:lnTo>
                <a:close/>
              </a:path>
            </a:pathLst>
          </a:cu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2901312-C3C2-4CEC-80EF-823AB4FBB726}"/>
              </a:ext>
            </a:extLst>
          </p:cNvPr>
          <p:cNvSpPr/>
          <p:nvPr/>
        </p:nvSpPr>
        <p:spPr>
          <a:xfrm>
            <a:off x="-1" y="1608918"/>
            <a:ext cx="12191999" cy="911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D0A7C9C-CA2C-4B9B-A125-2D09D5573B44}"/>
              </a:ext>
            </a:extLst>
          </p:cNvPr>
          <p:cNvSpPr/>
          <p:nvPr/>
        </p:nvSpPr>
        <p:spPr>
          <a:xfrm>
            <a:off x="1" y="6677247"/>
            <a:ext cx="12191999" cy="1901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4A085FC-1866-46D4-97F7-51AA45E48D4F}"/>
              </a:ext>
            </a:extLst>
          </p:cNvPr>
          <p:cNvSpPr/>
          <p:nvPr/>
        </p:nvSpPr>
        <p:spPr>
          <a:xfrm rot="4092292">
            <a:off x="5790668" y="4094517"/>
            <a:ext cx="5446699" cy="1370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7040908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955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A6792F05-2FD4-4F18-815E-15391E8B4A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3955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89AFCC-0FF0-498C-B11F-8990DF0DA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b="1" dirty="0">
                <a:latin typeface="Selawik Semibold" panose="020B0604020202020204" pitchFamily="34" charset="0"/>
              </a:rPr>
              <a:t>Industry Past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D995594-59F2-4020-AB6F-751BAE84AD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21249"/>
            <a:ext cx="6994712" cy="4155713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Selawik Semibold" panose="020B0702040204020203" pitchFamily="34" charset="0"/>
              </a:rPr>
              <a:t>How Much Data is Centralized?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All (31.3%)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Most (37.4%)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Some (31.3%)</a:t>
            </a:r>
          </a:p>
          <a:p>
            <a:pPr lvl="1"/>
            <a:endParaRPr lang="en-US" sz="2000" dirty="0">
              <a:latin typeface="Selawik Semibold" panose="020B0702040204020203" pitchFamily="34" charset="0"/>
            </a:endParaRPr>
          </a:p>
          <a:p>
            <a:r>
              <a:rPr lang="en-US" sz="2400" dirty="0">
                <a:latin typeface="Selawik Semibold" panose="020B0702040204020203" pitchFamily="34" charset="0"/>
              </a:rPr>
              <a:t>How Much Data is Dependent on One Person?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Some (50.0%)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Most (43.7%)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All Data Centralized (6.3%)</a:t>
            </a:r>
          </a:p>
        </p:txBody>
      </p:sp>
      <p:pic>
        <p:nvPicPr>
          <p:cNvPr id="4" name="Picture 3" descr="A drawing of a cartoon character&#10;&#10;Description automatically generated">
            <a:extLst>
              <a:ext uri="{FF2B5EF4-FFF2-40B4-BE49-F238E27FC236}">
                <a16:creationId xmlns:a16="http://schemas.microsoft.com/office/drawing/2014/main" id="{A7FDC859-D890-4904-9C64-27F43DA9045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16" r="2" b="2"/>
          <a:stretch/>
        </p:blipFill>
        <p:spPr>
          <a:xfrm>
            <a:off x="7471144" y="1700078"/>
            <a:ext cx="4720855" cy="2583792"/>
          </a:xfrm>
          <a:custGeom>
            <a:avLst/>
            <a:gdLst>
              <a:gd name="connsiteX0" fmla="*/ 0 w 5475077"/>
              <a:gd name="connsiteY0" fmla="*/ 0 h 2583792"/>
              <a:gd name="connsiteX1" fmla="*/ 5475077 w 5475077"/>
              <a:gd name="connsiteY1" fmla="*/ 0 h 2583792"/>
              <a:gd name="connsiteX2" fmla="*/ 5475077 w 5475077"/>
              <a:gd name="connsiteY2" fmla="*/ 2583792 h 2583792"/>
              <a:gd name="connsiteX3" fmla="*/ 1197192 w 5475077"/>
              <a:gd name="connsiteY3" fmla="*/ 2583792 h 25837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75077" h="2583792">
                <a:moveTo>
                  <a:pt x="0" y="0"/>
                </a:moveTo>
                <a:lnTo>
                  <a:pt x="5475077" y="0"/>
                </a:lnTo>
                <a:lnTo>
                  <a:pt x="5475077" y="2583792"/>
                </a:lnTo>
                <a:lnTo>
                  <a:pt x="1197192" y="2583792"/>
                </a:lnTo>
                <a:close/>
              </a:path>
            </a:pathLst>
          </a:custGeom>
        </p:spPr>
      </p:pic>
      <p:pic>
        <p:nvPicPr>
          <p:cNvPr id="5" name="Content Placeholder 4" descr="A picture containing indoor&#10;&#10;Description automatically generated">
            <a:extLst>
              <a:ext uri="{FF2B5EF4-FFF2-40B4-BE49-F238E27FC236}">
                <a16:creationId xmlns:a16="http://schemas.microsoft.com/office/drawing/2014/main" id="{A58F0E55-21F3-485B-A07F-1CE74177BDD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00" r="3" b="6859"/>
          <a:stretch/>
        </p:blipFill>
        <p:spPr>
          <a:xfrm>
            <a:off x="8491869" y="4283870"/>
            <a:ext cx="3700129" cy="2583520"/>
          </a:xfrm>
          <a:custGeom>
            <a:avLst/>
            <a:gdLst>
              <a:gd name="connsiteX0" fmla="*/ 0 w 4277884"/>
              <a:gd name="connsiteY0" fmla="*/ 0 h 2583520"/>
              <a:gd name="connsiteX1" fmla="*/ 4277884 w 4277884"/>
              <a:gd name="connsiteY1" fmla="*/ 0 h 2583520"/>
              <a:gd name="connsiteX2" fmla="*/ 4277884 w 4277884"/>
              <a:gd name="connsiteY2" fmla="*/ 2583520 h 2583520"/>
              <a:gd name="connsiteX3" fmla="*/ 1192437 w 4277884"/>
              <a:gd name="connsiteY3" fmla="*/ 2583520 h 2583520"/>
              <a:gd name="connsiteX4" fmla="*/ 1188085 w 4277884"/>
              <a:gd name="connsiteY4" fmla="*/ 2574129 h 2583520"/>
              <a:gd name="connsiteX5" fmla="*/ 1192715 w 4277884"/>
              <a:gd name="connsiteY5" fmla="*/ 2574129 h 2583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277884" h="2583520">
                <a:moveTo>
                  <a:pt x="0" y="0"/>
                </a:moveTo>
                <a:lnTo>
                  <a:pt x="4277884" y="0"/>
                </a:lnTo>
                <a:lnTo>
                  <a:pt x="4277884" y="2583520"/>
                </a:lnTo>
                <a:lnTo>
                  <a:pt x="1192437" y="2583520"/>
                </a:lnTo>
                <a:lnTo>
                  <a:pt x="1188085" y="2574129"/>
                </a:lnTo>
                <a:lnTo>
                  <a:pt x="1192715" y="2574129"/>
                </a:lnTo>
                <a:close/>
              </a:path>
            </a:pathLst>
          </a:cu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2901312-C3C2-4CEC-80EF-823AB4FBB726}"/>
              </a:ext>
            </a:extLst>
          </p:cNvPr>
          <p:cNvSpPr/>
          <p:nvPr/>
        </p:nvSpPr>
        <p:spPr>
          <a:xfrm>
            <a:off x="-1" y="1608918"/>
            <a:ext cx="12191999" cy="911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D0A7C9C-CA2C-4B9B-A125-2D09D5573B44}"/>
              </a:ext>
            </a:extLst>
          </p:cNvPr>
          <p:cNvSpPr/>
          <p:nvPr/>
        </p:nvSpPr>
        <p:spPr>
          <a:xfrm>
            <a:off x="1" y="6677247"/>
            <a:ext cx="12191999" cy="1901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4A085FC-1866-46D4-97F7-51AA45E48D4F}"/>
              </a:ext>
            </a:extLst>
          </p:cNvPr>
          <p:cNvSpPr/>
          <p:nvPr/>
        </p:nvSpPr>
        <p:spPr>
          <a:xfrm rot="4092292">
            <a:off x="5790668" y="4094517"/>
            <a:ext cx="5446699" cy="1370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1890433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955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A6792F05-2FD4-4F18-815E-15391E8B4A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3955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89AFCC-0FF0-498C-B11F-8990DF0DA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b="1" dirty="0">
                <a:latin typeface="Selawik Semibold" panose="020B0604020202020204" pitchFamily="34" charset="0"/>
              </a:rPr>
              <a:t>Industry Past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D995594-59F2-4020-AB6F-751BAE84AD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2021249"/>
            <a:ext cx="7653667" cy="4366104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Selawik Semibold" panose="020B0702040204020203" pitchFamily="34" charset="0"/>
              </a:rPr>
              <a:t>Is Data Checked for Errors?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Always (31.3%)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Usually (37.5%)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Sometimes (18.8%)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Occasionally (6.1%)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Rarely (6.3%)</a:t>
            </a:r>
          </a:p>
          <a:p>
            <a:pPr lvl="1"/>
            <a:endParaRPr lang="en-US" sz="2000" dirty="0">
              <a:latin typeface="Selawik Semibold" panose="020B0702040204020203" pitchFamily="34" charset="0"/>
            </a:endParaRPr>
          </a:p>
          <a:p>
            <a:r>
              <a:rPr lang="en-US" sz="2400" dirty="0">
                <a:latin typeface="Selawik Semibold" panose="020B0702040204020203" pitchFamily="34" charset="0"/>
              </a:rPr>
              <a:t>How Many Database Programmers are Employed?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0 (37.5%)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1-2 (50.0%)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3-4 (0.0%)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&gt;5 (12.5%)</a:t>
            </a:r>
          </a:p>
        </p:txBody>
      </p:sp>
      <p:pic>
        <p:nvPicPr>
          <p:cNvPr id="4" name="Picture 3" descr="A drawing of a cartoon character&#10;&#10;Description automatically generated">
            <a:extLst>
              <a:ext uri="{FF2B5EF4-FFF2-40B4-BE49-F238E27FC236}">
                <a16:creationId xmlns:a16="http://schemas.microsoft.com/office/drawing/2014/main" id="{A7FDC859-D890-4904-9C64-27F43DA9045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16" r="2" b="2"/>
          <a:stretch/>
        </p:blipFill>
        <p:spPr>
          <a:xfrm>
            <a:off x="7471144" y="1700078"/>
            <a:ext cx="4720855" cy="2583792"/>
          </a:xfrm>
          <a:custGeom>
            <a:avLst/>
            <a:gdLst>
              <a:gd name="connsiteX0" fmla="*/ 0 w 5475077"/>
              <a:gd name="connsiteY0" fmla="*/ 0 h 2583792"/>
              <a:gd name="connsiteX1" fmla="*/ 5475077 w 5475077"/>
              <a:gd name="connsiteY1" fmla="*/ 0 h 2583792"/>
              <a:gd name="connsiteX2" fmla="*/ 5475077 w 5475077"/>
              <a:gd name="connsiteY2" fmla="*/ 2583792 h 2583792"/>
              <a:gd name="connsiteX3" fmla="*/ 1197192 w 5475077"/>
              <a:gd name="connsiteY3" fmla="*/ 2583792 h 25837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75077" h="2583792">
                <a:moveTo>
                  <a:pt x="0" y="0"/>
                </a:moveTo>
                <a:lnTo>
                  <a:pt x="5475077" y="0"/>
                </a:lnTo>
                <a:lnTo>
                  <a:pt x="5475077" y="2583792"/>
                </a:lnTo>
                <a:lnTo>
                  <a:pt x="1197192" y="2583792"/>
                </a:lnTo>
                <a:close/>
              </a:path>
            </a:pathLst>
          </a:custGeom>
        </p:spPr>
      </p:pic>
      <p:pic>
        <p:nvPicPr>
          <p:cNvPr id="5" name="Content Placeholder 4" descr="A picture containing indoor&#10;&#10;Description automatically generated">
            <a:extLst>
              <a:ext uri="{FF2B5EF4-FFF2-40B4-BE49-F238E27FC236}">
                <a16:creationId xmlns:a16="http://schemas.microsoft.com/office/drawing/2014/main" id="{A58F0E55-21F3-485B-A07F-1CE74177BDD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00" r="3" b="6859"/>
          <a:stretch/>
        </p:blipFill>
        <p:spPr>
          <a:xfrm>
            <a:off x="8491869" y="4283870"/>
            <a:ext cx="3700129" cy="2583520"/>
          </a:xfrm>
          <a:custGeom>
            <a:avLst/>
            <a:gdLst>
              <a:gd name="connsiteX0" fmla="*/ 0 w 4277884"/>
              <a:gd name="connsiteY0" fmla="*/ 0 h 2583520"/>
              <a:gd name="connsiteX1" fmla="*/ 4277884 w 4277884"/>
              <a:gd name="connsiteY1" fmla="*/ 0 h 2583520"/>
              <a:gd name="connsiteX2" fmla="*/ 4277884 w 4277884"/>
              <a:gd name="connsiteY2" fmla="*/ 2583520 h 2583520"/>
              <a:gd name="connsiteX3" fmla="*/ 1192437 w 4277884"/>
              <a:gd name="connsiteY3" fmla="*/ 2583520 h 2583520"/>
              <a:gd name="connsiteX4" fmla="*/ 1188085 w 4277884"/>
              <a:gd name="connsiteY4" fmla="*/ 2574129 h 2583520"/>
              <a:gd name="connsiteX5" fmla="*/ 1192715 w 4277884"/>
              <a:gd name="connsiteY5" fmla="*/ 2574129 h 2583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277884" h="2583520">
                <a:moveTo>
                  <a:pt x="0" y="0"/>
                </a:moveTo>
                <a:lnTo>
                  <a:pt x="4277884" y="0"/>
                </a:lnTo>
                <a:lnTo>
                  <a:pt x="4277884" y="2583520"/>
                </a:lnTo>
                <a:lnTo>
                  <a:pt x="1192437" y="2583520"/>
                </a:lnTo>
                <a:lnTo>
                  <a:pt x="1188085" y="2574129"/>
                </a:lnTo>
                <a:lnTo>
                  <a:pt x="1192715" y="2574129"/>
                </a:lnTo>
                <a:close/>
              </a:path>
            </a:pathLst>
          </a:cu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2901312-C3C2-4CEC-80EF-823AB4FBB726}"/>
              </a:ext>
            </a:extLst>
          </p:cNvPr>
          <p:cNvSpPr/>
          <p:nvPr/>
        </p:nvSpPr>
        <p:spPr>
          <a:xfrm>
            <a:off x="-1" y="1608918"/>
            <a:ext cx="12191999" cy="911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D0A7C9C-CA2C-4B9B-A125-2D09D5573B44}"/>
              </a:ext>
            </a:extLst>
          </p:cNvPr>
          <p:cNvSpPr/>
          <p:nvPr/>
        </p:nvSpPr>
        <p:spPr>
          <a:xfrm>
            <a:off x="1" y="6677247"/>
            <a:ext cx="12191999" cy="1901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4A085FC-1866-46D4-97F7-51AA45E48D4F}"/>
              </a:ext>
            </a:extLst>
          </p:cNvPr>
          <p:cNvSpPr/>
          <p:nvPr/>
        </p:nvSpPr>
        <p:spPr>
          <a:xfrm rot="4092292">
            <a:off x="5790668" y="4094517"/>
            <a:ext cx="5446699" cy="1370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4439462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955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A6792F05-2FD4-4F18-815E-15391E8B4A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3955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89AFCC-0FF0-498C-B11F-8990DF0DA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b="1" dirty="0">
                <a:latin typeface="Selawik Semibold" panose="020B0604020202020204" pitchFamily="34" charset="0"/>
              </a:rPr>
              <a:t>Industry Past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D995594-59F2-4020-AB6F-751BAE84AD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2021249"/>
            <a:ext cx="7653667" cy="4366104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Selawik Semibold" panose="020B0702040204020203" pitchFamily="34" charset="0"/>
              </a:rPr>
              <a:t>How Many Statistical Analysts are Employed?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0 (20.0%)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1-2 (66.6%)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3-4 (0.0%)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&gt;5 (13.3%)</a:t>
            </a:r>
          </a:p>
          <a:p>
            <a:pPr lvl="1"/>
            <a:endParaRPr lang="en-US" sz="2000" dirty="0">
              <a:latin typeface="Selawik Semibold" panose="020B0702040204020203" pitchFamily="34" charset="0"/>
            </a:endParaRPr>
          </a:p>
          <a:p>
            <a:r>
              <a:rPr lang="en-US" sz="2400" dirty="0">
                <a:latin typeface="Selawik Semibold" panose="020B0702040204020203" pitchFamily="34" charset="0"/>
              </a:rPr>
              <a:t>Roadblock: Difficulty Identifying Strong Applicant</a:t>
            </a:r>
          </a:p>
          <a:p>
            <a:endParaRPr lang="en-US" sz="2400" dirty="0">
              <a:latin typeface="Selawik Semibold" panose="020B0702040204020203" pitchFamily="34" charset="0"/>
            </a:endParaRPr>
          </a:p>
          <a:p>
            <a:r>
              <a:rPr lang="en-US" sz="2400" dirty="0">
                <a:latin typeface="Selawik Semibold" panose="020B0702040204020203" pitchFamily="34" charset="0"/>
              </a:rPr>
              <a:t>Difficulty in Both Hiring and Evaluating</a:t>
            </a:r>
          </a:p>
          <a:p>
            <a:endParaRPr lang="en-US" sz="2400" dirty="0">
              <a:latin typeface="Selawik Semibold" panose="020B0702040204020203" pitchFamily="34" charset="0"/>
            </a:endParaRPr>
          </a:p>
        </p:txBody>
      </p:sp>
      <p:pic>
        <p:nvPicPr>
          <p:cNvPr id="4" name="Picture 3" descr="A drawing of a cartoon character&#10;&#10;Description automatically generated">
            <a:extLst>
              <a:ext uri="{FF2B5EF4-FFF2-40B4-BE49-F238E27FC236}">
                <a16:creationId xmlns:a16="http://schemas.microsoft.com/office/drawing/2014/main" id="{A7FDC859-D890-4904-9C64-27F43DA9045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16" r="2" b="2"/>
          <a:stretch/>
        </p:blipFill>
        <p:spPr>
          <a:xfrm>
            <a:off x="7471144" y="1700078"/>
            <a:ext cx="4720855" cy="2583792"/>
          </a:xfrm>
          <a:custGeom>
            <a:avLst/>
            <a:gdLst>
              <a:gd name="connsiteX0" fmla="*/ 0 w 5475077"/>
              <a:gd name="connsiteY0" fmla="*/ 0 h 2583792"/>
              <a:gd name="connsiteX1" fmla="*/ 5475077 w 5475077"/>
              <a:gd name="connsiteY1" fmla="*/ 0 h 2583792"/>
              <a:gd name="connsiteX2" fmla="*/ 5475077 w 5475077"/>
              <a:gd name="connsiteY2" fmla="*/ 2583792 h 2583792"/>
              <a:gd name="connsiteX3" fmla="*/ 1197192 w 5475077"/>
              <a:gd name="connsiteY3" fmla="*/ 2583792 h 25837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75077" h="2583792">
                <a:moveTo>
                  <a:pt x="0" y="0"/>
                </a:moveTo>
                <a:lnTo>
                  <a:pt x="5475077" y="0"/>
                </a:lnTo>
                <a:lnTo>
                  <a:pt x="5475077" y="2583792"/>
                </a:lnTo>
                <a:lnTo>
                  <a:pt x="1197192" y="2583792"/>
                </a:lnTo>
                <a:close/>
              </a:path>
            </a:pathLst>
          </a:custGeom>
        </p:spPr>
      </p:pic>
      <p:pic>
        <p:nvPicPr>
          <p:cNvPr id="5" name="Content Placeholder 4" descr="A picture containing indoor&#10;&#10;Description automatically generated">
            <a:extLst>
              <a:ext uri="{FF2B5EF4-FFF2-40B4-BE49-F238E27FC236}">
                <a16:creationId xmlns:a16="http://schemas.microsoft.com/office/drawing/2014/main" id="{A58F0E55-21F3-485B-A07F-1CE74177BDD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00" r="3" b="6859"/>
          <a:stretch/>
        </p:blipFill>
        <p:spPr>
          <a:xfrm>
            <a:off x="8491869" y="4283870"/>
            <a:ext cx="3700129" cy="2583520"/>
          </a:xfrm>
          <a:custGeom>
            <a:avLst/>
            <a:gdLst>
              <a:gd name="connsiteX0" fmla="*/ 0 w 4277884"/>
              <a:gd name="connsiteY0" fmla="*/ 0 h 2583520"/>
              <a:gd name="connsiteX1" fmla="*/ 4277884 w 4277884"/>
              <a:gd name="connsiteY1" fmla="*/ 0 h 2583520"/>
              <a:gd name="connsiteX2" fmla="*/ 4277884 w 4277884"/>
              <a:gd name="connsiteY2" fmla="*/ 2583520 h 2583520"/>
              <a:gd name="connsiteX3" fmla="*/ 1192437 w 4277884"/>
              <a:gd name="connsiteY3" fmla="*/ 2583520 h 2583520"/>
              <a:gd name="connsiteX4" fmla="*/ 1188085 w 4277884"/>
              <a:gd name="connsiteY4" fmla="*/ 2574129 h 2583520"/>
              <a:gd name="connsiteX5" fmla="*/ 1192715 w 4277884"/>
              <a:gd name="connsiteY5" fmla="*/ 2574129 h 2583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277884" h="2583520">
                <a:moveTo>
                  <a:pt x="0" y="0"/>
                </a:moveTo>
                <a:lnTo>
                  <a:pt x="4277884" y="0"/>
                </a:lnTo>
                <a:lnTo>
                  <a:pt x="4277884" y="2583520"/>
                </a:lnTo>
                <a:lnTo>
                  <a:pt x="1192437" y="2583520"/>
                </a:lnTo>
                <a:lnTo>
                  <a:pt x="1188085" y="2574129"/>
                </a:lnTo>
                <a:lnTo>
                  <a:pt x="1192715" y="2574129"/>
                </a:lnTo>
                <a:close/>
              </a:path>
            </a:pathLst>
          </a:cu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2901312-C3C2-4CEC-80EF-823AB4FBB726}"/>
              </a:ext>
            </a:extLst>
          </p:cNvPr>
          <p:cNvSpPr/>
          <p:nvPr/>
        </p:nvSpPr>
        <p:spPr>
          <a:xfrm>
            <a:off x="-1" y="1608918"/>
            <a:ext cx="12191999" cy="911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D0A7C9C-CA2C-4B9B-A125-2D09D5573B44}"/>
              </a:ext>
            </a:extLst>
          </p:cNvPr>
          <p:cNvSpPr/>
          <p:nvPr/>
        </p:nvSpPr>
        <p:spPr>
          <a:xfrm>
            <a:off x="1" y="6677247"/>
            <a:ext cx="12191999" cy="1901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4A085FC-1866-46D4-97F7-51AA45E48D4F}"/>
              </a:ext>
            </a:extLst>
          </p:cNvPr>
          <p:cNvSpPr/>
          <p:nvPr/>
        </p:nvSpPr>
        <p:spPr>
          <a:xfrm rot="4092292">
            <a:off x="5790668" y="4094517"/>
            <a:ext cx="5446699" cy="1370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9770707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955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A6792F05-2FD4-4F18-815E-15391E8B4A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3955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89AFCC-0FF0-498C-B11F-8990DF0DA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b="1" dirty="0">
                <a:latin typeface="Selawik Semibold" panose="020B0604020202020204" pitchFamily="34" charset="0"/>
              </a:rPr>
              <a:t>Industry Past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D995594-59F2-4020-AB6F-751BAE84AD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2021249"/>
            <a:ext cx="7882219" cy="4366104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Selawik Semibold" panose="020B0702040204020203" pitchFamily="34" charset="0"/>
              </a:rPr>
              <a:t>Clear Process for Hiring/Evaluating Analysts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Strongly Agree (13.3%/14.3%)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Somewhat Agree (13.3%/14.3%)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Neutral (26.7%/28.6%)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Somewhat Disagree (13.4%/21.4%)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Strongly Disagree (33.3%/21.4%)</a:t>
            </a:r>
          </a:p>
          <a:p>
            <a:pPr lvl="1"/>
            <a:endParaRPr lang="en-US" sz="2000" dirty="0">
              <a:latin typeface="Selawik Semibold" panose="020B0702040204020203" pitchFamily="34" charset="0"/>
            </a:endParaRPr>
          </a:p>
          <a:p>
            <a:r>
              <a:rPr lang="en-US" sz="2400" dirty="0">
                <a:latin typeface="Selawik Semibold" panose="020B0702040204020203" pitchFamily="34" charset="0"/>
              </a:rPr>
              <a:t>Analytic Resources in Line with Strategic Game Plan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Strongly Agree (26.7%)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Somewhat Agree (33.3%)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Neutral (33.3%)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Strongly Disagree (6.7%)</a:t>
            </a:r>
          </a:p>
          <a:p>
            <a:endParaRPr lang="en-US" sz="2400" dirty="0">
              <a:latin typeface="Selawik Semibold" panose="020B0702040204020203" pitchFamily="34" charset="0"/>
            </a:endParaRPr>
          </a:p>
        </p:txBody>
      </p:sp>
      <p:pic>
        <p:nvPicPr>
          <p:cNvPr id="4" name="Picture 3" descr="A drawing of a cartoon character&#10;&#10;Description automatically generated">
            <a:extLst>
              <a:ext uri="{FF2B5EF4-FFF2-40B4-BE49-F238E27FC236}">
                <a16:creationId xmlns:a16="http://schemas.microsoft.com/office/drawing/2014/main" id="{A7FDC859-D890-4904-9C64-27F43DA9045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16" r="2" b="2"/>
          <a:stretch/>
        </p:blipFill>
        <p:spPr>
          <a:xfrm>
            <a:off x="7471144" y="1700078"/>
            <a:ext cx="4720855" cy="2583792"/>
          </a:xfrm>
          <a:custGeom>
            <a:avLst/>
            <a:gdLst>
              <a:gd name="connsiteX0" fmla="*/ 0 w 5475077"/>
              <a:gd name="connsiteY0" fmla="*/ 0 h 2583792"/>
              <a:gd name="connsiteX1" fmla="*/ 5475077 w 5475077"/>
              <a:gd name="connsiteY1" fmla="*/ 0 h 2583792"/>
              <a:gd name="connsiteX2" fmla="*/ 5475077 w 5475077"/>
              <a:gd name="connsiteY2" fmla="*/ 2583792 h 2583792"/>
              <a:gd name="connsiteX3" fmla="*/ 1197192 w 5475077"/>
              <a:gd name="connsiteY3" fmla="*/ 2583792 h 25837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75077" h="2583792">
                <a:moveTo>
                  <a:pt x="0" y="0"/>
                </a:moveTo>
                <a:lnTo>
                  <a:pt x="5475077" y="0"/>
                </a:lnTo>
                <a:lnTo>
                  <a:pt x="5475077" y="2583792"/>
                </a:lnTo>
                <a:lnTo>
                  <a:pt x="1197192" y="2583792"/>
                </a:lnTo>
                <a:close/>
              </a:path>
            </a:pathLst>
          </a:custGeom>
        </p:spPr>
      </p:pic>
      <p:pic>
        <p:nvPicPr>
          <p:cNvPr id="5" name="Content Placeholder 4" descr="A picture containing indoor&#10;&#10;Description automatically generated">
            <a:extLst>
              <a:ext uri="{FF2B5EF4-FFF2-40B4-BE49-F238E27FC236}">
                <a16:creationId xmlns:a16="http://schemas.microsoft.com/office/drawing/2014/main" id="{A58F0E55-21F3-485B-A07F-1CE74177BDD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00" r="3" b="6859"/>
          <a:stretch/>
        </p:blipFill>
        <p:spPr>
          <a:xfrm>
            <a:off x="8491869" y="4283870"/>
            <a:ext cx="3700129" cy="2583520"/>
          </a:xfrm>
          <a:custGeom>
            <a:avLst/>
            <a:gdLst>
              <a:gd name="connsiteX0" fmla="*/ 0 w 4277884"/>
              <a:gd name="connsiteY0" fmla="*/ 0 h 2583520"/>
              <a:gd name="connsiteX1" fmla="*/ 4277884 w 4277884"/>
              <a:gd name="connsiteY1" fmla="*/ 0 h 2583520"/>
              <a:gd name="connsiteX2" fmla="*/ 4277884 w 4277884"/>
              <a:gd name="connsiteY2" fmla="*/ 2583520 h 2583520"/>
              <a:gd name="connsiteX3" fmla="*/ 1192437 w 4277884"/>
              <a:gd name="connsiteY3" fmla="*/ 2583520 h 2583520"/>
              <a:gd name="connsiteX4" fmla="*/ 1188085 w 4277884"/>
              <a:gd name="connsiteY4" fmla="*/ 2574129 h 2583520"/>
              <a:gd name="connsiteX5" fmla="*/ 1192715 w 4277884"/>
              <a:gd name="connsiteY5" fmla="*/ 2574129 h 2583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277884" h="2583520">
                <a:moveTo>
                  <a:pt x="0" y="0"/>
                </a:moveTo>
                <a:lnTo>
                  <a:pt x="4277884" y="0"/>
                </a:lnTo>
                <a:lnTo>
                  <a:pt x="4277884" y="2583520"/>
                </a:lnTo>
                <a:lnTo>
                  <a:pt x="1192437" y="2583520"/>
                </a:lnTo>
                <a:lnTo>
                  <a:pt x="1188085" y="2574129"/>
                </a:lnTo>
                <a:lnTo>
                  <a:pt x="1192715" y="2574129"/>
                </a:lnTo>
                <a:close/>
              </a:path>
            </a:pathLst>
          </a:cu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2901312-C3C2-4CEC-80EF-823AB4FBB726}"/>
              </a:ext>
            </a:extLst>
          </p:cNvPr>
          <p:cNvSpPr/>
          <p:nvPr/>
        </p:nvSpPr>
        <p:spPr>
          <a:xfrm>
            <a:off x="-1" y="1608918"/>
            <a:ext cx="12191999" cy="911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D0A7C9C-CA2C-4B9B-A125-2D09D5573B44}"/>
              </a:ext>
            </a:extLst>
          </p:cNvPr>
          <p:cNvSpPr/>
          <p:nvPr/>
        </p:nvSpPr>
        <p:spPr>
          <a:xfrm>
            <a:off x="1" y="6677247"/>
            <a:ext cx="12191999" cy="1901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4A085FC-1866-46D4-97F7-51AA45E48D4F}"/>
              </a:ext>
            </a:extLst>
          </p:cNvPr>
          <p:cNvSpPr/>
          <p:nvPr/>
        </p:nvSpPr>
        <p:spPr>
          <a:xfrm rot="4092292">
            <a:off x="5790668" y="4094517"/>
            <a:ext cx="5446699" cy="1370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8161213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9558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800F3C0-C912-B489-6CA8-9DE9FAB9B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511FCBAC-0F43-1624-F0BC-0B9AEF3B0F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3955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F7BB04F-E03E-A1F4-A25D-03C7E983A6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b="1" dirty="0">
                <a:latin typeface="Selawik Semibold" panose="020B0604020202020204" pitchFamily="34" charset="0"/>
              </a:rPr>
              <a:t>From Past to Present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421DA9B5-C380-9D33-056B-E4248B915C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2021248"/>
            <a:ext cx="7882219" cy="4787065"/>
          </a:xfrm>
        </p:spPr>
        <p:txBody>
          <a:bodyPr>
            <a:normAutofit/>
          </a:bodyPr>
          <a:lstStyle/>
          <a:p>
            <a:r>
              <a:rPr lang="en-US" sz="2400">
                <a:latin typeface="Selawik Semibold" panose="020B0702040204020203" pitchFamily="34" charset="0"/>
              </a:rPr>
              <a:t>Updated </a:t>
            </a:r>
            <a:r>
              <a:rPr lang="en-US" sz="2400" dirty="0">
                <a:latin typeface="Selawik Semibold" panose="020B0702040204020203" pitchFamily="34" charset="0"/>
              </a:rPr>
              <a:t>Survey in </a:t>
            </a:r>
            <a:r>
              <a:rPr lang="en-US" sz="2400">
                <a:latin typeface="Selawik Semibold" panose="020B0702040204020203" pitchFamily="34" charset="0"/>
              </a:rPr>
              <a:t>2</a:t>
            </a:r>
            <a:r>
              <a:rPr lang="en-US" sz="2400" baseline="30000">
                <a:latin typeface="Selawik Semibold" panose="020B0702040204020203" pitchFamily="34" charset="0"/>
              </a:rPr>
              <a:t>nd</a:t>
            </a:r>
            <a:r>
              <a:rPr lang="en-US" sz="2400">
                <a:latin typeface="Selawik Semibold" panose="020B0702040204020203" pitchFamily="34" charset="0"/>
              </a:rPr>
              <a:t> Edition (2024)</a:t>
            </a:r>
            <a:endParaRPr lang="en-US" sz="2400" dirty="0">
              <a:latin typeface="Selawik Semibold" panose="020B0702040204020203" pitchFamily="34" charset="0"/>
            </a:endParaRP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163 People, 119 Orgs., 15 Sports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53% Use Statistics Regularly in Decision Making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58% Report Data is Mostly/Fully Centralized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32% Say Data is Regularly Presented Clearly and Consistently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83% Confirmed Analytics Group Will Grow in Next 5 Yrs.</a:t>
            </a:r>
          </a:p>
          <a:p>
            <a:endParaRPr lang="en-US" sz="1000" dirty="0">
              <a:latin typeface="Selawik Semibold" panose="020B0702040204020203" pitchFamily="34" charset="0"/>
            </a:endParaRPr>
          </a:p>
          <a:p>
            <a:r>
              <a:rPr lang="en-US" sz="2400" dirty="0">
                <a:latin typeface="Selawik Semibold" panose="020B0702040204020203" pitchFamily="34" charset="0"/>
              </a:rPr>
              <a:t>Notable Differences Since 2013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Larger Datasets (Million Rows Per Game)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Due to Player Tracking (Approx. 25 Measurements Per Sec)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Measurements Across Whole Body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Speed at Which Questions Can be Answered is A Lot Faster</a:t>
            </a:r>
          </a:p>
        </p:txBody>
      </p:sp>
      <p:pic>
        <p:nvPicPr>
          <p:cNvPr id="4" name="Picture 3" descr="A drawing of a cartoon character&#10;&#10;Description automatically generated">
            <a:extLst>
              <a:ext uri="{FF2B5EF4-FFF2-40B4-BE49-F238E27FC236}">
                <a16:creationId xmlns:a16="http://schemas.microsoft.com/office/drawing/2014/main" id="{909C9DC4-5601-FB7F-C6E7-2EBC1C321F7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16" r="2" b="2"/>
          <a:stretch/>
        </p:blipFill>
        <p:spPr>
          <a:xfrm>
            <a:off x="7471144" y="1700078"/>
            <a:ext cx="4720855" cy="2583792"/>
          </a:xfrm>
          <a:custGeom>
            <a:avLst/>
            <a:gdLst>
              <a:gd name="connsiteX0" fmla="*/ 0 w 5475077"/>
              <a:gd name="connsiteY0" fmla="*/ 0 h 2583792"/>
              <a:gd name="connsiteX1" fmla="*/ 5475077 w 5475077"/>
              <a:gd name="connsiteY1" fmla="*/ 0 h 2583792"/>
              <a:gd name="connsiteX2" fmla="*/ 5475077 w 5475077"/>
              <a:gd name="connsiteY2" fmla="*/ 2583792 h 2583792"/>
              <a:gd name="connsiteX3" fmla="*/ 1197192 w 5475077"/>
              <a:gd name="connsiteY3" fmla="*/ 2583792 h 25837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75077" h="2583792">
                <a:moveTo>
                  <a:pt x="0" y="0"/>
                </a:moveTo>
                <a:lnTo>
                  <a:pt x="5475077" y="0"/>
                </a:lnTo>
                <a:lnTo>
                  <a:pt x="5475077" y="2583792"/>
                </a:lnTo>
                <a:lnTo>
                  <a:pt x="1197192" y="2583792"/>
                </a:lnTo>
                <a:close/>
              </a:path>
            </a:pathLst>
          </a:custGeom>
        </p:spPr>
      </p:pic>
      <p:pic>
        <p:nvPicPr>
          <p:cNvPr id="5" name="Content Placeholder 4" descr="A picture containing indoor&#10;&#10;Description automatically generated">
            <a:extLst>
              <a:ext uri="{FF2B5EF4-FFF2-40B4-BE49-F238E27FC236}">
                <a16:creationId xmlns:a16="http://schemas.microsoft.com/office/drawing/2014/main" id="{324B8670-C59A-C19D-97A0-522C8EA1B82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00" r="3" b="6859"/>
          <a:stretch/>
        </p:blipFill>
        <p:spPr>
          <a:xfrm>
            <a:off x="8491869" y="4283870"/>
            <a:ext cx="3700129" cy="2583520"/>
          </a:xfrm>
          <a:custGeom>
            <a:avLst/>
            <a:gdLst>
              <a:gd name="connsiteX0" fmla="*/ 0 w 4277884"/>
              <a:gd name="connsiteY0" fmla="*/ 0 h 2583520"/>
              <a:gd name="connsiteX1" fmla="*/ 4277884 w 4277884"/>
              <a:gd name="connsiteY1" fmla="*/ 0 h 2583520"/>
              <a:gd name="connsiteX2" fmla="*/ 4277884 w 4277884"/>
              <a:gd name="connsiteY2" fmla="*/ 2583520 h 2583520"/>
              <a:gd name="connsiteX3" fmla="*/ 1192437 w 4277884"/>
              <a:gd name="connsiteY3" fmla="*/ 2583520 h 2583520"/>
              <a:gd name="connsiteX4" fmla="*/ 1188085 w 4277884"/>
              <a:gd name="connsiteY4" fmla="*/ 2574129 h 2583520"/>
              <a:gd name="connsiteX5" fmla="*/ 1192715 w 4277884"/>
              <a:gd name="connsiteY5" fmla="*/ 2574129 h 2583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277884" h="2583520">
                <a:moveTo>
                  <a:pt x="0" y="0"/>
                </a:moveTo>
                <a:lnTo>
                  <a:pt x="4277884" y="0"/>
                </a:lnTo>
                <a:lnTo>
                  <a:pt x="4277884" y="2583520"/>
                </a:lnTo>
                <a:lnTo>
                  <a:pt x="1192437" y="2583520"/>
                </a:lnTo>
                <a:lnTo>
                  <a:pt x="1188085" y="2574129"/>
                </a:lnTo>
                <a:lnTo>
                  <a:pt x="1192715" y="2574129"/>
                </a:lnTo>
                <a:close/>
              </a:path>
            </a:pathLst>
          </a:cu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55B7801B-B3C9-48D4-6FE2-2977BD464189}"/>
              </a:ext>
            </a:extLst>
          </p:cNvPr>
          <p:cNvSpPr/>
          <p:nvPr/>
        </p:nvSpPr>
        <p:spPr>
          <a:xfrm>
            <a:off x="-1" y="1608918"/>
            <a:ext cx="12191999" cy="911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A314142-3B9C-5579-88CA-FCF9962B3853}"/>
              </a:ext>
            </a:extLst>
          </p:cNvPr>
          <p:cNvSpPr/>
          <p:nvPr/>
        </p:nvSpPr>
        <p:spPr>
          <a:xfrm>
            <a:off x="1" y="6677247"/>
            <a:ext cx="12191999" cy="1901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E743927-0B71-4612-0457-797FAC9F701A}"/>
              </a:ext>
            </a:extLst>
          </p:cNvPr>
          <p:cNvSpPr/>
          <p:nvPr/>
        </p:nvSpPr>
        <p:spPr>
          <a:xfrm rot="4092292">
            <a:off x="5790668" y="4094517"/>
            <a:ext cx="5446699" cy="1370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3259004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955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A6792F05-2FD4-4F18-815E-15391E8B4A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3955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89AFCC-0FF0-498C-B11F-8990DF0DA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b="1" dirty="0">
                <a:latin typeface="Selawik Semibold" panose="020B0604020202020204" pitchFamily="34" charset="0"/>
              </a:rPr>
              <a:t>Industry Present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D995594-59F2-4020-AB6F-751BAE84AD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2021249"/>
            <a:ext cx="7138737" cy="4155713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Selawik Semibold" panose="020B0702040204020203" pitchFamily="34" charset="0"/>
              </a:rPr>
              <a:t>Value Placed on Sports Analytics</a:t>
            </a:r>
            <a:endParaRPr lang="en-US" sz="2000" dirty="0">
              <a:latin typeface="Selawik Semibold" panose="020B0702040204020203" pitchFamily="34" charset="0"/>
            </a:endParaRPr>
          </a:p>
          <a:p>
            <a:pPr lvl="1"/>
            <a:endParaRPr lang="en-US" sz="2000" dirty="0">
              <a:latin typeface="Selawik Semibold" panose="020B0702040204020203" pitchFamily="34" charset="0"/>
            </a:endParaRP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Business Research Company Analysis</a:t>
            </a:r>
          </a:p>
          <a:p>
            <a:pPr lvl="2"/>
            <a:r>
              <a:rPr lang="en-US" sz="1800" dirty="0">
                <a:latin typeface="Selawik Semibold" panose="020B0702040204020203" pitchFamily="34" charset="0"/>
              </a:rPr>
              <a:t>Global Sports Industry $470.42B to $495.38B</a:t>
            </a:r>
          </a:p>
          <a:p>
            <a:pPr lvl="2"/>
            <a:r>
              <a:rPr lang="en-US" sz="1800" dirty="0">
                <a:latin typeface="Selawik Semibold" panose="020B0702040204020203" pitchFamily="34" charset="0"/>
              </a:rPr>
              <a:t>Actual CAGR of 5.3%</a:t>
            </a:r>
          </a:p>
          <a:p>
            <a:pPr lvl="2"/>
            <a:r>
              <a:rPr lang="en-US" sz="1800" dirty="0">
                <a:latin typeface="Selawik Semibold" panose="020B0702040204020203" pitchFamily="34" charset="0"/>
              </a:rPr>
              <a:t>Expected to Grow to $617.57B </a:t>
            </a:r>
            <a:r>
              <a:rPr lang="en-US" sz="1600" dirty="0">
                <a:latin typeface="Selawik Semibold" panose="020B0702040204020203" pitchFamily="34" charset="0"/>
              </a:rPr>
              <a:t>in 2029 (CAGR 5.7%)</a:t>
            </a:r>
          </a:p>
          <a:p>
            <a:pPr lvl="1"/>
            <a:endParaRPr lang="en-US" sz="2000" dirty="0">
              <a:latin typeface="Selawik Semibold" panose="020B0702040204020203" pitchFamily="34" charset="0"/>
            </a:endParaRP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Deloitte Article Sports Analytics Industry Trends 2024</a:t>
            </a:r>
          </a:p>
          <a:p>
            <a:pPr lvl="2"/>
            <a:r>
              <a:rPr lang="en-US" sz="1800" dirty="0">
                <a:latin typeface="Selawik Semibold" panose="020B0702040204020203" pitchFamily="34" charset="0"/>
              </a:rPr>
              <a:t>Fan Data Aggregated and Managed </a:t>
            </a:r>
          </a:p>
          <a:p>
            <a:pPr lvl="2"/>
            <a:r>
              <a:rPr lang="en-US" sz="1800" dirty="0">
                <a:latin typeface="Selawik Semibold" panose="020B0702040204020203" pitchFamily="34" charset="0"/>
              </a:rPr>
              <a:t>Increased Use in Generative AI</a:t>
            </a:r>
          </a:p>
          <a:p>
            <a:pPr lvl="2"/>
            <a:endParaRPr lang="en-US" sz="1600" dirty="0">
              <a:latin typeface="Selawik Semibold" panose="020B0702040204020203" pitchFamily="34" charset="0"/>
            </a:endParaRPr>
          </a:p>
          <a:p>
            <a:pPr lvl="1"/>
            <a:endParaRPr lang="en-US" sz="2000" dirty="0">
              <a:latin typeface="Selawik Semibold" panose="020B0702040204020203" pitchFamily="34" charset="0"/>
            </a:endParaRPr>
          </a:p>
        </p:txBody>
      </p:sp>
      <p:pic>
        <p:nvPicPr>
          <p:cNvPr id="4" name="Picture 3" descr="A drawing of a cartoon character&#10;&#10;Description automatically generated">
            <a:extLst>
              <a:ext uri="{FF2B5EF4-FFF2-40B4-BE49-F238E27FC236}">
                <a16:creationId xmlns:a16="http://schemas.microsoft.com/office/drawing/2014/main" id="{A7FDC859-D890-4904-9C64-27F43DA9045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16" r="2" b="2"/>
          <a:stretch/>
        </p:blipFill>
        <p:spPr>
          <a:xfrm>
            <a:off x="7471144" y="1700078"/>
            <a:ext cx="4720855" cy="2583792"/>
          </a:xfrm>
          <a:custGeom>
            <a:avLst/>
            <a:gdLst>
              <a:gd name="connsiteX0" fmla="*/ 0 w 5475077"/>
              <a:gd name="connsiteY0" fmla="*/ 0 h 2583792"/>
              <a:gd name="connsiteX1" fmla="*/ 5475077 w 5475077"/>
              <a:gd name="connsiteY1" fmla="*/ 0 h 2583792"/>
              <a:gd name="connsiteX2" fmla="*/ 5475077 w 5475077"/>
              <a:gd name="connsiteY2" fmla="*/ 2583792 h 2583792"/>
              <a:gd name="connsiteX3" fmla="*/ 1197192 w 5475077"/>
              <a:gd name="connsiteY3" fmla="*/ 2583792 h 25837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75077" h="2583792">
                <a:moveTo>
                  <a:pt x="0" y="0"/>
                </a:moveTo>
                <a:lnTo>
                  <a:pt x="5475077" y="0"/>
                </a:lnTo>
                <a:lnTo>
                  <a:pt x="5475077" y="2583792"/>
                </a:lnTo>
                <a:lnTo>
                  <a:pt x="1197192" y="2583792"/>
                </a:lnTo>
                <a:close/>
              </a:path>
            </a:pathLst>
          </a:custGeom>
        </p:spPr>
      </p:pic>
      <p:pic>
        <p:nvPicPr>
          <p:cNvPr id="5" name="Content Placeholder 4" descr="A picture containing indoor&#10;&#10;Description automatically generated">
            <a:extLst>
              <a:ext uri="{FF2B5EF4-FFF2-40B4-BE49-F238E27FC236}">
                <a16:creationId xmlns:a16="http://schemas.microsoft.com/office/drawing/2014/main" id="{A58F0E55-21F3-485B-A07F-1CE74177BDD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00" r="3" b="6859"/>
          <a:stretch/>
        </p:blipFill>
        <p:spPr>
          <a:xfrm>
            <a:off x="8491869" y="4283870"/>
            <a:ext cx="3700129" cy="2583520"/>
          </a:xfrm>
          <a:custGeom>
            <a:avLst/>
            <a:gdLst>
              <a:gd name="connsiteX0" fmla="*/ 0 w 4277884"/>
              <a:gd name="connsiteY0" fmla="*/ 0 h 2583520"/>
              <a:gd name="connsiteX1" fmla="*/ 4277884 w 4277884"/>
              <a:gd name="connsiteY1" fmla="*/ 0 h 2583520"/>
              <a:gd name="connsiteX2" fmla="*/ 4277884 w 4277884"/>
              <a:gd name="connsiteY2" fmla="*/ 2583520 h 2583520"/>
              <a:gd name="connsiteX3" fmla="*/ 1192437 w 4277884"/>
              <a:gd name="connsiteY3" fmla="*/ 2583520 h 2583520"/>
              <a:gd name="connsiteX4" fmla="*/ 1188085 w 4277884"/>
              <a:gd name="connsiteY4" fmla="*/ 2574129 h 2583520"/>
              <a:gd name="connsiteX5" fmla="*/ 1192715 w 4277884"/>
              <a:gd name="connsiteY5" fmla="*/ 2574129 h 2583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277884" h="2583520">
                <a:moveTo>
                  <a:pt x="0" y="0"/>
                </a:moveTo>
                <a:lnTo>
                  <a:pt x="4277884" y="0"/>
                </a:lnTo>
                <a:lnTo>
                  <a:pt x="4277884" y="2583520"/>
                </a:lnTo>
                <a:lnTo>
                  <a:pt x="1192437" y="2583520"/>
                </a:lnTo>
                <a:lnTo>
                  <a:pt x="1188085" y="2574129"/>
                </a:lnTo>
                <a:lnTo>
                  <a:pt x="1192715" y="2574129"/>
                </a:lnTo>
                <a:close/>
              </a:path>
            </a:pathLst>
          </a:cu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2901312-C3C2-4CEC-80EF-823AB4FBB726}"/>
              </a:ext>
            </a:extLst>
          </p:cNvPr>
          <p:cNvSpPr/>
          <p:nvPr/>
        </p:nvSpPr>
        <p:spPr>
          <a:xfrm>
            <a:off x="-1" y="1608918"/>
            <a:ext cx="12191999" cy="911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D0A7C9C-CA2C-4B9B-A125-2D09D5573B44}"/>
              </a:ext>
            </a:extLst>
          </p:cNvPr>
          <p:cNvSpPr/>
          <p:nvPr/>
        </p:nvSpPr>
        <p:spPr>
          <a:xfrm>
            <a:off x="1" y="6677247"/>
            <a:ext cx="12191999" cy="1901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4A085FC-1866-46D4-97F7-51AA45E48D4F}"/>
              </a:ext>
            </a:extLst>
          </p:cNvPr>
          <p:cNvSpPr/>
          <p:nvPr/>
        </p:nvSpPr>
        <p:spPr>
          <a:xfrm rot="4092292">
            <a:off x="5790668" y="4094517"/>
            <a:ext cx="5446699" cy="1370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1902455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955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A6792F05-2FD4-4F18-815E-15391E8B4A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3955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89AFCC-0FF0-498C-B11F-8990DF0DA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b="1" dirty="0">
                <a:latin typeface="Selawik Semibold" panose="020B0604020202020204" pitchFamily="34" charset="0"/>
              </a:rPr>
              <a:t>Industry Present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D995594-59F2-4020-AB6F-751BAE84AD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2021249"/>
            <a:ext cx="7138737" cy="4155713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Selawik Semibold" panose="020B0702040204020203" pitchFamily="34" charset="0"/>
              </a:rPr>
              <a:t>Value Placed on Sports Analytics</a:t>
            </a:r>
            <a:endParaRPr lang="en-US" sz="2000" dirty="0">
              <a:latin typeface="Selawik Semibold" panose="020B0702040204020203" pitchFamily="34" charset="0"/>
            </a:endParaRPr>
          </a:p>
          <a:p>
            <a:pPr lvl="1"/>
            <a:endParaRPr lang="en-US" sz="2000" dirty="0">
              <a:latin typeface="Selawik Semibold" panose="020B0702040204020203" pitchFamily="34" charset="0"/>
            </a:endParaRP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Grand View Research on Sports Analytics Market</a:t>
            </a:r>
          </a:p>
          <a:p>
            <a:pPr lvl="2"/>
            <a:r>
              <a:rPr lang="en-US" sz="1800" dirty="0">
                <a:latin typeface="Selawik Semibold" panose="020B0702040204020203" pitchFamily="34" charset="0"/>
              </a:rPr>
              <a:t>Valued at $3.52B in 2023 and $4.47B in 2024</a:t>
            </a:r>
          </a:p>
          <a:p>
            <a:pPr lvl="2"/>
            <a:r>
              <a:rPr lang="en-US" sz="1800" dirty="0">
                <a:latin typeface="Selawik Semibold" panose="020B0702040204020203" pitchFamily="34" charset="0"/>
              </a:rPr>
              <a:t>Expected CAGR Between 2025 and 2030 is 20.6%</a:t>
            </a:r>
          </a:p>
          <a:p>
            <a:pPr lvl="2"/>
            <a:endParaRPr lang="en-US" sz="1800" dirty="0">
              <a:latin typeface="Selawik Semibold" panose="020B0702040204020203" pitchFamily="34" charset="0"/>
            </a:endParaRPr>
          </a:p>
          <a:p>
            <a:pPr lvl="2"/>
            <a:r>
              <a:rPr lang="en-US" sz="1800" dirty="0">
                <a:latin typeface="Selawik Semibold" panose="020B0702040204020203" pitchFamily="34" charset="0"/>
              </a:rPr>
              <a:t>Software Segment Dominates Services</a:t>
            </a:r>
          </a:p>
          <a:p>
            <a:pPr lvl="2"/>
            <a:r>
              <a:rPr lang="en-US" sz="1800" dirty="0">
                <a:latin typeface="Selawik Semibold" panose="020B0702040204020203" pitchFamily="34" charset="0"/>
              </a:rPr>
              <a:t>On-Field Analytics Dominates Off-Field Analytics</a:t>
            </a:r>
          </a:p>
          <a:p>
            <a:pPr marL="457200" lvl="1" indent="0">
              <a:buNone/>
            </a:pPr>
            <a:endParaRPr lang="en-US" sz="2000" dirty="0">
              <a:latin typeface="Selawik Semibold" panose="020B0702040204020203" pitchFamily="34" charset="0"/>
            </a:endParaRPr>
          </a:p>
          <a:p>
            <a:pPr lvl="1"/>
            <a:endParaRPr lang="en-US" sz="2000" dirty="0">
              <a:latin typeface="Selawik Semibold" panose="020B0702040204020203" pitchFamily="34" charset="0"/>
            </a:endParaRPr>
          </a:p>
          <a:p>
            <a:pPr lvl="1"/>
            <a:endParaRPr lang="en-US" sz="2000" dirty="0">
              <a:latin typeface="Selawik Semibold" panose="020B0702040204020203" pitchFamily="34" charset="0"/>
            </a:endParaRPr>
          </a:p>
          <a:p>
            <a:pPr lvl="1"/>
            <a:endParaRPr lang="en-US" sz="2000" dirty="0">
              <a:latin typeface="Selawik Semibold" panose="020B0702040204020203" pitchFamily="34" charset="0"/>
            </a:endParaRPr>
          </a:p>
        </p:txBody>
      </p:sp>
      <p:pic>
        <p:nvPicPr>
          <p:cNvPr id="4" name="Picture 3" descr="A drawing of a cartoon character&#10;&#10;Description automatically generated">
            <a:extLst>
              <a:ext uri="{FF2B5EF4-FFF2-40B4-BE49-F238E27FC236}">
                <a16:creationId xmlns:a16="http://schemas.microsoft.com/office/drawing/2014/main" id="{A7FDC859-D890-4904-9C64-27F43DA9045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16" r="2" b="2"/>
          <a:stretch/>
        </p:blipFill>
        <p:spPr>
          <a:xfrm>
            <a:off x="7471144" y="1700078"/>
            <a:ext cx="4720855" cy="2583792"/>
          </a:xfrm>
          <a:custGeom>
            <a:avLst/>
            <a:gdLst>
              <a:gd name="connsiteX0" fmla="*/ 0 w 5475077"/>
              <a:gd name="connsiteY0" fmla="*/ 0 h 2583792"/>
              <a:gd name="connsiteX1" fmla="*/ 5475077 w 5475077"/>
              <a:gd name="connsiteY1" fmla="*/ 0 h 2583792"/>
              <a:gd name="connsiteX2" fmla="*/ 5475077 w 5475077"/>
              <a:gd name="connsiteY2" fmla="*/ 2583792 h 2583792"/>
              <a:gd name="connsiteX3" fmla="*/ 1197192 w 5475077"/>
              <a:gd name="connsiteY3" fmla="*/ 2583792 h 25837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75077" h="2583792">
                <a:moveTo>
                  <a:pt x="0" y="0"/>
                </a:moveTo>
                <a:lnTo>
                  <a:pt x="5475077" y="0"/>
                </a:lnTo>
                <a:lnTo>
                  <a:pt x="5475077" y="2583792"/>
                </a:lnTo>
                <a:lnTo>
                  <a:pt x="1197192" y="2583792"/>
                </a:lnTo>
                <a:close/>
              </a:path>
            </a:pathLst>
          </a:custGeom>
        </p:spPr>
      </p:pic>
      <p:pic>
        <p:nvPicPr>
          <p:cNvPr id="5" name="Content Placeholder 4" descr="A picture containing indoor&#10;&#10;Description automatically generated">
            <a:extLst>
              <a:ext uri="{FF2B5EF4-FFF2-40B4-BE49-F238E27FC236}">
                <a16:creationId xmlns:a16="http://schemas.microsoft.com/office/drawing/2014/main" id="{A58F0E55-21F3-485B-A07F-1CE74177BDD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00" r="3" b="6859"/>
          <a:stretch/>
        </p:blipFill>
        <p:spPr>
          <a:xfrm>
            <a:off x="8491869" y="4283870"/>
            <a:ext cx="3700129" cy="2583520"/>
          </a:xfrm>
          <a:custGeom>
            <a:avLst/>
            <a:gdLst>
              <a:gd name="connsiteX0" fmla="*/ 0 w 4277884"/>
              <a:gd name="connsiteY0" fmla="*/ 0 h 2583520"/>
              <a:gd name="connsiteX1" fmla="*/ 4277884 w 4277884"/>
              <a:gd name="connsiteY1" fmla="*/ 0 h 2583520"/>
              <a:gd name="connsiteX2" fmla="*/ 4277884 w 4277884"/>
              <a:gd name="connsiteY2" fmla="*/ 2583520 h 2583520"/>
              <a:gd name="connsiteX3" fmla="*/ 1192437 w 4277884"/>
              <a:gd name="connsiteY3" fmla="*/ 2583520 h 2583520"/>
              <a:gd name="connsiteX4" fmla="*/ 1188085 w 4277884"/>
              <a:gd name="connsiteY4" fmla="*/ 2574129 h 2583520"/>
              <a:gd name="connsiteX5" fmla="*/ 1192715 w 4277884"/>
              <a:gd name="connsiteY5" fmla="*/ 2574129 h 2583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277884" h="2583520">
                <a:moveTo>
                  <a:pt x="0" y="0"/>
                </a:moveTo>
                <a:lnTo>
                  <a:pt x="4277884" y="0"/>
                </a:lnTo>
                <a:lnTo>
                  <a:pt x="4277884" y="2583520"/>
                </a:lnTo>
                <a:lnTo>
                  <a:pt x="1192437" y="2583520"/>
                </a:lnTo>
                <a:lnTo>
                  <a:pt x="1188085" y="2574129"/>
                </a:lnTo>
                <a:lnTo>
                  <a:pt x="1192715" y="2574129"/>
                </a:lnTo>
                <a:close/>
              </a:path>
            </a:pathLst>
          </a:cu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2901312-C3C2-4CEC-80EF-823AB4FBB726}"/>
              </a:ext>
            </a:extLst>
          </p:cNvPr>
          <p:cNvSpPr/>
          <p:nvPr/>
        </p:nvSpPr>
        <p:spPr>
          <a:xfrm>
            <a:off x="-1" y="1608918"/>
            <a:ext cx="12191999" cy="911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D0A7C9C-CA2C-4B9B-A125-2D09D5573B44}"/>
              </a:ext>
            </a:extLst>
          </p:cNvPr>
          <p:cNvSpPr/>
          <p:nvPr/>
        </p:nvSpPr>
        <p:spPr>
          <a:xfrm>
            <a:off x="1" y="6677247"/>
            <a:ext cx="12191999" cy="1901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4A085FC-1866-46D4-97F7-51AA45E48D4F}"/>
              </a:ext>
            </a:extLst>
          </p:cNvPr>
          <p:cNvSpPr/>
          <p:nvPr/>
        </p:nvSpPr>
        <p:spPr>
          <a:xfrm rot="4092292">
            <a:off x="5790668" y="4094517"/>
            <a:ext cx="5446699" cy="1370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6E43B72-F462-425B-B219-B0768386DEEC}"/>
              </a:ext>
            </a:extLst>
          </p:cNvPr>
          <p:cNvSpPr txBox="1"/>
          <p:nvPr/>
        </p:nvSpPr>
        <p:spPr>
          <a:xfrm>
            <a:off x="1252904" y="5424934"/>
            <a:ext cx="1416594" cy="523220"/>
          </a:xfrm>
          <a:prstGeom prst="rect">
            <a:avLst/>
          </a:prstGeom>
          <a:gradFill flip="none" rotWithShape="1">
            <a:gsLst>
              <a:gs pos="0">
                <a:schemeClr val="dk1">
                  <a:lumMod val="67000"/>
                </a:schemeClr>
              </a:gs>
              <a:gs pos="48000">
                <a:schemeClr val="dk1">
                  <a:lumMod val="97000"/>
                  <a:lumOff val="3000"/>
                </a:schemeClr>
              </a:gs>
              <a:gs pos="100000">
                <a:schemeClr val="dk1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2800" dirty="0">
                <a:latin typeface="Selawik Semibold" panose="020B0702040204020203" pitchFamily="34" charset="0"/>
              </a:rPr>
              <a:t>$4.47B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7972115E-F73D-4852-8A5F-59AE430EA59F}"/>
              </a:ext>
            </a:extLst>
          </p:cNvPr>
          <p:cNvSpPr/>
          <p:nvPr/>
        </p:nvSpPr>
        <p:spPr>
          <a:xfrm>
            <a:off x="4169055" y="5584777"/>
            <a:ext cx="1839886" cy="235028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3C5BBC6-82F2-4DC7-A2F9-31693E65F111}"/>
              </a:ext>
            </a:extLst>
          </p:cNvPr>
          <p:cNvSpPr txBox="1"/>
          <p:nvPr/>
        </p:nvSpPr>
        <p:spPr>
          <a:xfrm>
            <a:off x="6054419" y="5200057"/>
            <a:ext cx="2302627" cy="769441"/>
          </a:xfrm>
          <a:prstGeom prst="rect">
            <a:avLst/>
          </a:prstGeom>
          <a:gradFill flip="none" rotWithShape="1">
            <a:gsLst>
              <a:gs pos="0">
                <a:schemeClr val="dk1">
                  <a:lumMod val="67000"/>
                </a:schemeClr>
              </a:gs>
              <a:gs pos="48000">
                <a:schemeClr val="dk1">
                  <a:lumMod val="97000"/>
                  <a:lumOff val="3000"/>
                </a:schemeClr>
              </a:gs>
              <a:gs pos="100000">
                <a:schemeClr val="dk1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4400" dirty="0">
                <a:latin typeface="Selawik Semibold" panose="020B0702040204020203" pitchFamily="34" charset="0"/>
              </a:rPr>
              <a:t>$14.49B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4CF2BB5-AC55-4BEB-A0CE-0249A27679CE}"/>
              </a:ext>
            </a:extLst>
          </p:cNvPr>
          <p:cNvCxnSpPr>
            <a:cxnSpLocks/>
          </p:cNvCxnSpPr>
          <p:nvPr/>
        </p:nvCxnSpPr>
        <p:spPr>
          <a:xfrm>
            <a:off x="1516220" y="6176962"/>
            <a:ext cx="5954924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B14EFB5-2CE4-4032-B9F9-9D7C37EE5521}"/>
              </a:ext>
            </a:extLst>
          </p:cNvPr>
          <p:cNvCxnSpPr>
            <a:cxnSpLocks/>
          </p:cNvCxnSpPr>
          <p:nvPr/>
        </p:nvCxnSpPr>
        <p:spPr>
          <a:xfrm>
            <a:off x="1961201" y="6033632"/>
            <a:ext cx="0" cy="22880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6F1D6466-E4A1-4D26-BE56-C33ACFB0E384}"/>
              </a:ext>
            </a:extLst>
          </p:cNvPr>
          <p:cNvCxnSpPr>
            <a:cxnSpLocks/>
          </p:cNvCxnSpPr>
          <p:nvPr/>
        </p:nvCxnSpPr>
        <p:spPr>
          <a:xfrm>
            <a:off x="6950115" y="6033631"/>
            <a:ext cx="0" cy="22880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F934B21C-3EDC-445D-B3CA-D9D872F4BC6E}"/>
              </a:ext>
            </a:extLst>
          </p:cNvPr>
          <p:cNvSpPr txBox="1"/>
          <p:nvPr/>
        </p:nvSpPr>
        <p:spPr>
          <a:xfrm>
            <a:off x="1632841" y="6281171"/>
            <a:ext cx="656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2024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4E536FC-BB9D-4420-8917-FEB51410716B}"/>
              </a:ext>
            </a:extLst>
          </p:cNvPr>
          <p:cNvSpPr txBox="1"/>
          <p:nvPr/>
        </p:nvSpPr>
        <p:spPr>
          <a:xfrm>
            <a:off x="6621755" y="6262441"/>
            <a:ext cx="656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2030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09078CE-7340-4719-9DB3-C8040F70D165}"/>
                  </a:ext>
                </a:extLst>
              </p:cNvPr>
              <p:cNvSpPr txBox="1"/>
              <p:nvPr/>
            </p:nvSpPr>
            <p:spPr>
              <a:xfrm>
                <a:off x="1961201" y="3714733"/>
                <a:ext cx="516285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𝑃𝑟𝑜𝑗𝑒𝑐𝑡𝑖𝑜𝑛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2030=5.68∗(1+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𝐶𝐴𝐺𝑅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)^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  <a:r>
                  <a:rPr lang="en-US" dirty="0"/>
                  <a:t> =14.49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09078CE-7340-4719-9DB3-C8040F70D1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61201" y="3714733"/>
                <a:ext cx="5162857" cy="369332"/>
              </a:xfrm>
              <a:prstGeom prst="rect">
                <a:avLst/>
              </a:prstGeom>
              <a:blipFill>
                <a:blip r:embed="rId4"/>
                <a:stretch>
                  <a:fillRect l="-354" t="-8197" r="-708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0DD8629-3AA9-5B71-572E-2046BE8E688A}"/>
              </a:ext>
            </a:extLst>
          </p:cNvPr>
          <p:cNvCxnSpPr>
            <a:cxnSpLocks/>
          </p:cNvCxnSpPr>
          <p:nvPr/>
        </p:nvCxnSpPr>
        <p:spPr>
          <a:xfrm>
            <a:off x="3273807" y="6062557"/>
            <a:ext cx="0" cy="22880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609C8CD7-F3CD-94C5-5C53-80D99CDC2FA8}"/>
              </a:ext>
            </a:extLst>
          </p:cNvPr>
          <p:cNvSpPr txBox="1"/>
          <p:nvPr/>
        </p:nvSpPr>
        <p:spPr>
          <a:xfrm>
            <a:off x="2934445" y="6270631"/>
            <a:ext cx="656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2025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6622083-3495-C512-E385-B8E8A2D6210F}"/>
              </a:ext>
            </a:extLst>
          </p:cNvPr>
          <p:cNvSpPr txBox="1"/>
          <p:nvPr/>
        </p:nvSpPr>
        <p:spPr>
          <a:xfrm>
            <a:off x="2734057" y="5442987"/>
            <a:ext cx="1320268" cy="523220"/>
          </a:xfrm>
          <a:prstGeom prst="rect">
            <a:avLst/>
          </a:prstGeom>
          <a:gradFill flip="none" rotWithShape="1">
            <a:gsLst>
              <a:gs pos="0">
                <a:schemeClr val="dk1">
                  <a:lumMod val="67000"/>
                </a:schemeClr>
              </a:gs>
              <a:gs pos="48000">
                <a:schemeClr val="dk1">
                  <a:lumMod val="97000"/>
                  <a:lumOff val="3000"/>
                </a:schemeClr>
              </a:gs>
              <a:gs pos="100000">
                <a:schemeClr val="dk1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2800" dirty="0">
                <a:latin typeface="Selawik Semibold" panose="020B0702040204020203" pitchFamily="34" charset="0"/>
              </a:rPr>
              <a:t>$5.68B</a:t>
            </a:r>
          </a:p>
        </p:txBody>
      </p:sp>
    </p:spTree>
    <p:extLst>
      <p:ext uri="{BB962C8B-B14F-4D97-AF65-F5344CB8AC3E}">
        <p14:creationId xmlns:p14="http://schemas.microsoft.com/office/powerpoint/2010/main" val="276227266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955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A6792F05-2FD4-4F18-815E-15391E8B4A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3955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89AFCC-0FF0-498C-B11F-8990DF0DA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b="1" dirty="0">
                <a:latin typeface="Selawik Semibold" panose="020B0604020202020204" pitchFamily="34" charset="0"/>
              </a:rPr>
              <a:t>Industry Present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D995594-59F2-4020-AB6F-751BAE84AD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2021249"/>
            <a:ext cx="7138737" cy="4155713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Selawik Semibold" panose="020B0702040204020203" pitchFamily="34" charset="0"/>
              </a:rPr>
              <a:t>Value Placed on Sports Analytics</a:t>
            </a:r>
            <a:endParaRPr lang="en-US" sz="2000" dirty="0">
              <a:latin typeface="Selawik Semibold" panose="020B0702040204020203" pitchFamily="34" charset="0"/>
            </a:endParaRPr>
          </a:p>
          <a:p>
            <a:pPr lvl="1"/>
            <a:endParaRPr lang="en-US" sz="2000" dirty="0">
              <a:latin typeface="Selawik Semibold" panose="020B0702040204020203" pitchFamily="34" charset="0"/>
            </a:endParaRP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Grand View Research on Sports Analytics Market</a:t>
            </a:r>
          </a:p>
          <a:p>
            <a:pPr marL="457200" lvl="1" indent="0">
              <a:buNone/>
            </a:pPr>
            <a:endParaRPr lang="en-US" sz="2000" dirty="0">
              <a:latin typeface="Selawik Semibold" panose="020B0702040204020203" pitchFamily="34" charset="0"/>
            </a:endParaRPr>
          </a:p>
          <a:p>
            <a:pPr lvl="1"/>
            <a:endParaRPr lang="en-US" sz="2000" dirty="0">
              <a:latin typeface="Selawik Semibold" panose="020B0702040204020203" pitchFamily="34" charset="0"/>
            </a:endParaRPr>
          </a:p>
          <a:p>
            <a:pPr lvl="1"/>
            <a:endParaRPr lang="en-US" sz="2000" dirty="0">
              <a:latin typeface="Selawik Semibold" panose="020B0702040204020203" pitchFamily="34" charset="0"/>
            </a:endParaRPr>
          </a:p>
          <a:p>
            <a:pPr lvl="1"/>
            <a:endParaRPr lang="en-US" sz="2000" dirty="0">
              <a:latin typeface="Selawik Semibold" panose="020B0702040204020203" pitchFamily="34" charset="0"/>
            </a:endParaRPr>
          </a:p>
        </p:txBody>
      </p:sp>
      <p:pic>
        <p:nvPicPr>
          <p:cNvPr id="4" name="Picture 3" descr="A drawing of a cartoon character&#10;&#10;Description automatically generated">
            <a:extLst>
              <a:ext uri="{FF2B5EF4-FFF2-40B4-BE49-F238E27FC236}">
                <a16:creationId xmlns:a16="http://schemas.microsoft.com/office/drawing/2014/main" id="{A7FDC859-D890-4904-9C64-27F43DA9045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16" r="2" b="2"/>
          <a:stretch/>
        </p:blipFill>
        <p:spPr>
          <a:xfrm>
            <a:off x="7471144" y="1700078"/>
            <a:ext cx="4720855" cy="2583792"/>
          </a:xfrm>
          <a:custGeom>
            <a:avLst/>
            <a:gdLst>
              <a:gd name="connsiteX0" fmla="*/ 0 w 5475077"/>
              <a:gd name="connsiteY0" fmla="*/ 0 h 2583792"/>
              <a:gd name="connsiteX1" fmla="*/ 5475077 w 5475077"/>
              <a:gd name="connsiteY1" fmla="*/ 0 h 2583792"/>
              <a:gd name="connsiteX2" fmla="*/ 5475077 w 5475077"/>
              <a:gd name="connsiteY2" fmla="*/ 2583792 h 2583792"/>
              <a:gd name="connsiteX3" fmla="*/ 1197192 w 5475077"/>
              <a:gd name="connsiteY3" fmla="*/ 2583792 h 25837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75077" h="2583792">
                <a:moveTo>
                  <a:pt x="0" y="0"/>
                </a:moveTo>
                <a:lnTo>
                  <a:pt x="5475077" y="0"/>
                </a:lnTo>
                <a:lnTo>
                  <a:pt x="5475077" y="2583792"/>
                </a:lnTo>
                <a:lnTo>
                  <a:pt x="1197192" y="2583792"/>
                </a:lnTo>
                <a:close/>
              </a:path>
            </a:pathLst>
          </a:custGeom>
        </p:spPr>
      </p:pic>
      <p:pic>
        <p:nvPicPr>
          <p:cNvPr id="5" name="Content Placeholder 4" descr="A picture containing indoor&#10;&#10;Description automatically generated">
            <a:extLst>
              <a:ext uri="{FF2B5EF4-FFF2-40B4-BE49-F238E27FC236}">
                <a16:creationId xmlns:a16="http://schemas.microsoft.com/office/drawing/2014/main" id="{A58F0E55-21F3-485B-A07F-1CE74177BDD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00" r="3" b="6859"/>
          <a:stretch/>
        </p:blipFill>
        <p:spPr>
          <a:xfrm>
            <a:off x="8491869" y="4283870"/>
            <a:ext cx="3700129" cy="2583520"/>
          </a:xfrm>
          <a:custGeom>
            <a:avLst/>
            <a:gdLst>
              <a:gd name="connsiteX0" fmla="*/ 0 w 4277884"/>
              <a:gd name="connsiteY0" fmla="*/ 0 h 2583520"/>
              <a:gd name="connsiteX1" fmla="*/ 4277884 w 4277884"/>
              <a:gd name="connsiteY1" fmla="*/ 0 h 2583520"/>
              <a:gd name="connsiteX2" fmla="*/ 4277884 w 4277884"/>
              <a:gd name="connsiteY2" fmla="*/ 2583520 h 2583520"/>
              <a:gd name="connsiteX3" fmla="*/ 1192437 w 4277884"/>
              <a:gd name="connsiteY3" fmla="*/ 2583520 h 2583520"/>
              <a:gd name="connsiteX4" fmla="*/ 1188085 w 4277884"/>
              <a:gd name="connsiteY4" fmla="*/ 2574129 h 2583520"/>
              <a:gd name="connsiteX5" fmla="*/ 1192715 w 4277884"/>
              <a:gd name="connsiteY5" fmla="*/ 2574129 h 2583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277884" h="2583520">
                <a:moveTo>
                  <a:pt x="0" y="0"/>
                </a:moveTo>
                <a:lnTo>
                  <a:pt x="4277884" y="0"/>
                </a:lnTo>
                <a:lnTo>
                  <a:pt x="4277884" y="2583520"/>
                </a:lnTo>
                <a:lnTo>
                  <a:pt x="1192437" y="2583520"/>
                </a:lnTo>
                <a:lnTo>
                  <a:pt x="1188085" y="2574129"/>
                </a:lnTo>
                <a:lnTo>
                  <a:pt x="1192715" y="2574129"/>
                </a:lnTo>
                <a:close/>
              </a:path>
            </a:pathLst>
          </a:cu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2901312-C3C2-4CEC-80EF-823AB4FBB726}"/>
              </a:ext>
            </a:extLst>
          </p:cNvPr>
          <p:cNvSpPr/>
          <p:nvPr/>
        </p:nvSpPr>
        <p:spPr>
          <a:xfrm>
            <a:off x="-1" y="1608918"/>
            <a:ext cx="12191999" cy="911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D0A7C9C-CA2C-4B9B-A125-2D09D5573B44}"/>
              </a:ext>
            </a:extLst>
          </p:cNvPr>
          <p:cNvSpPr/>
          <p:nvPr/>
        </p:nvSpPr>
        <p:spPr>
          <a:xfrm>
            <a:off x="1" y="6677247"/>
            <a:ext cx="12191999" cy="1901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4A085FC-1866-46D4-97F7-51AA45E48D4F}"/>
              </a:ext>
            </a:extLst>
          </p:cNvPr>
          <p:cNvSpPr/>
          <p:nvPr/>
        </p:nvSpPr>
        <p:spPr>
          <a:xfrm rot="4092292">
            <a:off x="5790668" y="4094517"/>
            <a:ext cx="5446699" cy="1370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pic>
        <p:nvPicPr>
          <p:cNvPr id="1026" name="Picture 2" descr="Sports Analytics Market Share, By End-use, 2024 (%)">
            <a:extLst>
              <a:ext uri="{FF2B5EF4-FFF2-40B4-BE49-F238E27FC236}">
                <a16:creationId xmlns:a16="http://schemas.microsoft.com/office/drawing/2014/main" id="{8BCD257A-50E1-9619-45CA-46AF5607E2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17769" y="3202651"/>
            <a:ext cx="6381750" cy="333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1186723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955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A6792F05-2FD4-4F18-815E-15391E8B4A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3955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89AFCC-0FF0-498C-B11F-8990DF0DA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b="1" dirty="0">
                <a:latin typeface="Selawik Semibold" panose="020B0604020202020204" pitchFamily="34" charset="0"/>
              </a:rPr>
              <a:t>Industry Present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D995594-59F2-4020-AB6F-751BAE84AD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2021249"/>
            <a:ext cx="7138737" cy="4155713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Selawik Semibold" panose="020B0702040204020203" pitchFamily="34" charset="0"/>
              </a:rPr>
              <a:t>Value Placed on Sports Analytics</a:t>
            </a:r>
            <a:endParaRPr lang="en-US" sz="2000" dirty="0">
              <a:latin typeface="Selawik Semibold" panose="020B0702040204020203" pitchFamily="34" charset="0"/>
            </a:endParaRPr>
          </a:p>
          <a:p>
            <a:pPr lvl="1"/>
            <a:endParaRPr lang="en-US" sz="2000" dirty="0">
              <a:latin typeface="Selawik Semibold" panose="020B0702040204020203" pitchFamily="34" charset="0"/>
            </a:endParaRP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Grand View Research on Sports Analytics Market</a:t>
            </a:r>
          </a:p>
          <a:p>
            <a:pPr marL="457200" lvl="1" indent="0">
              <a:buNone/>
            </a:pPr>
            <a:endParaRPr lang="en-US" sz="2000" dirty="0">
              <a:latin typeface="Selawik Semibold" panose="020B0702040204020203" pitchFamily="34" charset="0"/>
            </a:endParaRPr>
          </a:p>
          <a:p>
            <a:pPr lvl="1"/>
            <a:endParaRPr lang="en-US" sz="2000" dirty="0">
              <a:latin typeface="Selawik Semibold" panose="020B0702040204020203" pitchFamily="34" charset="0"/>
            </a:endParaRPr>
          </a:p>
          <a:p>
            <a:pPr lvl="1"/>
            <a:endParaRPr lang="en-US" sz="2000" dirty="0">
              <a:latin typeface="Selawik Semibold" panose="020B0702040204020203" pitchFamily="34" charset="0"/>
            </a:endParaRPr>
          </a:p>
          <a:p>
            <a:pPr lvl="1"/>
            <a:endParaRPr lang="en-US" sz="2000" dirty="0">
              <a:latin typeface="Selawik Semibold" panose="020B0702040204020203" pitchFamily="34" charset="0"/>
            </a:endParaRPr>
          </a:p>
        </p:txBody>
      </p:sp>
      <p:pic>
        <p:nvPicPr>
          <p:cNvPr id="4" name="Picture 3" descr="A drawing of a cartoon character&#10;&#10;Description automatically generated">
            <a:extLst>
              <a:ext uri="{FF2B5EF4-FFF2-40B4-BE49-F238E27FC236}">
                <a16:creationId xmlns:a16="http://schemas.microsoft.com/office/drawing/2014/main" id="{A7FDC859-D890-4904-9C64-27F43DA9045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16" r="2" b="2"/>
          <a:stretch/>
        </p:blipFill>
        <p:spPr>
          <a:xfrm>
            <a:off x="7471144" y="1700078"/>
            <a:ext cx="4720855" cy="2583792"/>
          </a:xfrm>
          <a:custGeom>
            <a:avLst/>
            <a:gdLst>
              <a:gd name="connsiteX0" fmla="*/ 0 w 5475077"/>
              <a:gd name="connsiteY0" fmla="*/ 0 h 2583792"/>
              <a:gd name="connsiteX1" fmla="*/ 5475077 w 5475077"/>
              <a:gd name="connsiteY1" fmla="*/ 0 h 2583792"/>
              <a:gd name="connsiteX2" fmla="*/ 5475077 w 5475077"/>
              <a:gd name="connsiteY2" fmla="*/ 2583792 h 2583792"/>
              <a:gd name="connsiteX3" fmla="*/ 1197192 w 5475077"/>
              <a:gd name="connsiteY3" fmla="*/ 2583792 h 25837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75077" h="2583792">
                <a:moveTo>
                  <a:pt x="0" y="0"/>
                </a:moveTo>
                <a:lnTo>
                  <a:pt x="5475077" y="0"/>
                </a:lnTo>
                <a:lnTo>
                  <a:pt x="5475077" y="2583792"/>
                </a:lnTo>
                <a:lnTo>
                  <a:pt x="1197192" y="2583792"/>
                </a:lnTo>
                <a:close/>
              </a:path>
            </a:pathLst>
          </a:custGeom>
        </p:spPr>
      </p:pic>
      <p:pic>
        <p:nvPicPr>
          <p:cNvPr id="5" name="Content Placeholder 4" descr="A picture containing indoor&#10;&#10;Description automatically generated">
            <a:extLst>
              <a:ext uri="{FF2B5EF4-FFF2-40B4-BE49-F238E27FC236}">
                <a16:creationId xmlns:a16="http://schemas.microsoft.com/office/drawing/2014/main" id="{A58F0E55-21F3-485B-A07F-1CE74177BDD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00" r="3" b="6859"/>
          <a:stretch/>
        </p:blipFill>
        <p:spPr>
          <a:xfrm>
            <a:off x="8491869" y="4283870"/>
            <a:ext cx="3700129" cy="2583520"/>
          </a:xfrm>
          <a:custGeom>
            <a:avLst/>
            <a:gdLst>
              <a:gd name="connsiteX0" fmla="*/ 0 w 4277884"/>
              <a:gd name="connsiteY0" fmla="*/ 0 h 2583520"/>
              <a:gd name="connsiteX1" fmla="*/ 4277884 w 4277884"/>
              <a:gd name="connsiteY1" fmla="*/ 0 h 2583520"/>
              <a:gd name="connsiteX2" fmla="*/ 4277884 w 4277884"/>
              <a:gd name="connsiteY2" fmla="*/ 2583520 h 2583520"/>
              <a:gd name="connsiteX3" fmla="*/ 1192437 w 4277884"/>
              <a:gd name="connsiteY3" fmla="*/ 2583520 h 2583520"/>
              <a:gd name="connsiteX4" fmla="*/ 1188085 w 4277884"/>
              <a:gd name="connsiteY4" fmla="*/ 2574129 h 2583520"/>
              <a:gd name="connsiteX5" fmla="*/ 1192715 w 4277884"/>
              <a:gd name="connsiteY5" fmla="*/ 2574129 h 2583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277884" h="2583520">
                <a:moveTo>
                  <a:pt x="0" y="0"/>
                </a:moveTo>
                <a:lnTo>
                  <a:pt x="4277884" y="0"/>
                </a:lnTo>
                <a:lnTo>
                  <a:pt x="4277884" y="2583520"/>
                </a:lnTo>
                <a:lnTo>
                  <a:pt x="1192437" y="2583520"/>
                </a:lnTo>
                <a:lnTo>
                  <a:pt x="1188085" y="2574129"/>
                </a:lnTo>
                <a:lnTo>
                  <a:pt x="1192715" y="2574129"/>
                </a:lnTo>
                <a:close/>
              </a:path>
            </a:pathLst>
          </a:cu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2901312-C3C2-4CEC-80EF-823AB4FBB726}"/>
              </a:ext>
            </a:extLst>
          </p:cNvPr>
          <p:cNvSpPr/>
          <p:nvPr/>
        </p:nvSpPr>
        <p:spPr>
          <a:xfrm>
            <a:off x="-1" y="1608918"/>
            <a:ext cx="12191999" cy="911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D0A7C9C-CA2C-4B9B-A125-2D09D5573B44}"/>
              </a:ext>
            </a:extLst>
          </p:cNvPr>
          <p:cNvSpPr/>
          <p:nvPr/>
        </p:nvSpPr>
        <p:spPr>
          <a:xfrm>
            <a:off x="1" y="6677247"/>
            <a:ext cx="12191999" cy="1901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4A085FC-1866-46D4-97F7-51AA45E48D4F}"/>
              </a:ext>
            </a:extLst>
          </p:cNvPr>
          <p:cNvSpPr/>
          <p:nvPr/>
        </p:nvSpPr>
        <p:spPr>
          <a:xfrm rot="4092292">
            <a:off x="5790668" y="4094517"/>
            <a:ext cx="5446699" cy="1370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pic>
        <p:nvPicPr>
          <p:cNvPr id="2050" name="Picture 2" descr="Sports Analytics Market Trends, by Region, 2025 - 2030">
            <a:extLst>
              <a:ext uri="{FF2B5EF4-FFF2-40B4-BE49-F238E27FC236}">
                <a16:creationId xmlns:a16="http://schemas.microsoft.com/office/drawing/2014/main" id="{1C2266A0-83E8-1F8D-1201-4404A7534A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6692" y="3236106"/>
            <a:ext cx="6381750" cy="333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0026621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955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A6792F05-2FD4-4F18-815E-15391E8B4A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3955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89AFCC-0FF0-498C-B11F-8990DF0DA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b="1" dirty="0">
                <a:latin typeface="Selawik Semibold" panose="020B0604020202020204" pitchFamily="34" charset="0"/>
              </a:rPr>
              <a:t>Industry Present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D995594-59F2-4020-AB6F-751BAE84AD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2021249"/>
            <a:ext cx="7138737" cy="4155713"/>
          </a:xfrm>
        </p:spPr>
        <p:txBody>
          <a:bodyPr>
            <a:normAutofit lnSpcReduction="10000"/>
          </a:bodyPr>
          <a:lstStyle/>
          <a:p>
            <a:r>
              <a:rPr lang="en-US" sz="2400" dirty="0">
                <a:latin typeface="Selawik Semibold" panose="020B0702040204020203" pitchFamily="34" charset="0"/>
              </a:rPr>
              <a:t>Value Placed on Sports Analytics</a:t>
            </a:r>
            <a:endParaRPr lang="en-US" sz="2000" dirty="0">
              <a:latin typeface="Selawik Semibold" panose="020B0702040204020203" pitchFamily="34" charset="0"/>
            </a:endParaRPr>
          </a:p>
          <a:p>
            <a:pPr lvl="1"/>
            <a:endParaRPr lang="en-US" sz="2000" dirty="0">
              <a:latin typeface="Selawik Semibold" panose="020B0702040204020203" pitchFamily="34" charset="0"/>
            </a:endParaRP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Grand View Research on Sports Analytics Market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Agile Sports Analytics, LLC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Catapult Sports</a:t>
            </a:r>
          </a:p>
          <a:p>
            <a:pPr lvl="2"/>
            <a:r>
              <a:rPr lang="en-US" sz="1600" dirty="0" err="1">
                <a:latin typeface="Selawik Semibold" panose="020B0702040204020203" pitchFamily="34" charset="0"/>
              </a:rPr>
              <a:t>ChrynoHego</a:t>
            </a:r>
            <a:r>
              <a:rPr lang="en-US" sz="1600" dirty="0">
                <a:latin typeface="Selawik Semibold" panose="020B0702040204020203" pitchFamily="34" charset="0"/>
              </a:rPr>
              <a:t> Corporation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Deltatre</a:t>
            </a:r>
          </a:p>
          <a:p>
            <a:pPr lvl="2"/>
            <a:r>
              <a:rPr lang="en-US" sz="1600" dirty="0" err="1">
                <a:latin typeface="Selawik Semibold" panose="020B0702040204020203" pitchFamily="34" charset="0"/>
              </a:rPr>
              <a:t>Experfy</a:t>
            </a:r>
            <a:r>
              <a:rPr lang="en-US" sz="1600" dirty="0">
                <a:latin typeface="Selawik Semibold" panose="020B0702040204020203" pitchFamily="34" charset="0"/>
              </a:rPr>
              <a:t> Inc. 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Genius Sports Group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IBM Corporation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Oracle Corporation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SAP SE</a:t>
            </a:r>
          </a:p>
          <a:p>
            <a:pPr lvl="2"/>
            <a:r>
              <a:rPr lang="en-US" sz="1600" dirty="0" err="1">
                <a:latin typeface="Selawik Semibold" panose="020B0702040204020203" pitchFamily="34" charset="0"/>
              </a:rPr>
              <a:t>Aercont</a:t>
            </a:r>
            <a:r>
              <a:rPr lang="en-US" sz="1600" dirty="0">
                <a:latin typeface="Selawik Semibold" panose="020B0702040204020203" pitchFamily="34" charset="0"/>
              </a:rPr>
              <a:t> Vision Coaster LLC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The </a:t>
            </a:r>
            <a:r>
              <a:rPr lang="en-US" sz="1600" dirty="0" err="1">
                <a:latin typeface="Selawik Semibold" panose="020B0702040204020203" pitchFamily="34" charset="0"/>
              </a:rPr>
              <a:t>Sportradar</a:t>
            </a:r>
            <a:r>
              <a:rPr lang="en-US" sz="1600" dirty="0">
                <a:latin typeface="Selawik Semibold" panose="020B0702040204020203" pitchFamily="34" charset="0"/>
              </a:rPr>
              <a:t> Group</a:t>
            </a:r>
          </a:p>
          <a:p>
            <a:pPr lvl="2"/>
            <a:r>
              <a:rPr lang="en-US" sz="1600">
                <a:latin typeface="Selawik Semibold" panose="020B0702040204020203" pitchFamily="34" charset="0"/>
              </a:rPr>
              <a:t>Stats LLC</a:t>
            </a:r>
            <a:endParaRPr lang="en-US" sz="1600" dirty="0">
              <a:latin typeface="Selawik Semibold" panose="020B0702040204020203" pitchFamily="34" charset="0"/>
            </a:endParaRPr>
          </a:p>
          <a:p>
            <a:pPr lvl="1"/>
            <a:endParaRPr lang="en-US" sz="2000" dirty="0">
              <a:latin typeface="Selawik Semibold" panose="020B0702040204020203" pitchFamily="34" charset="0"/>
            </a:endParaRPr>
          </a:p>
          <a:p>
            <a:pPr lvl="1"/>
            <a:endParaRPr lang="en-US" sz="2000" dirty="0">
              <a:latin typeface="Selawik Semibold" panose="020B0702040204020203" pitchFamily="34" charset="0"/>
            </a:endParaRPr>
          </a:p>
          <a:p>
            <a:pPr lvl="1"/>
            <a:endParaRPr lang="en-US" sz="2000" dirty="0">
              <a:latin typeface="Selawik Semibold" panose="020B0702040204020203" pitchFamily="34" charset="0"/>
            </a:endParaRPr>
          </a:p>
        </p:txBody>
      </p:sp>
      <p:pic>
        <p:nvPicPr>
          <p:cNvPr id="4" name="Picture 3" descr="A drawing of a cartoon character&#10;&#10;Description automatically generated">
            <a:extLst>
              <a:ext uri="{FF2B5EF4-FFF2-40B4-BE49-F238E27FC236}">
                <a16:creationId xmlns:a16="http://schemas.microsoft.com/office/drawing/2014/main" id="{A7FDC859-D890-4904-9C64-27F43DA9045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16" r="2" b="2"/>
          <a:stretch/>
        </p:blipFill>
        <p:spPr>
          <a:xfrm>
            <a:off x="7471144" y="1700078"/>
            <a:ext cx="4720855" cy="2583792"/>
          </a:xfrm>
          <a:custGeom>
            <a:avLst/>
            <a:gdLst>
              <a:gd name="connsiteX0" fmla="*/ 0 w 5475077"/>
              <a:gd name="connsiteY0" fmla="*/ 0 h 2583792"/>
              <a:gd name="connsiteX1" fmla="*/ 5475077 w 5475077"/>
              <a:gd name="connsiteY1" fmla="*/ 0 h 2583792"/>
              <a:gd name="connsiteX2" fmla="*/ 5475077 w 5475077"/>
              <a:gd name="connsiteY2" fmla="*/ 2583792 h 2583792"/>
              <a:gd name="connsiteX3" fmla="*/ 1197192 w 5475077"/>
              <a:gd name="connsiteY3" fmla="*/ 2583792 h 25837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75077" h="2583792">
                <a:moveTo>
                  <a:pt x="0" y="0"/>
                </a:moveTo>
                <a:lnTo>
                  <a:pt x="5475077" y="0"/>
                </a:lnTo>
                <a:lnTo>
                  <a:pt x="5475077" y="2583792"/>
                </a:lnTo>
                <a:lnTo>
                  <a:pt x="1197192" y="2583792"/>
                </a:lnTo>
                <a:close/>
              </a:path>
            </a:pathLst>
          </a:custGeom>
        </p:spPr>
      </p:pic>
      <p:pic>
        <p:nvPicPr>
          <p:cNvPr id="5" name="Content Placeholder 4" descr="A picture containing indoor&#10;&#10;Description automatically generated">
            <a:extLst>
              <a:ext uri="{FF2B5EF4-FFF2-40B4-BE49-F238E27FC236}">
                <a16:creationId xmlns:a16="http://schemas.microsoft.com/office/drawing/2014/main" id="{A58F0E55-21F3-485B-A07F-1CE74177BDD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00" r="3" b="6859"/>
          <a:stretch/>
        </p:blipFill>
        <p:spPr>
          <a:xfrm>
            <a:off x="8491869" y="4283870"/>
            <a:ext cx="3700129" cy="2583520"/>
          </a:xfrm>
          <a:custGeom>
            <a:avLst/>
            <a:gdLst>
              <a:gd name="connsiteX0" fmla="*/ 0 w 4277884"/>
              <a:gd name="connsiteY0" fmla="*/ 0 h 2583520"/>
              <a:gd name="connsiteX1" fmla="*/ 4277884 w 4277884"/>
              <a:gd name="connsiteY1" fmla="*/ 0 h 2583520"/>
              <a:gd name="connsiteX2" fmla="*/ 4277884 w 4277884"/>
              <a:gd name="connsiteY2" fmla="*/ 2583520 h 2583520"/>
              <a:gd name="connsiteX3" fmla="*/ 1192437 w 4277884"/>
              <a:gd name="connsiteY3" fmla="*/ 2583520 h 2583520"/>
              <a:gd name="connsiteX4" fmla="*/ 1188085 w 4277884"/>
              <a:gd name="connsiteY4" fmla="*/ 2574129 h 2583520"/>
              <a:gd name="connsiteX5" fmla="*/ 1192715 w 4277884"/>
              <a:gd name="connsiteY5" fmla="*/ 2574129 h 2583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277884" h="2583520">
                <a:moveTo>
                  <a:pt x="0" y="0"/>
                </a:moveTo>
                <a:lnTo>
                  <a:pt x="4277884" y="0"/>
                </a:lnTo>
                <a:lnTo>
                  <a:pt x="4277884" y="2583520"/>
                </a:lnTo>
                <a:lnTo>
                  <a:pt x="1192437" y="2583520"/>
                </a:lnTo>
                <a:lnTo>
                  <a:pt x="1188085" y="2574129"/>
                </a:lnTo>
                <a:lnTo>
                  <a:pt x="1192715" y="2574129"/>
                </a:lnTo>
                <a:close/>
              </a:path>
            </a:pathLst>
          </a:cu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2901312-C3C2-4CEC-80EF-823AB4FBB726}"/>
              </a:ext>
            </a:extLst>
          </p:cNvPr>
          <p:cNvSpPr/>
          <p:nvPr/>
        </p:nvSpPr>
        <p:spPr>
          <a:xfrm>
            <a:off x="-1" y="1608918"/>
            <a:ext cx="12191999" cy="911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D0A7C9C-CA2C-4B9B-A125-2D09D5573B44}"/>
              </a:ext>
            </a:extLst>
          </p:cNvPr>
          <p:cNvSpPr/>
          <p:nvPr/>
        </p:nvSpPr>
        <p:spPr>
          <a:xfrm>
            <a:off x="1" y="6677247"/>
            <a:ext cx="12191999" cy="1901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4A085FC-1866-46D4-97F7-51AA45E48D4F}"/>
              </a:ext>
            </a:extLst>
          </p:cNvPr>
          <p:cNvSpPr/>
          <p:nvPr/>
        </p:nvSpPr>
        <p:spPr>
          <a:xfrm rot="4092292">
            <a:off x="5790668" y="4094517"/>
            <a:ext cx="5446699" cy="1370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595154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955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A6792F05-2FD4-4F18-815E-15391E8B4A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3955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89AFCC-0FF0-498C-B11F-8990DF0DA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b="1" dirty="0">
                <a:latin typeface="Selawik Semibold" panose="020B0604020202020204" pitchFamily="34" charset="0"/>
              </a:rPr>
              <a:t>Industry Present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D995594-59F2-4020-AB6F-751BAE84AD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2021247"/>
            <a:ext cx="8449850" cy="4787067"/>
          </a:xfrm>
        </p:spPr>
        <p:txBody>
          <a:bodyPr>
            <a:normAutofit lnSpcReduction="10000"/>
          </a:bodyPr>
          <a:lstStyle/>
          <a:p>
            <a:r>
              <a:rPr lang="en-US" sz="2400" dirty="0">
                <a:latin typeface="Selawik Semibold" panose="020B0702040204020203" pitchFamily="34" charset="0"/>
              </a:rPr>
              <a:t>Modern Applications of Sports Analytics 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Forbes Article from 2021 by </a:t>
            </a:r>
            <a:r>
              <a:rPr lang="en-US" sz="2000" dirty="0" err="1">
                <a:latin typeface="Selawik Semibold" panose="020B0702040204020203" pitchFamily="34" charset="0"/>
              </a:rPr>
              <a:t>Abhas</a:t>
            </a:r>
            <a:r>
              <a:rPr lang="en-US" sz="2000" dirty="0">
                <a:latin typeface="Selawik Semibold" panose="020B0702040204020203" pitchFamily="34" charset="0"/>
              </a:rPr>
              <a:t> Ricky</a:t>
            </a:r>
          </a:p>
          <a:p>
            <a:pPr marL="457200" lvl="1" indent="0">
              <a:buNone/>
            </a:pPr>
            <a:r>
              <a:rPr lang="en-US" sz="2000" dirty="0">
                <a:latin typeface="Selawik Semibold" panose="020B0702040204020203" pitchFamily="34" charset="0"/>
              </a:rPr>
              <a:t> 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Helping the Team Win</a:t>
            </a:r>
          </a:p>
          <a:p>
            <a:pPr lvl="2"/>
            <a:r>
              <a:rPr lang="en-US" sz="1800" dirty="0">
                <a:latin typeface="Selawik Semibold" panose="020B0702040204020203" pitchFamily="34" charset="0"/>
              </a:rPr>
              <a:t>Automated Video Analysis (Lincoln City, UK Football)</a:t>
            </a:r>
          </a:p>
          <a:p>
            <a:pPr lvl="2"/>
            <a:r>
              <a:rPr lang="en-US" sz="1800" dirty="0">
                <a:latin typeface="Selawik Semibold" panose="020B0702040204020203" pitchFamily="34" charset="0"/>
              </a:rPr>
              <a:t>3D Depth Camera (NBA)</a:t>
            </a:r>
          </a:p>
          <a:p>
            <a:pPr lvl="2"/>
            <a:r>
              <a:rPr lang="en-US" sz="1800" dirty="0">
                <a:latin typeface="Selawik Semibold" panose="020B0702040204020203" pitchFamily="34" charset="0"/>
              </a:rPr>
              <a:t>Wearable Technology (NBA, NHL)</a:t>
            </a:r>
          </a:p>
          <a:p>
            <a:pPr lvl="1"/>
            <a:endParaRPr lang="en-US" sz="2200" dirty="0">
              <a:latin typeface="Selawik Semibold" panose="020B0702040204020203" pitchFamily="34" charset="0"/>
            </a:endParaRP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Improving the Fan Experience</a:t>
            </a:r>
          </a:p>
          <a:p>
            <a:pPr lvl="2"/>
            <a:r>
              <a:rPr lang="en-US" sz="1800" dirty="0">
                <a:latin typeface="Selawik Semibold" panose="020B0702040204020203" pitchFamily="34" charset="0"/>
              </a:rPr>
              <a:t>Analysis of Digital Engagement</a:t>
            </a:r>
          </a:p>
          <a:p>
            <a:pPr lvl="2"/>
            <a:r>
              <a:rPr lang="en-US" sz="1800" dirty="0">
                <a:latin typeface="Selawik Semibold" panose="020B0702040204020203" pitchFamily="34" charset="0"/>
              </a:rPr>
              <a:t>Sentiment in Social Media</a:t>
            </a:r>
          </a:p>
          <a:p>
            <a:pPr lvl="2"/>
            <a:r>
              <a:rPr lang="en-US" sz="1800" dirty="0">
                <a:latin typeface="Selawik Semibold" panose="020B0702040204020203" pitchFamily="34" charset="0"/>
              </a:rPr>
              <a:t>Analysis of Fan Behavior in Stadium (New England Patriots)</a:t>
            </a:r>
          </a:p>
          <a:p>
            <a:pPr lvl="2"/>
            <a:r>
              <a:rPr lang="en-US" sz="1800" dirty="0">
                <a:latin typeface="Selawik Semibold" panose="020B0702040204020203" pitchFamily="34" charset="0"/>
              </a:rPr>
              <a:t>Wireless Internet and Phone Apps</a:t>
            </a:r>
          </a:p>
          <a:p>
            <a:pPr lvl="2"/>
            <a:r>
              <a:rPr lang="en-US" sz="1800" dirty="0">
                <a:latin typeface="Selawik Semibold" panose="020B0702040204020203" pitchFamily="34" charset="0"/>
              </a:rPr>
              <a:t>Apps Supply Game Analytics, Parking Information, Promotions, and Traffic Information to the Fans (NFL)</a:t>
            </a:r>
          </a:p>
          <a:p>
            <a:pPr marL="914400" lvl="2" indent="0">
              <a:buNone/>
            </a:pPr>
            <a:endParaRPr lang="en-US" sz="1800" dirty="0">
              <a:latin typeface="Selawik Semibold" panose="020B0702040204020203" pitchFamily="34" charset="0"/>
            </a:endParaRPr>
          </a:p>
        </p:txBody>
      </p:sp>
      <p:pic>
        <p:nvPicPr>
          <p:cNvPr id="4" name="Picture 3" descr="A drawing of a cartoon character&#10;&#10;Description automatically generated">
            <a:extLst>
              <a:ext uri="{FF2B5EF4-FFF2-40B4-BE49-F238E27FC236}">
                <a16:creationId xmlns:a16="http://schemas.microsoft.com/office/drawing/2014/main" id="{A7FDC859-D890-4904-9C64-27F43DA9045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16" r="2" b="2"/>
          <a:stretch/>
        </p:blipFill>
        <p:spPr>
          <a:xfrm>
            <a:off x="7471144" y="1700078"/>
            <a:ext cx="4720855" cy="2583792"/>
          </a:xfrm>
          <a:custGeom>
            <a:avLst/>
            <a:gdLst>
              <a:gd name="connsiteX0" fmla="*/ 0 w 5475077"/>
              <a:gd name="connsiteY0" fmla="*/ 0 h 2583792"/>
              <a:gd name="connsiteX1" fmla="*/ 5475077 w 5475077"/>
              <a:gd name="connsiteY1" fmla="*/ 0 h 2583792"/>
              <a:gd name="connsiteX2" fmla="*/ 5475077 w 5475077"/>
              <a:gd name="connsiteY2" fmla="*/ 2583792 h 2583792"/>
              <a:gd name="connsiteX3" fmla="*/ 1197192 w 5475077"/>
              <a:gd name="connsiteY3" fmla="*/ 2583792 h 25837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75077" h="2583792">
                <a:moveTo>
                  <a:pt x="0" y="0"/>
                </a:moveTo>
                <a:lnTo>
                  <a:pt x="5475077" y="0"/>
                </a:lnTo>
                <a:lnTo>
                  <a:pt x="5475077" y="2583792"/>
                </a:lnTo>
                <a:lnTo>
                  <a:pt x="1197192" y="2583792"/>
                </a:lnTo>
                <a:close/>
              </a:path>
            </a:pathLst>
          </a:custGeom>
        </p:spPr>
      </p:pic>
      <p:pic>
        <p:nvPicPr>
          <p:cNvPr id="5" name="Content Placeholder 4" descr="A picture containing indoor&#10;&#10;Description automatically generated">
            <a:extLst>
              <a:ext uri="{FF2B5EF4-FFF2-40B4-BE49-F238E27FC236}">
                <a16:creationId xmlns:a16="http://schemas.microsoft.com/office/drawing/2014/main" id="{A58F0E55-21F3-485B-A07F-1CE74177BDD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00" r="3" b="6859"/>
          <a:stretch/>
        </p:blipFill>
        <p:spPr>
          <a:xfrm>
            <a:off x="8491869" y="4283870"/>
            <a:ext cx="3700129" cy="2583520"/>
          </a:xfrm>
          <a:custGeom>
            <a:avLst/>
            <a:gdLst>
              <a:gd name="connsiteX0" fmla="*/ 0 w 4277884"/>
              <a:gd name="connsiteY0" fmla="*/ 0 h 2583520"/>
              <a:gd name="connsiteX1" fmla="*/ 4277884 w 4277884"/>
              <a:gd name="connsiteY1" fmla="*/ 0 h 2583520"/>
              <a:gd name="connsiteX2" fmla="*/ 4277884 w 4277884"/>
              <a:gd name="connsiteY2" fmla="*/ 2583520 h 2583520"/>
              <a:gd name="connsiteX3" fmla="*/ 1192437 w 4277884"/>
              <a:gd name="connsiteY3" fmla="*/ 2583520 h 2583520"/>
              <a:gd name="connsiteX4" fmla="*/ 1188085 w 4277884"/>
              <a:gd name="connsiteY4" fmla="*/ 2574129 h 2583520"/>
              <a:gd name="connsiteX5" fmla="*/ 1192715 w 4277884"/>
              <a:gd name="connsiteY5" fmla="*/ 2574129 h 2583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277884" h="2583520">
                <a:moveTo>
                  <a:pt x="0" y="0"/>
                </a:moveTo>
                <a:lnTo>
                  <a:pt x="4277884" y="0"/>
                </a:lnTo>
                <a:lnTo>
                  <a:pt x="4277884" y="2583520"/>
                </a:lnTo>
                <a:lnTo>
                  <a:pt x="1192437" y="2583520"/>
                </a:lnTo>
                <a:lnTo>
                  <a:pt x="1188085" y="2574129"/>
                </a:lnTo>
                <a:lnTo>
                  <a:pt x="1192715" y="2574129"/>
                </a:lnTo>
                <a:close/>
              </a:path>
            </a:pathLst>
          </a:cu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2901312-C3C2-4CEC-80EF-823AB4FBB726}"/>
              </a:ext>
            </a:extLst>
          </p:cNvPr>
          <p:cNvSpPr/>
          <p:nvPr/>
        </p:nvSpPr>
        <p:spPr>
          <a:xfrm>
            <a:off x="-1" y="1608918"/>
            <a:ext cx="12191999" cy="911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D0A7C9C-CA2C-4B9B-A125-2D09D5573B44}"/>
              </a:ext>
            </a:extLst>
          </p:cNvPr>
          <p:cNvSpPr/>
          <p:nvPr/>
        </p:nvSpPr>
        <p:spPr>
          <a:xfrm>
            <a:off x="1" y="6677247"/>
            <a:ext cx="12191999" cy="1901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4A085FC-1866-46D4-97F7-51AA45E48D4F}"/>
              </a:ext>
            </a:extLst>
          </p:cNvPr>
          <p:cNvSpPr/>
          <p:nvPr/>
        </p:nvSpPr>
        <p:spPr>
          <a:xfrm rot="4092292">
            <a:off x="5790668" y="4094517"/>
            <a:ext cx="5446699" cy="1370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3886792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955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A6792F05-2FD4-4F18-815E-15391E8B4A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3955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89AFCC-0FF0-498C-B11F-8990DF0DA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b="1" dirty="0">
                <a:latin typeface="Selawik Semibold" panose="020B0604020202020204" pitchFamily="34" charset="0"/>
              </a:rPr>
              <a:t>Industry Present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D995594-59F2-4020-AB6F-751BAE84AD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2021248"/>
            <a:ext cx="7653667" cy="4695905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Selawik Semibold" panose="020B0702040204020203" pitchFamily="34" charset="0"/>
              </a:rPr>
              <a:t>Modern Applications of Sports Analytics</a:t>
            </a:r>
          </a:p>
          <a:p>
            <a:pPr lvl="1"/>
            <a:endParaRPr lang="en-US" sz="2000" dirty="0">
              <a:latin typeface="Selawik Semibold" panose="020B0702040204020203" pitchFamily="34" charset="0"/>
            </a:endParaRP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Benefiting Other Stakeholders</a:t>
            </a:r>
          </a:p>
          <a:p>
            <a:pPr lvl="2"/>
            <a:r>
              <a:rPr lang="en-US" sz="1800" dirty="0">
                <a:latin typeface="Selawik Semibold" panose="020B0702040204020203" pitchFamily="34" charset="0"/>
              </a:rPr>
              <a:t>Tracking Fan Behavior Outside the Stadium</a:t>
            </a:r>
          </a:p>
          <a:p>
            <a:pPr lvl="2"/>
            <a:r>
              <a:rPr lang="en-US" sz="1800" dirty="0">
                <a:latin typeface="Selawik Semibold" panose="020B0702040204020203" pitchFamily="34" charset="0"/>
              </a:rPr>
              <a:t>Telecommunication, Retailers, Payment Providers, Ticket Agencies, and Sponsorships</a:t>
            </a:r>
          </a:p>
          <a:p>
            <a:pPr lvl="2"/>
            <a:r>
              <a:rPr lang="en-US" sz="1800" dirty="0">
                <a:latin typeface="Selawik Semibold" panose="020B0702040204020203" pitchFamily="34" charset="0"/>
              </a:rPr>
              <a:t>Adapt to Quick Changes in Consumer Behavior</a:t>
            </a:r>
          </a:p>
          <a:p>
            <a:pPr lvl="2"/>
            <a:endParaRPr lang="en-US" sz="1800" dirty="0">
              <a:latin typeface="Selawik Semibold" panose="020B0702040204020203" pitchFamily="34" charset="0"/>
            </a:endParaRP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Optimizing the Back-Office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HR Practices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Game Scheduling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Supply Chain Management and Logistics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Marketing and Promotions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Procurement of Goods and Services</a:t>
            </a:r>
          </a:p>
          <a:p>
            <a:pPr lvl="2"/>
            <a:endParaRPr lang="en-US" sz="1600" dirty="0">
              <a:latin typeface="Selawik Semibold" panose="020B0702040204020203" pitchFamily="34" charset="0"/>
            </a:endParaRPr>
          </a:p>
          <a:p>
            <a:pPr lvl="2"/>
            <a:endParaRPr lang="en-US" sz="1800" dirty="0">
              <a:latin typeface="Selawik Semibold" panose="020B0702040204020203" pitchFamily="34" charset="0"/>
            </a:endParaRPr>
          </a:p>
          <a:p>
            <a:pPr lvl="1"/>
            <a:endParaRPr lang="en-US" sz="2200" dirty="0">
              <a:latin typeface="Selawik Semibold" panose="020B0702040204020203" pitchFamily="34" charset="0"/>
            </a:endParaRPr>
          </a:p>
        </p:txBody>
      </p:sp>
      <p:pic>
        <p:nvPicPr>
          <p:cNvPr id="4" name="Picture 3" descr="A drawing of a cartoon character&#10;&#10;Description automatically generated">
            <a:extLst>
              <a:ext uri="{FF2B5EF4-FFF2-40B4-BE49-F238E27FC236}">
                <a16:creationId xmlns:a16="http://schemas.microsoft.com/office/drawing/2014/main" id="{A7FDC859-D890-4904-9C64-27F43DA9045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16" r="2" b="2"/>
          <a:stretch/>
        </p:blipFill>
        <p:spPr>
          <a:xfrm>
            <a:off x="7471144" y="1700078"/>
            <a:ext cx="4720855" cy="2583792"/>
          </a:xfrm>
          <a:custGeom>
            <a:avLst/>
            <a:gdLst>
              <a:gd name="connsiteX0" fmla="*/ 0 w 5475077"/>
              <a:gd name="connsiteY0" fmla="*/ 0 h 2583792"/>
              <a:gd name="connsiteX1" fmla="*/ 5475077 w 5475077"/>
              <a:gd name="connsiteY1" fmla="*/ 0 h 2583792"/>
              <a:gd name="connsiteX2" fmla="*/ 5475077 w 5475077"/>
              <a:gd name="connsiteY2" fmla="*/ 2583792 h 2583792"/>
              <a:gd name="connsiteX3" fmla="*/ 1197192 w 5475077"/>
              <a:gd name="connsiteY3" fmla="*/ 2583792 h 25837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75077" h="2583792">
                <a:moveTo>
                  <a:pt x="0" y="0"/>
                </a:moveTo>
                <a:lnTo>
                  <a:pt x="5475077" y="0"/>
                </a:lnTo>
                <a:lnTo>
                  <a:pt x="5475077" y="2583792"/>
                </a:lnTo>
                <a:lnTo>
                  <a:pt x="1197192" y="2583792"/>
                </a:lnTo>
                <a:close/>
              </a:path>
            </a:pathLst>
          </a:custGeom>
        </p:spPr>
      </p:pic>
      <p:pic>
        <p:nvPicPr>
          <p:cNvPr id="5" name="Content Placeholder 4" descr="A picture containing indoor&#10;&#10;Description automatically generated">
            <a:extLst>
              <a:ext uri="{FF2B5EF4-FFF2-40B4-BE49-F238E27FC236}">
                <a16:creationId xmlns:a16="http://schemas.microsoft.com/office/drawing/2014/main" id="{A58F0E55-21F3-485B-A07F-1CE74177BDD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00" r="3" b="6859"/>
          <a:stretch/>
        </p:blipFill>
        <p:spPr>
          <a:xfrm>
            <a:off x="8491869" y="4283870"/>
            <a:ext cx="3700129" cy="2583520"/>
          </a:xfrm>
          <a:custGeom>
            <a:avLst/>
            <a:gdLst>
              <a:gd name="connsiteX0" fmla="*/ 0 w 4277884"/>
              <a:gd name="connsiteY0" fmla="*/ 0 h 2583520"/>
              <a:gd name="connsiteX1" fmla="*/ 4277884 w 4277884"/>
              <a:gd name="connsiteY1" fmla="*/ 0 h 2583520"/>
              <a:gd name="connsiteX2" fmla="*/ 4277884 w 4277884"/>
              <a:gd name="connsiteY2" fmla="*/ 2583520 h 2583520"/>
              <a:gd name="connsiteX3" fmla="*/ 1192437 w 4277884"/>
              <a:gd name="connsiteY3" fmla="*/ 2583520 h 2583520"/>
              <a:gd name="connsiteX4" fmla="*/ 1188085 w 4277884"/>
              <a:gd name="connsiteY4" fmla="*/ 2574129 h 2583520"/>
              <a:gd name="connsiteX5" fmla="*/ 1192715 w 4277884"/>
              <a:gd name="connsiteY5" fmla="*/ 2574129 h 2583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277884" h="2583520">
                <a:moveTo>
                  <a:pt x="0" y="0"/>
                </a:moveTo>
                <a:lnTo>
                  <a:pt x="4277884" y="0"/>
                </a:lnTo>
                <a:lnTo>
                  <a:pt x="4277884" y="2583520"/>
                </a:lnTo>
                <a:lnTo>
                  <a:pt x="1192437" y="2583520"/>
                </a:lnTo>
                <a:lnTo>
                  <a:pt x="1188085" y="2574129"/>
                </a:lnTo>
                <a:lnTo>
                  <a:pt x="1192715" y="2574129"/>
                </a:lnTo>
                <a:close/>
              </a:path>
            </a:pathLst>
          </a:cu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2901312-C3C2-4CEC-80EF-823AB4FBB726}"/>
              </a:ext>
            </a:extLst>
          </p:cNvPr>
          <p:cNvSpPr/>
          <p:nvPr/>
        </p:nvSpPr>
        <p:spPr>
          <a:xfrm>
            <a:off x="-1" y="1608918"/>
            <a:ext cx="12191999" cy="911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D0A7C9C-CA2C-4B9B-A125-2D09D5573B44}"/>
              </a:ext>
            </a:extLst>
          </p:cNvPr>
          <p:cNvSpPr/>
          <p:nvPr/>
        </p:nvSpPr>
        <p:spPr>
          <a:xfrm>
            <a:off x="1" y="6677247"/>
            <a:ext cx="12191999" cy="1901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4A085FC-1866-46D4-97F7-51AA45E48D4F}"/>
              </a:ext>
            </a:extLst>
          </p:cNvPr>
          <p:cNvSpPr/>
          <p:nvPr/>
        </p:nvSpPr>
        <p:spPr>
          <a:xfrm rot="4092292">
            <a:off x="5790668" y="4094517"/>
            <a:ext cx="5446699" cy="1370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3896041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955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A6792F05-2FD4-4F18-815E-15391E8B4A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3955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89AFCC-0FF0-498C-B11F-8990DF0DA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b="1" dirty="0">
                <a:latin typeface="Selawik Semibold" panose="020B0604020202020204" pitchFamily="34" charset="0"/>
              </a:rPr>
              <a:t>Industry Present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D995594-59F2-4020-AB6F-751BAE84AD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2021248"/>
            <a:ext cx="7653668" cy="4695905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Selawik Semibold" panose="020B0702040204020203" pitchFamily="34" charset="0"/>
              </a:rPr>
              <a:t>Modern Applications of Sports Analytics</a:t>
            </a:r>
          </a:p>
          <a:p>
            <a:pPr lvl="1"/>
            <a:endParaRPr lang="en-US" sz="2000" b="1" dirty="0">
              <a:latin typeface="Selawik Semibold" panose="020B0702040204020203" pitchFamily="34" charset="0"/>
            </a:endParaRP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Advancing Sports Gambling</a:t>
            </a:r>
          </a:p>
          <a:p>
            <a:pPr lvl="2"/>
            <a:r>
              <a:rPr lang="en-US" sz="1800" dirty="0">
                <a:latin typeface="Selawik Semibold" panose="020B0702040204020203" pitchFamily="34" charset="0"/>
              </a:rPr>
              <a:t>Supreme Court Ruling Previous Statute Violated 10</a:t>
            </a:r>
            <a:r>
              <a:rPr lang="en-US" sz="1800" baseline="30000" dirty="0">
                <a:latin typeface="Selawik Semibold" panose="020B0702040204020203" pitchFamily="34" charset="0"/>
              </a:rPr>
              <a:t>th</a:t>
            </a:r>
            <a:r>
              <a:rPr lang="en-US" sz="1800" dirty="0">
                <a:latin typeface="Selawik Semibold" panose="020B0702040204020203" pitchFamily="34" charset="0"/>
              </a:rPr>
              <a:t> Amendment (Murphy v. National Collegiate Athletic Association)</a:t>
            </a:r>
          </a:p>
          <a:p>
            <a:pPr lvl="2"/>
            <a:r>
              <a:rPr lang="en-US" sz="1800" dirty="0">
                <a:latin typeface="Selawik Semibold" panose="020B0702040204020203" pitchFamily="34" charset="0"/>
              </a:rPr>
              <a:t>States Free to Legislate Gambling</a:t>
            </a:r>
          </a:p>
          <a:p>
            <a:pPr lvl="2"/>
            <a:r>
              <a:rPr lang="en-US" sz="1800" dirty="0">
                <a:latin typeface="Selawik Semibold" panose="020B0702040204020203" pitchFamily="34" charset="0"/>
              </a:rPr>
              <a:t>Improvement of Gambling Products</a:t>
            </a:r>
          </a:p>
          <a:p>
            <a:pPr lvl="2"/>
            <a:r>
              <a:rPr lang="en-US" sz="1800" dirty="0">
                <a:latin typeface="Selawik Semibold" panose="020B0702040204020203" pitchFamily="34" charset="0"/>
              </a:rPr>
              <a:t>Data Aggregation and Visualization for Bettors </a:t>
            </a:r>
          </a:p>
          <a:p>
            <a:pPr lvl="2"/>
            <a:r>
              <a:rPr lang="en-US" sz="1800" dirty="0">
                <a:latin typeface="Selawik Semibold" panose="020B0702040204020203" pitchFamily="34" charset="0"/>
              </a:rPr>
              <a:t>Develop Daily Fantasy Sports</a:t>
            </a:r>
          </a:p>
          <a:p>
            <a:pPr lvl="2"/>
            <a:r>
              <a:rPr lang="en-US" sz="1800" dirty="0">
                <a:latin typeface="Selawik Semibold" panose="020B0702040204020203" pitchFamily="34" charset="0"/>
              </a:rPr>
              <a:t>Grandview Research of US Market</a:t>
            </a:r>
          </a:p>
          <a:p>
            <a:pPr lvl="3"/>
            <a:r>
              <a:rPr lang="en-US" sz="1600" dirty="0">
                <a:latin typeface="Selawik Semibold" panose="020B0702040204020203" pitchFamily="34" charset="0"/>
              </a:rPr>
              <a:t>US Market Valued at $17.94B in 2024</a:t>
            </a:r>
          </a:p>
          <a:p>
            <a:pPr lvl="3"/>
            <a:r>
              <a:rPr lang="en-US" sz="1600" dirty="0">
                <a:latin typeface="Selawik Semibold" panose="020B0702040204020203" pitchFamily="34" charset="0"/>
              </a:rPr>
              <a:t>Expected CAGR of 10.9% from 2025 to 2030</a:t>
            </a:r>
          </a:p>
        </p:txBody>
      </p:sp>
      <p:pic>
        <p:nvPicPr>
          <p:cNvPr id="4" name="Picture 3" descr="A drawing of a cartoon character&#10;&#10;Description automatically generated">
            <a:extLst>
              <a:ext uri="{FF2B5EF4-FFF2-40B4-BE49-F238E27FC236}">
                <a16:creationId xmlns:a16="http://schemas.microsoft.com/office/drawing/2014/main" id="{A7FDC859-D890-4904-9C64-27F43DA9045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16" r="2" b="2"/>
          <a:stretch/>
        </p:blipFill>
        <p:spPr>
          <a:xfrm>
            <a:off x="7471144" y="1700078"/>
            <a:ext cx="4720855" cy="2583792"/>
          </a:xfrm>
          <a:custGeom>
            <a:avLst/>
            <a:gdLst>
              <a:gd name="connsiteX0" fmla="*/ 0 w 5475077"/>
              <a:gd name="connsiteY0" fmla="*/ 0 h 2583792"/>
              <a:gd name="connsiteX1" fmla="*/ 5475077 w 5475077"/>
              <a:gd name="connsiteY1" fmla="*/ 0 h 2583792"/>
              <a:gd name="connsiteX2" fmla="*/ 5475077 w 5475077"/>
              <a:gd name="connsiteY2" fmla="*/ 2583792 h 2583792"/>
              <a:gd name="connsiteX3" fmla="*/ 1197192 w 5475077"/>
              <a:gd name="connsiteY3" fmla="*/ 2583792 h 25837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75077" h="2583792">
                <a:moveTo>
                  <a:pt x="0" y="0"/>
                </a:moveTo>
                <a:lnTo>
                  <a:pt x="5475077" y="0"/>
                </a:lnTo>
                <a:lnTo>
                  <a:pt x="5475077" y="2583792"/>
                </a:lnTo>
                <a:lnTo>
                  <a:pt x="1197192" y="2583792"/>
                </a:lnTo>
                <a:close/>
              </a:path>
            </a:pathLst>
          </a:custGeom>
        </p:spPr>
      </p:pic>
      <p:pic>
        <p:nvPicPr>
          <p:cNvPr id="5" name="Content Placeholder 4" descr="A picture containing indoor&#10;&#10;Description automatically generated">
            <a:extLst>
              <a:ext uri="{FF2B5EF4-FFF2-40B4-BE49-F238E27FC236}">
                <a16:creationId xmlns:a16="http://schemas.microsoft.com/office/drawing/2014/main" id="{A58F0E55-21F3-485B-A07F-1CE74177BDD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00" r="3" b="6859"/>
          <a:stretch/>
        </p:blipFill>
        <p:spPr>
          <a:xfrm>
            <a:off x="8491869" y="4283870"/>
            <a:ext cx="3700129" cy="2583520"/>
          </a:xfrm>
          <a:custGeom>
            <a:avLst/>
            <a:gdLst>
              <a:gd name="connsiteX0" fmla="*/ 0 w 4277884"/>
              <a:gd name="connsiteY0" fmla="*/ 0 h 2583520"/>
              <a:gd name="connsiteX1" fmla="*/ 4277884 w 4277884"/>
              <a:gd name="connsiteY1" fmla="*/ 0 h 2583520"/>
              <a:gd name="connsiteX2" fmla="*/ 4277884 w 4277884"/>
              <a:gd name="connsiteY2" fmla="*/ 2583520 h 2583520"/>
              <a:gd name="connsiteX3" fmla="*/ 1192437 w 4277884"/>
              <a:gd name="connsiteY3" fmla="*/ 2583520 h 2583520"/>
              <a:gd name="connsiteX4" fmla="*/ 1188085 w 4277884"/>
              <a:gd name="connsiteY4" fmla="*/ 2574129 h 2583520"/>
              <a:gd name="connsiteX5" fmla="*/ 1192715 w 4277884"/>
              <a:gd name="connsiteY5" fmla="*/ 2574129 h 2583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277884" h="2583520">
                <a:moveTo>
                  <a:pt x="0" y="0"/>
                </a:moveTo>
                <a:lnTo>
                  <a:pt x="4277884" y="0"/>
                </a:lnTo>
                <a:lnTo>
                  <a:pt x="4277884" y="2583520"/>
                </a:lnTo>
                <a:lnTo>
                  <a:pt x="1192437" y="2583520"/>
                </a:lnTo>
                <a:lnTo>
                  <a:pt x="1188085" y="2574129"/>
                </a:lnTo>
                <a:lnTo>
                  <a:pt x="1192715" y="2574129"/>
                </a:lnTo>
                <a:close/>
              </a:path>
            </a:pathLst>
          </a:cu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2901312-C3C2-4CEC-80EF-823AB4FBB726}"/>
              </a:ext>
            </a:extLst>
          </p:cNvPr>
          <p:cNvSpPr/>
          <p:nvPr/>
        </p:nvSpPr>
        <p:spPr>
          <a:xfrm>
            <a:off x="-1" y="1608918"/>
            <a:ext cx="12191999" cy="911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D0A7C9C-CA2C-4B9B-A125-2D09D5573B44}"/>
              </a:ext>
            </a:extLst>
          </p:cNvPr>
          <p:cNvSpPr/>
          <p:nvPr/>
        </p:nvSpPr>
        <p:spPr>
          <a:xfrm>
            <a:off x="1" y="6677247"/>
            <a:ext cx="12191999" cy="1901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4A085FC-1866-46D4-97F7-51AA45E48D4F}"/>
              </a:ext>
            </a:extLst>
          </p:cNvPr>
          <p:cNvSpPr/>
          <p:nvPr/>
        </p:nvSpPr>
        <p:spPr>
          <a:xfrm rot="4092292">
            <a:off x="5790668" y="4094517"/>
            <a:ext cx="5446699" cy="1370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AD458AE-9A69-51A1-D913-E07A7DDADB64}"/>
                  </a:ext>
                </a:extLst>
              </p:cNvPr>
              <p:cNvSpPr txBox="1"/>
              <p:nvPr/>
            </p:nvSpPr>
            <p:spPr>
              <a:xfrm>
                <a:off x="2110382" y="6123543"/>
                <a:ext cx="6161928" cy="3724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𝑃𝑟𝑜𝑗𝑒𝑐𝑡𝑖𝑜𝑛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𝑖𝑛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2030=19.76∗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1+0.109</m:t>
                              </m:r>
                            </m:e>
                          </m:d>
                        </m:e>
                        <m:sup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=$33.15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B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AD458AE-9A69-51A1-D913-E07A7DDADB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10382" y="6123543"/>
                <a:ext cx="6161928" cy="372410"/>
              </a:xfrm>
              <a:prstGeom prst="rect">
                <a:avLst/>
              </a:prstGeom>
              <a:blipFill>
                <a:blip r:embed="rId4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825506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955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A6792F05-2FD4-4F18-815E-15391E8B4A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3955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89AFCC-0FF0-498C-B11F-8990DF0DA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b="1" dirty="0">
                <a:latin typeface="Selawik Semibold" panose="020B0604020202020204" pitchFamily="34" charset="0"/>
              </a:rPr>
              <a:t>Your Industry Future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D995594-59F2-4020-AB6F-751BAE84AD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2021248"/>
            <a:ext cx="8107018" cy="4695905"/>
          </a:xfrm>
        </p:spPr>
        <p:txBody>
          <a:bodyPr>
            <a:normAutofit lnSpcReduction="10000"/>
          </a:bodyPr>
          <a:lstStyle/>
          <a:p>
            <a:r>
              <a:rPr lang="en-US" sz="2400" dirty="0">
                <a:latin typeface="Selawik Semibold" panose="020B0702040204020203" pitchFamily="34" charset="0"/>
              </a:rPr>
              <a:t>Prerequisites by Howard Hamilton </a:t>
            </a:r>
          </a:p>
          <a:p>
            <a:pPr marL="0" indent="0">
              <a:buNone/>
            </a:pPr>
            <a:r>
              <a:rPr lang="en-US" sz="2400" dirty="0">
                <a:latin typeface="Selawik Semibold" panose="020B0702040204020203" pitchFamily="34" charset="0"/>
              </a:rPr>
              <a:t>   (</a:t>
            </a:r>
            <a:r>
              <a:rPr lang="en-US" sz="2400" dirty="0" err="1">
                <a:latin typeface="Selawik Semibold" panose="020B0702040204020203" pitchFamily="34" charset="0"/>
              </a:rPr>
              <a:t>Soccermetrics</a:t>
            </a:r>
            <a:r>
              <a:rPr lang="en-US" sz="2400" dirty="0">
                <a:latin typeface="Selawik Semibold" panose="020B0702040204020203" pitchFamily="34" charset="0"/>
              </a:rPr>
              <a:t>)</a:t>
            </a:r>
          </a:p>
          <a:p>
            <a:pPr lvl="1"/>
            <a:endParaRPr lang="en-US" sz="2000" dirty="0">
              <a:latin typeface="Selawik Semibold" panose="020B0702040204020203" pitchFamily="34" charset="0"/>
            </a:endParaRP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Technical Skills</a:t>
            </a:r>
          </a:p>
          <a:p>
            <a:pPr lvl="2"/>
            <a:r>
              <a:rPr lang="en-US" sz="1800" dirty="0">
                <a:latin typeface="Selawik Semibold" panose="020B0702040204020203" pitchFamily="34" charset="0"/>
              </a:rPr>
              <a:t>Mathematics (Linear Algebra/Probability Essential)</a:t>
            </a:r>
          </a:p>
          <a:p>
            <a:pPr lvl="2"/>
            <a:r>
              <a:rPr lang="en-US" sz="1800" dirty="0">
                <a:latin typeface="Selawik Semibold" panose="020B0702040204020203" pitchFamily="34" charset="0"/>
              </a:rPr>
              <a:t>Statistics (Frequentist and Bayesian Perspectives)</a:t>
            </a:r>
          </a:p>
          <a:p>
            <a:pPr lvl="2"/>
            <a:r>
              <a:rPr lang="en-US" sz="1800" dirty="0">
                <a:latin typeface="Selawik Semibold" panose="020B0702040204020203" pitchFamily="34" charset="0"/>
              </a:rPr>
              <a:t>Machine Learning (Supervised and Unsupervised)</a:t>
            </a:r>
          </a:p>
          <a:p>
            <a:pPr lvl="2"/>
            <a:r>
              <a:rPr lang="en-US" sz="1800" dirty="0">
                <a:latin typeface="Selawik Semibold" panose="020B0702040204020203" pitchFamily="34" charset="0"/>
              </a:rPr>
              <a:t>Programming (R/Python, Data Structures, OOP)</a:t>
            </a:r>
          </a:p>
          <a:p>
            <a:pPr lvl="2"/>
            <a:r>
              <a:rPr lang="en-US" sz="1800" dirty="0">
                <a:latin typeface="Selawik Semibold" panose="020B0702040204020203" pitchFamily="34" charset="0"/>
              </a:rPr>
              <a:t>Databases</a:t>
            </a:r>
          </a:p>
          <a:p>
            <a:pPr lvl="2"/>
            <a:r>
              <a:rPr lang="en-US" sz="1800" dirty="0">
                <a:latin typeface="Selawik Semibold" panose="020B0702040204020203" pitchFamily="34" charset="0"/>
              </a:rPr>
              <a:t>Visualization</a:t>
            </a:r>
          </a:p>
          <a:p>
            <a:pPr lvl="2"/>
            <a:endParaRPr lang="en-US" sz="1800" dirty="0">
              <a:latin typeface="Selawik Semibold" panose="020B0702040204020203" pitchFamily="34" charset="0"/>
            </a:endParaRP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Socials Skills, Ethics, and the Law</a:t>
            </a:r>
          </a:p>
          <a:p>
            <a:pPr marL="457200" lvl="1" indent="0">
              <a:buNone/>
            </a:pPr>
            <a:endParaRPr lang="en-US" sz="2000" dirty="0">
              <a:latin typeface="Selawik Semibold" panose="020B0702040204020203" pitchFamily="34" charset="0"/>
            </a:endParaRP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Knowledgeable About All Aspects of the Sport</a:t>
            </a:r>
          </a:p>
          <a:p>
            <a:pPr lvl="2"/>
            <a:endParaRPr lang="en-US" sz="1800" dirty="0">
              <a:latin typeface="Selawik Semibold" panose="020B0702040204020203" pitchFamily="34" charset="0"/>
            </a:endParaRPr>
          </a:p>
          <a:p>
            <a:pPr lvl="1"/>
            <a:endParaRPr lang="en-US" sz="2200" dirty="0">
              <a:latin typeface="Selawik Semibold" panose="020B0702040204020203" pitchFamily="34" charset="0"/>
            </a:endParaRPr>
          </a:p>
        </p:txBody>
      </p:sp>
      <p:pic>
        <p:nvPicPr>
          <p:cNvPr id="4" name="Picture 3" descr="A drawing of a cartoon character&#10;&#10;Description automatically generated">
            <a:extLst>
              <a:ext uri="{FF2B5EF4-FFF2-40B4-BE49-F238E27FC236}">
                <a16:creationId xmlns:a16="http://schemas.microsoft.com/office/drawing/2014/main" id="{A7FDC859-D890-4904-9C64-27F43DA9045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16" r="2" b="2"/>
          <a:stretch/>
        </p:blipFill>
        <p:spPr>
          <a:xfrm>
            <a:off x="7471144" y="1700078"/>
            <a:ext cx="4720855" cy="2583792"/>
          </a:xfrm>
          <a:custGeom>
            <a:avLst/>
            <a:gdLst>
              <a:gd name="connsiteX0" fmla="*/ 0 w 5475077"/>
              <a:gd name="connsiteY0" fmla="*/ 0 h 2583792"/>
              <a:gd name="connsiteX1" fmla="*/ 5475077 w 5475077"/>
              <a:gd name="connsiteY1" fmla="*/ 0 h 2583792"/>
              <a:gd name="connsiteX2" fmla="*/ 5475077 w 5475077"/>
              <a:gd name="connsiteY2" fmla="*/ 2583792 h 2583792"/>
              <a:gd name="connsiteX3" fmla="*/ 1197192 w 5475077"/>
              <a:gd name="connsiteY3" fmla="*/ 2583792 h 25837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75077" h="2583792">
                <a:moveTo>
                  <a:pt x="0" y="0"/>
                </a:moveTo>
                <a:lnTo>
                  <a:pt x="5475077" y="0"/>
                </a:lnTo>
                <a:lnTo>
                  <a:pt x="5475077" y="2583792"/>
                </a:lnTo>
                <a:lnTo>
                  <a:pt x="1197192" y="2583792"/>
                </a:lnTo>
                <a:close/>
              </a:path>
            </a:pathLst>
          </a:custGeom>
        </p:spPr>
      </p:pic>
      <p:pic>
        <p:nvPicPr>
          <p:cNvPr id="5" name="Content Placeholder 4" descr="A picture containing indoor&#10;&#10;Description automatically generated">
            <a:extLst>
              <a:ext uri="{FF2B5EF4-FFF2-40B4-BE49-F238E27FC236}">
                <a16:creationId xmlns:a16="http://schemas.microsoft.com/office/drawing/2014/main" id="{A58F0E55-21F3-485B-A07F-1CE74177BDD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00" r="3" b="6859"/>
          <a:stretch/>
        </p:blipFill>
        <p:spPr>
          <a:xfrm>
            <a:off x="8491869" y="4283870"/>
            <a:ext cx="3700129" cy="2583520"/>
          </a:xfrm>
          <a:custGeom>
            <a:avLst/>
            <a:gdLst>
              <a:gd name="connsiteX0" fmla="*/ 0 w 4277884"/>
              <a:gd name="connsiteY0" fmla="*/ 0 h 2583520"/>
              <a:gd name="connsiteX1" fmla="*/ 4277884 w 4277884"/>
              <a:gd name="connsiteY1" fmla="*/ 0 h 2583520"/>
              <a:gd name="connsiteX2" fmla="*/ 4277884 w 4277884"/>
              <a:gd name="connsiteY2" fmla="*/ 2583520 h 2583520"/>
              <a:gd name="connsiteX3" fmla="*/ 1192437 w 4277884"/>
              <a:gd name="connsiteY3" fmla="*/ 2583520 h 2583520"/>
              <a:gd name="connsiteX4" fmla="*/ 1188085 w 4277884"/>
              <a:gd name="connsiteY4" fmla="*/ 2574129 h 2583520"/>
              <a:gd name="connsiteX5" fmla="*/ 1192715 w 4277884"/>
              <a:gd name="connsiteY5" fmla="*/ 2574129 h 2583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277884" h="2583520">
                <a:moveTo>
                  <a:pt x="0" y="0"/>
                </a:moveTo>
                <a:lnTo>
                  <a:pt x="4277884" y="0"/>
                </a:lnTo>
                <a:lnTo>
                  <a:pt x="4277884" y="2583520"/>
                </a:lnTo>
                <a:lnTo>
                  <a:pt x="1192437" y="2583520"/>
                </a:lnTo>
                <a:lnTo>
                  <a:pt x="1188085" y="2574129"/>
                </a:lnTo>
                <a:lnTo>
                  <a:pt x="1192715" y="2574129"/>
                </a:lnTo>
                <a:close/>
              </a:path>
            </a:pathLst>
          </a:cu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2901312-C3C2-4CEC-80EF-823AB4FBB726}"/>
              </a:ext>
            </a:extLst>
          </p:cNvPr>
          <p:cNvSpPr/>
          <p:nvPr/>
        </p:nvSpPr>
        <p:spPr>
          <a:xfrm>
            <a:off x="-1" y="1608918"/>
            <a:ext cx="12191999" cy="911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D0A7C9C-CA2C-4B9B-A125-2D09D5573B44}"/>
              </a:ext>
            </a:extLst>
          </p:cNvPr>
          <p:cNvSpPr/>
          <p:nvPr/>
        </p:nvSpPr>
        <p:spPr>
          <a:xfrm>
            <a:off x="1" y="6677247"/>
            <a:ext cx="12191999" cy="1901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4A085FC-1866-46D4-97F7-51AA45E48D4F}"/>
              </a:ext>
            </a:extLst>
          </p:cNvPr>
          <p:cNvSpPr/>
          <p:nvPr/>
        </p:nvSpPr>
        <p:spPr>
          <a:xfrm rot="4092292">
            <a:off x="5790668" y="4094517"/>
            <a:ext cx="5446699" cy="1370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1162018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9558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E1C4EFA-5130-624F-C38C-EEC01EA113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70F47418-5511-7542-0D67-5F60467148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3955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D0D8571-E13D-BFDF-2A5D-9B3E8EFCB1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b="1" dirty="0">
                <a:latin typeface="Selawik Semibold" panose="020B0604020202020204" pitchFamily="34" charset="0"/>
              </a:rPr>
              <a:t>Your Industry Future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56DEAD07-2FD2-2C9C-68F7-07A15A50C0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2021248"/>
            <a:ext cx="8107018" cy="4695905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Selawik Semibold" panose="020B0702040204020203" pitchFamily="34" charset="0"/>
              </a:rPr>
              <a:t>Real Jobs (Builtin.com)</a:t>
            </a:r>
          </a:p>
          <a:p>
            <a:pPr marL="0" indent="0">
              <a:buNone/>
            </a:pPr>
            <a:endParaRPr lang="en-US" sz="2400" dirty="0">
              <a:latin typeface="Selawik Semibold" panose="020B0702040204020203" pitchFamily="34" charset="0"/>
            </a:endParaRP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Data Engineering, DraftKings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Former 538 Student Works There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3+ Years Experience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Proficiency in SQL, Snowflake, Tableau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Tools: Kafka, Airflow, Terraform, Python, Datadog</a:t>
            </a:r>
          </a:p>
          <a:p>
            <a:pPr lvl="2"/>
            <a:endParaRPr lang="en-US" sz="1600" dirty="0">
              <a:latin typeface="Selawik Semibold" panose="020B0702040204020203" pitchFamily="34" charset="0"/>
            </a:endParaRP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Lead Analyst, DraftKings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4 Years in Analytics or Data Science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Bachelors Degree in STEM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SQL, EXCEL, TABLEAU, R, Python</a:t>
            </a:r>
          </a:p>
          <a:p>
            <a:pPr lvl="2"/>
            <a:endParaRPr lang="en-US" sz="1600" dirty="0">
              <a:latin typeface="Selawik Semibold" panose="020B0702040204020203" pitchFamily="34" charset="0"/>
            </a:endParaRPr>
          </a:p>
          <a:p>
            <a:pPr lvl="2"/>
            <a:endParaRPr lang="en-US" sz="1600" dirty="0">
              <a:latin typeface="Selawik Semibold" panose="020B0702040204020203" pitchFamily="34" charset="0"/>
            </a:endParaRPr>
          </a:p>
          <a:p>
            <a:pPr lvl="2"/>
            <a:endParaRPr lang="en-US" sz="1600" dirty="0">
              <a:latin typeface="Selawik Semibold" panose="020B0702040204020203" pitchFamily="34" charset="0"/>
            </a:endParaRPr>
          </a:p>
          <a:p>
            <a:pPr lvl="2"/>
            <a:endParaRPr lang="en-US" sz="1400" dirty="0">
              <a:latin typeface="Selawik Semibold" panose="020B0702040204020203" pitchFamily="34" charset="0"/>
            </a:endParaRPr>
          </a:p>
          <a:p>
            <a:pPr lvl="2"/>
            <a:endParaRPr lang="en-US" sz="1800" dirty="0">
              <a:latin typeface="Selawik Semibold" panose="020B0702040204020203" pitchFamily="34" charset="0"/>
            </a:endParaRPr>
          </a:p>
          <a:p>
            <a:pPr lvl="2"/>
            <a:endParaRPr lang="en-US" sz="1600" dirty="0">
              <a:latin typeface="Selawik Semibold" panose="020B0702040204020203" pitchFamily="34" charset="0"/>
            </a:endParaRPr>
          </a:p>
          <a:p>
            <a:endParaRPr lang="en-US" sz="2400" dirty="0">
              <a:latin typeface="Selawik Semibold" panose="020B0702040204020203" pitchFamily="34" charset="0"/>
            </a:endParaRPr>
          </a:p>
          <a:p>
            <a:pPr lvl="1"/>
            <a:endParaRPr lang="en-US" sz="2000" dirty="0">
              <a:latin typeface="Selawik Semibold" panose="020B0702040204020203" pitchFamily="34" charset="0"/>
            </a:endParaRPr>
          </a:p>
          <a:p>
            <a:pPr lvl="2"/>
            <a:endParaRPr lang="en-US" sz="1800" dirty="0">
              <a:latin typeface="Selawik Semibold" panose="020B0702040204020203" pitchFamily="34" charset="0"/>
            </a:endParaRPr>
          </a:p>
          <a:p>
            <a:pPr lvl="1"/>
            <a:endParaRPr lang="en-US" sz="2200" dirty="0">
              <a:latin typeface="Selawik Semibold" panose="020B0702040204020203" pitchFamily="34" charset="0"/>
            </a:endParaRPr>
          </a:p>
        </p:txBody>
      </p:sp>
      <p:pic>
        <p:nvPicPr>
          <p:cNvPr id="4" name="Picture 3" descr="A drawing of a cartoon character&#10;&#10;Description automatically generated">
            <a:extLst>
              <a:ext uri="{FF2B5EF4-FFF2-40B4-BE49-F238E27FC236}">
                <a16:creationId xmlns:a16="http://schemas.microsoft.com/office/drawing/2014/main" id="{4BCA7387-186B-BC41-F795-5E14B6CE46F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16" r="2" b="2"/>
          <a:stretch/>
        </p:blipFill>
        <p:spPr>
          <a:xfrm>
            <a:off x="7471144" y="1700078"/>
            <a:ext cx="4720855" cy="2583792"/>
          </a:xfrm>
          <a:custGeom>
            <a:avLst/>
            <a:gdLst>
              <a:gd name="connsiteX0" fmla="*/ 0 w 5475077"/>
              <a:gd name="connsiteY0" fmla="*/ 0 h 2583792"/>
              <a:gd name="connsiteX1" fmla="*/ 5475077 w 5475077"/>
              <a:gd name="connsiteY1" fmla="*/ 0 h 2583792"/>
              <a:gd name="connsiteX2" fmla="*/ 5475077 w 5475077"/>
              <a:gd name="connsiteY2" fmla="*/ 2583792 h 2583792"/>
              <a:gd name="connsiteX3" fmla="*/ 1197192 w 5475077"/>
              <a:gd name="connsiteY3" fmla="*/ 2583792 h 25837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75077" h="2583792">
                <a:moveTo>
                  <a:pt x="0" y="0"/>
                </a:moveTo>
                <a:lnTo>
                  <a:pt x="5475077" y="0"/>
                </a:lnTo>
                <a:lnTo>
                  <a:pt x="5475077" y="2583792"/>
                </a:lnTo>
                <a:lnTo>
                  <a:pt x="1197192" y="2583792"/>
                </a:lnTo>
                <a:close/>
              </a:path>
            </a:pathLst>
          </a:custGeom>
        </p:spPr>
      </p:pic>
      <p:pic>
        <p:nvPicPr>
          <p:cNvPr id="5" name="Content Placeholder 4" descr="A picture containing indoor&#10;&#10;Description automatically generated">
            <a:extLst>
              <a:ext uri="{FF2B5EF4-FFF2-40B4-BE49-F238E27FC236}">
                <a16:creationId xmlns:a16="http://schemas.microsoft.com/office/drawing/2014/main" id="{99476241-3907-4793-D90E-29C605438AC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00" r="3" b="6859"/>
          <a:stretch/>
        </p:blipFill>
        <p:spPr>
          <a:xfrm>
            <a:off x="8491869" y="4283870"/>
            <a:ext cx="3700129" cy="2583520"/>
          </a:xfrm>
          <a:custGeom>
            <a:avLst/>
            <a:gdLst>
              <a:gd name="connsiteX0" fmla="*/ 0 w 4277884"/>
              <a:gd name="connsiteY0" fmla="*/ 0 h 2583520"/>
              <a:gd name="connsiteX1" fmla="*/ 4277884 w 4277884"/>
              <a:gd name="connsiteY1" fmla="*/ 0 h 2583520"/>
              <a:gd name="connsiteX2" fmla="*/ 4277884 w 4277884"/>
              <a:gd name="connsiteY2" fmla="*/ 2583520 h 2583520"/>
              <a:gd name="connsiteX3" fmla="*/ 1192437 w 4277884"/>
              <a:gd name="connsiteY3" fmla="*/ 2583520 h 2583520"/>
              <a:gd name="connsiteX4" fmla="*/ 1188085 w 4277884"/>
              <a:gd name="connsiteY4" fmla="*/ 2574129 h 2583520"/>
              <a:gd name="connsiteX5" fmla="*/ 1192715 w 4277884"/>
              <a:gd name="connsiteY5" fmla="*/ 2574129 h 2583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277884" h="2583520">
                <a:moveTo>
                  <a:pt x="0" y="0"/>
                </a:moveTo>
                <a:lnTo>
                  <a:pt x="4277884" y="0"/>
                </a:lnTo>
                <a:lnTo>
                  <a:pt x="4277884" y="2583520"/>
                </a:lnTo>
                <a:lnTo>
                  <a:pt x="1192437" y="2583520"/>
                </a:lnTo>
                <a:lnTo>
                  <a:pt x="1188085" y="2574129"/>
                </a:lnTo>
                <a:lnTo>
                  <a:pt x="1192715" y="2574129"/>
                </a:lnTo>
                <a:close/>
              </a:path>
            </a:pathLst>
          </a:cu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E6F93D2-DE78-1461-F79A-09ADB62138E6}"/>
              </a:ext>
            </a:extLst>
          </p:cNvPr>
          <p:cNvSpPr/>
          <p:nvPr/>
        </p:nvSpPr>
        <p:spPr>
          <a:xfrm>
            <a:off x="-1" y="1608918"/>
            <a:ext cx="12191999" cy="911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8B8F7D9-4B0D-D877-08BC-0C138370BC4A}"/>
              </a:ext>
            </a:extLst>
          </p:cNvPr>
          <p:cNvSpPr/>
          <p:nvPr/>
        </p:nvSpPr>
        <p:spPr>
          <a:xfrm>
            <a:off x="1" y="6677247"/>
            <a:ext cx="12191999" cy="1901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72EDABE-0C0A-3F4A-F479-72190CA668A9}"/>
              </a:ext>
            </a:extLst>
          </p:cNvPr>
          <p:cNvSpPr/>
          <p:nvPr/>
        </p:nvSpPr>
        <p:spPr>
          <a:xfrm rot="4092292">
            <a:off x="5790668" y="4094517"/>
            <a:ext cx="5446699" cy="1370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8632542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955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A6792F05-2FD4-4F18-815E-15391E8B4A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3955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89AFCC-0FF0-498C-B11F-8990DF0DA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b="1" dirty="0">
                <a:latin typeface="Selawik Semibold" panose="020B0604020202020204" pitchFamily="34" charset="0"/>
              </a:rPr>
              <a:t>Your Industry Future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D995594-59F2-4020-AB6F-751BAE84AD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2021248"/>
            <a:ext cx="8107018" cy="4695905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Selawik Semibold" panose="020B0702040204020203" pitchFamily="34" charset="0"/>
              </a:rPr>
              <a:t>Real Jobs (Builtin.com)</a:t>
            </a:r>
          </a:p>
          <a:p>
            <a:pPr marL="0" indent="0">
              <a:buNone/>
            </a:pPr>
            <a:endParaRPr lang="en-US" sz="2400" dirty="0">
              <a:latin typeface="Selawik Semibold" panose="020B0702040204020203" pitchFamily="34" charset="0"/>
            </a:endParaRP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Basketball Data Scientist, Swish Analytics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Betting and Fantasy Startup in San Francisco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Bachelors Degree in STEM; Masters Preferred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Advanced Knowledge of Math and Statistics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SQL/Python/GitHub/AWS</a:t>
            </a:r>
          </a:p>
          <a:p>
            <a:pPr lvl="2"/>
            <a:endParaRPr lang="en-US" sz="1600" dirty="0">
              <a:latin typeface="Selawik Semibold" panose="020B0702040204020203" pitchFamily="34" charset="0"/>
            </a:endParaRP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Database </a:t>
            </a:r>
            <a:r>
              <a:rPr lang="en-US" sz="2000" dirty="0" err="1">
                <a:latin typeface="Selawik Semibold" panose="020B0702040204020203" pitchFamily="34" charset="0"/>
              </a:rPr>
              <a:t>Adminstrator</a:t>
            </a:r>
            <a:r>
              <a:rPr lang="en-US" sz="2000" dirty="0">
                <a:latin typeface="Selawik Semibold" panose="020B0702040204020203" pitchFamily="34" charset="0"/>
              </a:rPr>
              <a:t>, Sporty Group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Company from London (Remote Option)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Managing Database, Queries, Dashboards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MySQL and MongoDB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AWS, Redshift</a:t>
            </a:r>
          </a:p>
          <a:p>
            <a:pPr lvl="2"/>
            <a:endParaRPr lang="en-US" sz="1600" dirty="0">
              <a:latin typeface="Selawik Semibold" panose="020B0702040204020203" pitchFamily="34" charset="0"/>
            </a:endParaRPr>
          </a:p>
          <a:p>
            <a:pPr lvl="2"/>
            <a:endParaRPr lang="en-US" sz="1400" dirty="0">
              <a:latin typeface="Selawik Semibold" panose="020B0702040204020203" pitchFamily="34" charset="0"/>
            </a:endParaRPr>
          </a:p>
          <a:p>
            <a:pPr lvl="2"/>
            <a:endParaRPr lang="en-US" sz="1800" dirty="0">
              <a:latin typeface="Selawik Semibold" panose="020B0702040204020203" pitchFamily="34" charset="0"/>
            </a:endParaRPr>
          </a:p>
          <a:p>
            <a:pPr lvl="2"/>
            <a:endParaRPr lang="en-US" sz="1600" dirty="0">
              <a:latin typeface="Selawik Semibold" panose="020B0702040204020203" pitchFamily="34" charset="0"/>
            </a:endParaRPr>
          </a:p>
          <a:p>
            <a:endParaRPr lang="en-US" sz="2400" dirty="0">
              <a:latin typeface="Selawik Semibold" panose="020B0702040204020203" pitchFamily="34" charset="0"/>
            </a:endParaRPr>
          </a:p>
          <a:p>
            <a:pPr lvl="1"/>
            <a:endParaRPr lang="en-US" sz="2000" dirty="0">
              <a:latin typeface="Selawik Semibold" panose="020B0702040204020203" pitchFamily="34" charset="0"/>
            </a:endParaRPr>
          </a:p>
          <a:p>
            <a:pPr lvl="2"/>
            <a:endParaRPr lang="en-US" sz="1800" dirty="0">
              <a:latin typeface="Selawik Semibold" panose="020B0702040204020203" pitchFamily="34" charset="0"/>
            </a:endParaRPr>
          </a:p>
          <a:p>
            <a:pPr lvl="1"/>
            <a:endParaRPr lang="en-US" sz="2200" dirty="0">
              <a:latin typeface="Selawik Semibold" panose="020B0702040204020203" pitchFamily="34" charset="0"/>
            </a:endParaRPr>
          </a:p>
        </p:txBody>
      </p:sp>
      <p:pic>
        <p:nvPicPr>
          <p:cNvPr id="4" name="Picture 3" descr="A drawing of a cartoon character&#10;&#10;Description automatically generated">
            <a:extLst>
              <a:ext uri="{FF2B5EF4-FFF2-40B4-BE49-F238E27FC236}">
                <a16:creationId xmlns:a16="http://schemas.microsoft.com/office/drawing/2014/main" id="{A7FDC859-D890-4904-9C64-27F43DA9045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16" r="2" b="2"/>
          <a:stretch/>
        </p:blipFill>
        <p:spPr>
          <a:xfrm>
            <a:off x="7471144" y="1700078"/>
            <a:ext cx="4720855" cy="2583792"/>
          </a:xfrm>
          <a:custGeom>
            <a:avLst/>
            <a:gdLst>
              <a:gd name="connsiteX0" fmla="*/ 0 w 5475077"/>
              <a:gd name="connsiteY0" fmla="*/ 0 h 2583792"/>
              <a:gd name="connsiteX1" fmla="*/ 5475077 w 5475077"/>
              <a:gd name="connsiteY1" fmla="*/ 0 h 2583792"/>
              <a:gd name="connsiteX2" fmla="*/ 5475077 w 5475077"/>
              <a:gd name="connsiteY2" fmla="*/ 2583792 h 2583792"/>
              <a:gd name="connsiteX3" fmla="*/ 1197192 w 5475077"/>
              <a:gd name="connsiteY3" fmla="*/ 2583792 h 25837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75077" h="2583792">
                <a:moveTo>
                  <a:pt x="0" y="0"/>
                </a:moveTo>
                <a:lnTo>
                  <a:pt x="5475077" y="0"/>
                </a:lnTo>
                <a:lnTo>
                  <a:pt x="5475077" y="2583792"/>
                </a:lnTo>
                <a:lnTo>
                  <a:pt x="1197192" y="2583792"/>
                </a:lnTo>
                <a:close/>
              </a:path>
            </a:pathLst>
          </a:custGeom>
        </p:spPr>
      </p:pic>
      <p:pic>
        <p:nvPicPr>
          <p:cNvPr id="5" name="Content Placeholder 4" descr="A picture containing indoor&#10;&#10;Description automatically generated">
            <a:extLst>
              <a:ext uri="{FF2B5EF4-FFF2-40B4-BE49-F238E27FC236}">
                <a16:creationId xmlns:a16="http://schemas.microsoft.com/office/drawing/2014/main" id="{A58F0E55-21F3-485B-A07F-1CE74177BDD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00" r="3" b="6859"/>
          <a:stretch/>
        </p:blipFill>
        <p:spPr>
          <a:xfrm>
            <a:off x="8491869" y="4283870"/>
            <a:ext cx="3700129" cy="2583520"/>
          </a:xfrm>
          <a:custGeom>
            <a:avLst/>
            <a:gdLst>
              <a:gd name="connsiteX0" fmla="*/ 0 w 4277884"/>
              <a:gd name="connsiteY0" fmla="*/ 0 h 2583520"/>
              <a:gd name="connsiteX1" fmla="*/ 4277884 w 4277884"/>
              <a:gd name="connsiteY1" fmla="*/ 0 h 2583520"/>
              <a:gd name="connsiteX2" fmla="*/ 4277884 w 4277884"/>
              <a:gd name="connsiteY2" fmla="*/ 2583520 h 2583520"/>
              <a:gd name="connsiteX3" fmla="*/ 1192437 w 4277884"/>
              <a:gd name="connsiteY3" fmla="*/ 2583520 h 2583520"/>
              <a:gd name="connsiteX4" fmla="*/ 1188085 w 4277884"/>
              <a:gd name="connsiteY4" fmla="*/ 2574129 h 2583520"/>
              <a:gd name="connsiteX5" fmla="*/ 1192715 w 4277884"/>
              <a:gd name="connsiteY5" fmla="*/ 2574129 h 2583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277884" h="2583520">
                <a:moveTo>
                  <a:pt x="0" y="0"/>
                </a:moveTo>
                <a:lnTo>
                  <a:pt x="4277884" y="0"/>
                </a:lnTo>
                <a:lnTo>
                  <a:pt x="4277884" y="2583520"/>
                </a:lnTo>
                <a:lnTo>
                  <a:pt x="1192437" y="2583520"/>
                </a:lnTo>
                <a:lnTo>
                  <a:pt x="1188085" y="2574129"/>
                </a:lnTo>
                <a:lnTo>
                  <a:pt x="1192715" y="2574129"/>
                </a:lnTo>
                <a:close/>
              </a:path>
            </a:pathLst>
          </a:cu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2901312-C3C2-4CEC-80EF-823AB4FBB726}"/>
              </a:ext>
            </a:extLst>
          </p:cNvPr>
          <p:cNvSpPr/>
          <p:nvPr/>
        </p:nvSpPr>
        <p:spPr>
          <a:xfrm>
            <a:off x="-1" y="1608918"/>
            <a:ext cx="12191999" cy="911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D0A7C9C-CA2C-4B9B-A125-2D09D5573B44}"/>
              </a:ext>
            </a:extLst>
          </p:cNvPr>
          <p:cNvSpPr/>
          <p:nvPr/>
        </p:nvSpPr>
        <p:spPr>
          <a:xfrm>
            <a:off x="1" y="6677247"/>
            <a:ext cx="12191999" cy="1901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4A085FC-1866-46D4-97F7-51AA45E48D4F}"/>
              </a:ext>
            </a:extLst>
          </p:cNvPr>
          <p:cNvSpPr/>
          <p:nvPr/>
        </p:nvSpPr>
        <p:spPr>
          <a:xfrm rot="4092292">
            <a:off x="5790668" y="4094517"/>
            <a:ext cx="5446699" cy="1370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8274349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9558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8336C81-F98A-69C1-DF30-5681F10F2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1D901E50-F2D6-D6BA-FF1B-AE2B158236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3955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B5C1D46-D5A1-0CE8-B26D-BF89BB0C67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b="1" dirty="0">
                <a:latin typeface="Selawik Semibold" panose="020B0604020202020204" pitchFamily="34" charset="0"/>
              </a:rPr>
              <a:t>Your Industry Future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4E453F8F-0DD8-0315-3021-64BAF411BF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2021248"/>
            <a:ext cx="8107018" cy="4695905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Selawik Semibold" panose="020B0702040204020203" pitchFamily="34" charset="0"/>
              </a:rPr>
              <a:t>Real Jobs (Builtin.com)</a:t>
            </a:r>
          </a:p>
          <a:p>
            <a:pPr marL="0" indent="0">
              <a:buNone/>
            </a:pPr>
            <a:endParaRPr lang="en-US" sz="2400" dirty="0">
              <a:latin typeface="Selawik Semibold" panose="020B0702040204020203" pitchFamily="34" charset="0"/>
            </a:endParaRP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Sr. Data Engineer, Boston Red Sox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Bachelors Degree in CS-related Field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Strong SQL Experience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Snowflake, DBT, </a:t>
            </a:r>
            <a:r>
              <a:rPr lang="en-US" sz="1600" dirty="0" err="1">
                <a:latin typeface="Selawik Semibold" panose="020B0702040204020203" pitchFamily="34" charset="0"/>
              </a:rPr>
              <a:t>GraphQL</a:t>
            </a:r>
            <a:endParaRPr lang="en-US" sz="1600" dirty="0">
              <a:latin typeface="Selawik Semibold" panose="020B0702040204020203" pitchFamily="34" charset="0"/>
            </a:endParaRPr>
          </a:p>
          <a:p>
            <a:pPr lvl="2"/>
            <a:endParaRPr lang="en-US" sz="1600" dirty="0">
              <a:latin typeface="Selawik Semibold" panose="020B0702040204020203" pitchFamily="34" charset="0"/>
            </a:endParaRP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Lead Data Scientist, Dicks Sporting Goods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Not Entry Level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Elastic, SOLR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Engineering of APIs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TensorFlow, </a:t>
            </a:r>
            <a:r>
              <a:rPr lang="en-US" sz="1600" dirty="0" err="1">
                <a:latin typeface="Selawik Semibold" panose="020B0702040204020203" pitchFamily="34" charset="0"/>
              </a:rPr>
              <a:t>PyTor</a:t>
            </a:r>
            <a:endParaRPr lang="en-US" sz="1600" dirty="0">
              <a:latin typeface="Selawik Semibold" panose="020B0702040204020203" pitchFamily="34" charset="0"/>
            </a:endParaRPr>
          </a:p>
          <a:p>
            <a:pPr lvl="2"/>
            <a:endParaRPr lang="en-US" sz="1600" dirty="0">
              <a:latin typeface="Selawik Semibold" panose="020B0702040204020203" pitchFamily="34" charset="0"/>
            </a:endParaRPr>
          </a:p>
          <a:p>
            <a:pPr lvl="2"/>
            <a:endParaRPr lang="en-US" sz="1600" dirty="0">
              <a:latin typeface="Selawik Semibold" panose="020B0702040204020203" pitchFamily="34" charset="0"/>
            </a:endParaRPr>
          </a:p>
          <a:p>
            <a:pPr lvl="2"/>
            <a:endParaRPr lang="en-US" sz="1600" dirty="0">
              <a:latin typeface="Selawik Semibold" panose="020B0702040204020203" pitchFamily="34" charset="0"/>
            </a:endParaRPr>
          </a:p>
          <a:p>
            <a:pPr lvl="2"/>
            <a:endParaRPr lang="en-US" sz="1400" dirty="0">
              <a:latin typeface="Selawik Semibold" panose="020B0702040204020203" pitchFamily="34" charset="0"/>
            </a:endParaRPr>
          </a:p>
          <a:p>
            <a:pPr lvl="2"/>
            <a:endParaRPr lang="en-US" sz="1800" dirty="0">
              <a:latin typeface="Selawik Semibold" panose="020B0702040204020203" pitchFamily="34" charset="0"/>
            </a:endParaRPr>
          </a:p>
          <a:p>
            <a:pPr lvl="2"/>
            <a:endParaRPr lang="en-US" sz="1600" dirty="0">
              <a:latin typeface="Selawik Semibold" panose="020B0702040204020203" pitchFamily="34" charset="0"/>
            </a:endParaRPr>
          </a:p>
          <a:p>
            <a:endParaRPr lang="en-US" sz="2400" dirty="0">
              <a:latin typeface="Selawik Semibold" panose="020B0702040204020203" pitchFamily="34" charset="0"/>
            </a:endParaRPr>
          </a:p>
          <a:p>
            <a:pPr lvl="1"/>
            <a:endParaRPr lang="en-US" sz="2000" dirty="0">
              <a:latin typeface="Selawik Semibold" panose="020B0702040204020203" pitchFamily="34" charset="0"/>
            </a:endParaRPr>
          </a:p>
          <a:p>
            <a:pPr lvl="2"/>
            <a:endParaRPr lang="en-US" sz="1800" dirty="0">
              <a:latin typeface="Selawik Semibold" panose="020B0702040204020203" pitchFamily="34" charset="0"/>
            </a:endParaRPr>
          </a:p>
          <a:p>
            <a:pPr lvl="1"/>
            <a:endParaRPr lang="en-US" sz="2200" dirty="0">
              <a:latin typeface="Selawik Semibold" panose="020B0702040204020203" pitchFamily="34" charset="0"/>
            </a:endParaRPr>
          </a:p>
        </p:txBody>
      </p:sp>
      <p:pic>
        <p:nvPicPr>
          <p:cNvPr id="4" name="Picture 3" descr="A drawing of a cartoon character&#10;&#10;Description automatically generated">
            <a:extLst>
              <a:ext uri="{FF2B5EF4-FFF2-40B4-BE49-F238E27FC236}">
                <a16:creationId xmlns:a16="http://schemas.microsoft.com/office/drawing/2014/main" id="{5C763E96-7FE7-4CE5-142B-3E664C745EA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16" r="2" b="2"/>
          <a:stretch/>
        </p:blipFill>
        <p:spPr>
          <a:xfrm>
            <a:off x="7471144" y="1700078"/>
            <a:ext cx="4720855" cy="2583792"/>
          </a:xfrm>
          <a:custGeom>
            <a:avLst/>
            <a:gdLst>
              <a:gd name="connsiteX0" fmla="*/ 0 w 5475077"/>
              <a:gd name="connsiteY0" fmla="*/ 0 h 2583792"/>
              <a:gd name="connsiteX1" fmla="*/ 5475077 w 5475077"/>
              <a:gd name="connsiteY1" fmla="*/ 0 h 2583792"/>
              <a:gd name="connsiteX2" fmla="*/ 5475077 w 5475077"/>
              <a:gd name="connsiteY2" fmla="*/ 2583792 h 2583792"/>
              <a:gd name="connsiteX3" fmla="*/ 1197192 w 5475077"/>
              <a:gd name="connsiteY3" fmla="*/ 2583792 h 25837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75077" h="2583792">
                <a:moveTo>
                  <a:pt x="0" y="0"/>
                </a:moveTo>
                <a:lnTo>
                  <a:pt x="5475077" y="0"/>
                </a:lnTo>
                <a:lnTo>
                  <a:pt x="5475077" y="2583792"/>
                </a:lnTo>
                <a:lnTo>
                  <a:pt x="1197192" y="2583792"/>
                </a:lnTo>
                <a:close/>
              </a:path>
            </a:pathLst>
          </a:custGeom>
        </p:spPr>
      </p:pic>
      <p:pic>
        <p:nvPicPr>
          <p:cNvPr id="5" name="Content Placeholder 4" descr="A picture containing indoor&#10;&#10;Description automatically generated">
            <a:extLst>
              <a:ext uri="{FF2B5EF4-FFF2-40B4-BE49-F238E27FC236}">
                <a16:creationId xmlns:a16="http://schemas.microsoft.com/office/drawing/2014/main" id="{618F6228-7088-3B19-BC95-ADF615E6D7D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00" r="3" b="6859"/>
          <a:stretch/>
        </p:blipFill>
        <p:spPr>
          <a:xfrm>
            <a:off x="8491869" y="4283870"/>
            <a:ext cx="3700129" cy="2583520"/>
          </a:xfrm>
          <a:custGeom>
            <a:avLst/>
            <a:gdLst>
              <a:gd name="connsiteX0" fmla="*/ 0 w 4277884"/>
              <a:gd name="connsiteY0" fmla="*/ 0 h 2583520"/>
              <a:gd name="connsiteX1" fmla="*/ 4277884 w 4277884"/>
              <a:gd name="connsiteY1" fmla="*/ 0 h 2583520"/>
              <a:gd name="connsiteX2" fmla="*/ 4277884 w 4277884"/>
              <a:gd name="connsiteY2" fmla="*/ 2583520 h 2583520"/>
              <a:gd name="connsiteX3" fmla="*/ 1192437 w 4277884"/>
              <a:gd name="connsiteY3" fmla="*/ 2583520 h 2583520"/>
              <a:gd name="connsiteX4" fmla="*/ 1188085 w 4277884"/>
              <a:gd name="connsiteY4" fmla="*/ 2574129 h 2583520"/>
              <a:gd name="connsiteX5" fmla="*/ 1192715 w 4277884"/>
              <a:gd name="connsiteY5" fmla="*/ 2574129 h 2583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277884" h="2583520">
                <a:moveTo>
                  <a:pt x="0" y="0"/>
                </a:moveTo>
                <a:lnTo>
                  <a:pt x="4277884" y="0"/>
                </a:lnTo>
                <a:lnTo>
                  <a:pt x="4277884" y="2583520"/>
                </a:lnTo>
                <a:lnTo>
                  <a:pt x="1192437" y="2583520"/>
                </a:lnTo>
                <a:lnTo>
                  <a:pt x="1188085" y="2574129"/>
                </a:lnTo>
                <a:lnTo>
                  <a:pt x="1192715" y="2574129"/>
                </a:lnTo>
                <a:close/>
              </a:path>
            </a:pathLst>
          </a:cu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B6A86873-83E8-B2F6-565D-1340B151720E}"/>
              </a:ext>
            </a:extLst>
          </p:cNvPr>
          <p:cNvSpPr/>
          <p:nvPr/>
        </p:nvSpPr>
        <p:spPr>
          <a:xfrm>
            <a:off x="-1" y="1608918"/>
            <a:ext cx="12191999" cy="911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E3AED4A-8BC2-E2DB-94CA-9DAB6344D058}"/>
              </a:ext>
            </a:extLst>
          </p:cNvPr>
          <p:cNvSpPr/>
          <p:nvPr/>
        </p:nvSpPr>
        <p:spPr>
          <a:xfrm>
            <a:off x="1" y="6677247"/>
            <a:ext cx="12191999" cy="1901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477F173-C342-48D8-4F39-8CE2EC696F9E}"/>
              </a:ext>
            </a:extLst>
          </p:cNvPr>
          <p:cNvSpPr/>
          <p:nvPr/>
        </p:nvSpPr>
        <p:spPr>
          <a:xfrm rot="4092292">
            <a:off x="5790668" y="4094517"/>
            <a:ext cx="5446699" cy="1370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6499209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9558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159F0C-2778-EC60-60EF-CA0942D62A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2117A125-9D9D-B086-FB92-03EFCC5AE4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3955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FE71357-D153-F96A-DEFF-AB30CEF8EA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b="1" dirty="0">
                <a:latin typeface="Selawik Semibold" panose="020B0604020202020204" pitchFamily="34" charset="0"/>
              </a:rPr>
              <a:t>Your Industry Future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C978C52B-1930-8327-E4DE-6BC01FDB4C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2021248"/>
            <a:ext cx="8107018" cy="4695905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Selawik Semibold" panose="020B0702040204020203" pitchFamily="34" charset="0"/>
              </a:rPr>
              <a:t>Real Jobs (ZipRecruiter)</a:t>
            </a:r>
          </a:p>
          <a:p>
            <a:pPr marL="0" indent="0">
              <a:buNone/>
            </a:pPr>
            <a:endParaRPr lang="en-US" sz="2400" dirty="0">
              <a:latin typeface="Selawik Semibold" panose="020B0702040204020203" pitchFamily="34" charset="0"/>
            </a:endParaRP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Quantitative Analyst, Philadelphia Phillies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Focus on Computer Vision and Machine Learning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BS, MS, or PhD in STEM</a:t>
            </a:r>
          </a:p>
          <a:p>
            <a:pPr lvl="2"/>
            <a:r>
              <a:rPr lang="en-US" sz="1600" dirty="0" err="1">
                <a:latin typeface="Selawik Semibold" panose="020B0702040204020203" pitchFamily="34" charset="0"/>
              </a:rPr>
              <a:t>PyTorch</a:t>
            </a:r>
            <a:r>
              <a:rPr lang="en-US" sz="1600" dirty="0">
                <a:latin typeface="Selawik Semibold" panose="020B0702040204020203" pitchFamily="34" charset="0"/>
              </a:rPr>
              <a:t>, TensorFlow, </a:t>
            </a:r>
            <a:r>
              <a:rPr lang="en-US" sz="1600" dirty="0" err="1">
                <a:latin typeface="Selawik Semibold" panose="020B0702040204020203" pitchFamily="34" charset="0"/>
              </a:rPr>
              <a:t>Keras</a:t>
            </a:r>
            <a:r>
              <a:rPr lang="en-US" sz="1600" dirty="0">
                <a:latin typeface="Selawik Semibold" panose="020B0702040204020203" pitchFamily="34" charset="0"/>
              </a:rPr>
              <a:t>, OpenCV</a:t>
            </a:r>
          </a:p>
          <a:p>
            <a:pPr lvl="2"/>
            <a:endParaRPr lang="en-US" sz="1600" dirty="0">
              <a:latin typeface="Selawik Semibold" panose="020B0702040204020203" pitchFamily="34" charset="0"/>
            </a:endParaRPr>
          </a:p>
          <a:p>
            <a:pPr lvl="2"/>
            <a:endParaRPr lang="en-US" sz="1400" dirty="0">
              <a:latin typeface="Selawik Semibold" panose="020B0702040204020203" pitchFamily="34" charset="0"/>
            </a:endParaRPr>
          </a:p>
          <a:p>
            <a:pPr lvl="2"/>
            <a:endParaRPr lang="en-US" sz="1800" dirty="0">
              <a:latin typeface="Selawik Semibold" panose="020B0702040204020203" pitchFamily="34" charset="0"/>
            </a:endParaRPr>
          </a:p>
          <a:p>
            <a:pPr lvl="2"/>
            <a:endParaRPr lang="en-US" sz="1600" dirty="0">
              <a:latin typeface="Selawik Semibold" panose="020B0702040204020203" pitchFamily="34" charset="0"/>
            </a:endParaRPr>
          </a:p>
          <a:p>
            <a:endParaRPr lang="en-US" sz="2400" dirty="0">
              <a:latin typeface="Selawik Semibold" panose="020B0702040204020203" pitchFamily="34" charset="0"/>
            </a:endParaRPr>
          </a:p>
          <a:p>
            <a:pPr lvl="1"/>
            <a:endParaRPr lang="en-US" sz="2000" dirty="0">
              <a:latin typeface="Selawik Semibold" panose="020B0702040204020203" pitchFamily="34" charset="0"/>
            </a:endParaRPr>
          </a:p>
          <a:p>
            <a:pPr lvl="2"/>
            <a:endParaRPr lang="en-US" sz="1800" dirty="0">
              <a:latin typeface="Selawik Semibold" panose="020B0702040204020203" pitchFamily="34" charset="0"/>
            </a:endParaRPr>
          </a:p>
          <a:p>
            <a:pPr lvl="1"/>
            <a:endParaRPr lang="en-US" sz="2200" dirty="0">
              <a:latin typeface="Selawik Semibold" panose="020B0702040204020203" pitchFamily="34" charset="0"/>
            </a:endParaRPr>
          </a:p>
        </p:txBody>
      </p:sp>
      <p:pic>
        <p:nvPicPr>
          <p:cNvPr id="4" name="Picture 3" descr="A drawing of a cartoon character&#10;&#10;Description automatically generated">
            <a:extLst>
              <a:ext uri="{FF2B5EF4-FFF2-40B4-BE49-F238E27FC236}">
                <a16:creationId xmlns:a16="http://schemas.microsoft.com/office/drawing/2014/main" id="{32FFBC7C-02B9-7EC1-ABC7-D264AF7F960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16" r="2" b="2"/>
          <a:stretch/>
        </p:blipFill>
        <p:spPr>
          <a:xfrm>
            <a:off x="7471144" y="1700078"/>
            <a:ext cx="4720855" cy="2583792"/>
          </a:xfrm>
          <a:custGeom>
            <a:avLst/>
            <a:gdLst>
              <a:gd name="connsiteX0" fmla="*/ 0 w 5475077"/>
              <a:gd name="connsiteY0" fmla="*/ 0 h 2583792"/>
              <a:gd name="connsiteX1" fmla="*/ 5475077 w 5475077"/>
              <a:gd name="connsiteY1" fmla="*/ 0 h 2583792"/>
              <a:gd name="connsiteX2" fmla="*/ 5475077 w 5475077"/>
              <a:gd name="connsiteY2" fmla="*/ 2583792 h 2583792"/>
              <a:gd name="connsiteX3" fmla="*/ 1197192 w 5475077"/>
              <a:gd name="connsiteY3" fmla="*/ 2583792 h 25837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75077" h="2583792">
                <a:moveTo>
                  <a:pt x="0" y="0"/>
                </a:moveTo>
                <a:lnTo>
                  <a:pt x="5475077" y="0"/>
                </a:lnTo>
                <a:lnTo>
                  <a:pt x="5475077" y="2583792"/>
                </a:lnTo>
                <a:lnTo>
                  <a:pt x="1197192" y="2583792"/>
                </a:lnTo>
                <a:close/>
              </a:path>
            </a:pathLst>
          </a:custGeom>
        </p:spPr>
      </p:pic>
      <p:pic>
        <p:nvPicPr>
          <p:cNvPr id="5" name="Content Placeholder 4" descr="A picture containing indoor&#10;&#10;Description automatically generated">
            <a:extLst>
              <a:ext uri="{FF2B5EF4-FFF2-40B4-BE49-F238E27FC236}">
                <a16:creationId xmlns:a16="http://schemas.microsoft.com/office/drawing/2014/main" id="{3BF0E8CF-4C46-3594-7516-9AB97C24E06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00" r="3" b="6859"/>
          <a:stretch/>
        </p:blipFill>
        <p:spPr>
          <a:xfrm>
            <a:off x="8491869" y="4283870"/>
            <a:ext cx="3700129" cy="2583520"/>
          </a:xfrm>
          <a:custGeom>
            <a:avLst/>
            <a:gdLst>
              <a:gd name="connsiteX0" fmla="*/ 0 w 4277884"/>
              <a:gd name="connsiteY0" fmla="*/ 0 h 2583520"/>
              <a:gd name="connsiteX1" fmla="*/ 4277884 w 4277884"/>
              <a:gd name="connsiteY1" fmla="*/ 0 h 2583520"/>
              <a:gd name="connsiteX2" fmla="*/ 4277884 w 4277884"/>
              <a:gd name="connsiteY2" fmla="*/ 2583520 h 2583520"/>
              <a:gd name="connsiteX3" fmla="*/ 1192437 w 4277884"/>
              <a:gd name="connsiteY3" fmla="*/ 2583520 h 2583520"/>
              <a:gd name="connsiteX4" fmla="*/ 1188085 w 4277884"/>
              <a:gd name="connsiteY4" fmla="*/ 2574129 h 2583520"/>
              <a:gd name="connsiteX5" fmla="*/ 1192715 w 4277884"/>
              <a:gd name="connsiteY5" fmla="*/ 2574129 h 2583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277884" h="2583520">
                <a:moveTo>
                  <a:pt x="0" y="0"/>
                </a:moveTo>
                <a:lnTo>
                  <a:pt x="4277884" y="0"/>
                </a:lnTo>
                <a:lnTo>
                  <a:pt x="4277884" y="2583520"/>
                </a:lnTo>
                <a:lnTo>
                  <a:pt x="1192437" y="2583520"/>
                </a:lnTo>
                <a:lnTo>
                  <a:pt x="1188085" y="2574129"/>
                </a:lnTo>
                <a:lnTo>
                  <a:pt x="1192715" y="2574129"/>
                </a:lnTo>
                <a:close/>
              </a:path>
            </a:pathLst>
          </a:cu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F835728-A1F9-F435-D33B-62FFB44A963A}"/>
              </a:ext>
            </a:extLst>
          </p:cNvPr>
          <p:cNvSpPr/>
          <p:nvPr/>
        </p:nvSpPr>
        <p:spPr>
          <a:xfrm>
            <a:off x="-1" y="1608918"/>
            <a:ext cx="12191999" cy="911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E65FC45-AED2-EEA9-7868-AE1BEAFC8FF8}"/>
              </a:ext>
            </a:extLst>
          </p:cNvPr>
          <p:cNvSpPr/>
          <p:nvPr/>
        </p:nvSpPr>
        <p:spPr>
          <a:xfrm>
            <a:off x="1" y="6677247"/>
            <a:ext cx="12191999" cy="1901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253D057-7E16-91A1-2AA4-F84C7AFFAD0A}"/>
              </a:ext>
            </a:extLst>
          </p:cNvPr>
          <p:cNvSpPr/>
          <p:nvPr/>
        </p:nvSpPr>
        <p:spPr>
          <a:xfrm rot="4092292">
            <a:off x="5790668" y="4094517"/>
            <a:ext cx="5446699" cy="1370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1301425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9558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78DB8A5-BEB5-1FE1-9EB9-DC12CF5867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DDE5C130-B2F6-47BE-EE16-DF572F4A81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3955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EC16CC6-FDDB-6063-9B54-BC3D9A3DDD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b="1" dirty="0">
                <a:latin typeface="Selawik Semibold" panose="020B0604020202020204" pitchFamily="34" charset="0"/>
              </a:rPr>
              <a:t>Your Industry Future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0BDE507D-8184-51E3-7C10-1CBA12B228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2021248"/>
            <a:ext cx="8107018" cy="4695905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Selawik Semibold" panose="020B0702040204020203" pitchFamily="34" charset="0"/>
              </a:rPr>
              <a:t>Real Jobs (tealhq.com)</a:t>
            </a:r>
          </a:p>
          <a:p>
            <a:pPr marL="0" indent="0">
              <a:buNone/>
            </a:pPr>
            <a:endParaRPr lang="en-US" sz="2400" dirty="0">
              <a:latin typeface="Selawik Semibold" panose="020B0702040204020203" pitchFamily="34" charset="0"/>
            </a:endParaRP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Associate (Intern), Milwaukee Brewers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Baseball Research and Development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Develop Visuals and Other for Disseminating Analytical Results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BS or Working on BS in STEM</a:t>
            </a:r>
          </a:p>
          <a:p>
            <a:pPr lvl="2"/>
            <a:endParaRPr lang="en-US" sz="1600" dirty="0">
              <a:latin typeface="Selawik Semibold" panose="020B0702040204020203" pitchFamily="34" charset="0"/>
            </a:endParaRPr>
          </a:p>
          <a:p>
            <a:pPr lvl="2"/>
            <a:endParaRPr lang="en-US" sz="1400" dirty="0">
              <a:latin typeface="Selawik Semibold" panose="020B0702040204020203" pitchFamily="34" charset="0"/>
            </a:endParaRP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Analyst, Minnesota Twins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Advanced Scouting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Travel with Team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In-Game Strategy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R, Python, MATLAB, Julia, STAN,</a:t>
            </a:r>
          </a:p>
          <a:p>
            <a:pPr lvl="2"/>
            <a:r>
              <a:rPr lang="en-US" sz="1600">
                <a:latin typeface="Selawik Semibold" panose="020B0702040204020203" pitchFamily="34" charset="0"/>
              </a:rPr>
              <a:t>SQL</a:t>
            </a:r>
            <a:endParaRPr lang="en-US" sz="1600" dirty="0">
              <a:latin typeface="Selawik Semibold" panose="020B0702040204020203" pitchFamily="34" charset="0"/>
            </a:endParaRPr>
          </a:p>
          <a:p>
            <a:pPr lvl="2"/>
            <a:endParaRPr lang="en-US" sz="1600" dirty="0">
              <a:latin typeface="Selawik Semibold" panose="020B0702040204020203" pitchFamily="34" charset="0"/>
            </a:endParaRPr>
          </a:p>
          <a:p>
            <a:endParaRPr lang="en-US" sz="2400" dirty="0">
              <a:latin typeface="Selawik Semibold" panose="020B0702040204020203" pitchFamily="34" charset="0"/>
            </a:endParaRPr>
          </a:p>
          <a:p>
            <a:pPr lvl="1"/>
            <a:endParaRPr lang="en-US" sz="2000" dirty="0">
              <a:latin typeface="Selawik Semibold" panose="020B0702040204020203" pitchFamily="34" charset="0"/>
            </a:endParaRPr>
          </a:p>
          <a:p>
            <a:pPr lvl="2"/>
            <a:endParaRPr lang="en-US" sz="1800" dirty="0">
              <a:latin typeface="Selawik Semibold" panose="020B0702040204020203" pitchFamily="34" charset="0"/>
            </a:endParaRPr>
          </a:p>
          <a:p>
            <a:pPr lvl="1"/>
            <a:endParaRPr lang="en-US" sz="2200" dirty="0">
              <a:latin typeface="Selawik Semibold" panose="020B0702040204020203" pitchFamily="34" charset="0"/>
            </a:endParaRPr>
          </a:p>
        </p:txBody>
      </p:sp>
      <p:pic>
        <p:nvPicPr>
          <p:cNvPr id="4" name="Picture 3" descr="A drawing of a cartoon character&#10;&#10;Description automatically generated">
            <a:extLst>
              <a:ext uri="{FF2B5EF4-FFF2-40B4-BE49-F238E27FC236}">
                <a16:creationId xmlns:a16="http://schemas.microsoft.com/office/drawing/2014/main" id="{FF20F7C3-E3F9-DD0F-CE7C-3D132FAB391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16" r="2" b="2"/>
          <a:stretch/>
        </p:blipFill>
        <p:spPr>
          <a:xfrm>
            <a:off x="7471144" y="1700078"/>
            <a:ext cx="4720855" cy="2583792"/>
          </a:xfrm>
          <a:custGeom>
            <a:avLst/>
            <a:gdLst>
              <a:gd name="connsiteX0" fmla="*/ 0 w 5475077"/>
              <a:gd name="connsiteY0" fmla="*/ 0 h 2583792"/>
              <a:gd name="connsiteX1" fmla="*/ 5475077 w 5475077"/>
              <a:gd name="connsiteY1" fmla="*/ 0 h 2583792"/>
              <a:gd name="connsiteX2" fmla="*/ 5475077 w 5475077"/>
              <a:gd name="connsiteY2" fmla="*/ 2583792 h 2583792"/>
              <a:gd name="connsiteX3" fmla="*/ 1197192 w 5475077"/>
              <a:gd name="connsiteY3" fmla="*/ 2583792 h 25837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75077" h="2583792">
                <a:moveTo>
                  <a:pt x="0" y="0"/>
                </a:moveTo>
                <a:lnTo>
                  <a:pt x="5475077" y="0"/>
                </a:lnTo>
                <a:lnTo>
                  <a:pt x="5475077" y="2583792"/>
                </a:lnTo>
                <a:lnTo>
                  <a:pt x="1197192" y="2583792"/>
                </a:lnTo>
                <a:close/>
              </a:path>
            </a:pathLst>
          </a:custGeom>
        </p:spPr>
      </p:pic>
      <p:pic>
        <p:nvPicPr>
          <p:cNvPr id="5" name="Content Placeholder 4" descr="A picture containing indoor&#10;&#10;Description automatically generated">
            <a:extLst>
              <a:ext uri="{FF2B5EF4-FFF2-40B4-BE49-F238E27FC236}">
                <a16:creationId xmlns:a16="http://schemas.microsoft.com/office/drawing/2014/main" id="{A0BB78B5-BCC2-77F1-36E1-D238B71899C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00" r="3" b="6859"/>
          <a:stretch/>
        </p:blipFill>
        <p:spPr>
          <a:xfrm>
            <a:off x="8491869" y="4283870"/>
            <a:ext cx="3700129" cy="2583520"/>
          </a:xfrm>
          <a:custGeom>
            <a:avLst/>
            <a:gdLst>
              <a:gd name="connsiteX0" fmla="*/ 0 w 4277884"/>
              <a:gd name="connsiteY0" fmla="*/ 0 h 2583520"/>
              <a:gd name="connsiteX1" fmla="*/ 4277884 w 4277884"/>
              <a:gd name="connsiteY1" fmla="*/ 0 h 2583520"/>
              <a:gd name="connsiteX2" fmla="*/ 4277884 w 4277884"/>
              <a:gd name="connsiteY2" fmla="*/ 2583520 h 2583520"/>
              <a:gd name="connsiteX3" fmla="*/ 1192437 w 4277884"/>
              <a:gd name="connsiteY3" fmla="*/ 2583520 h 2583520"/>
              <a:gd name="connsiteX4" fmla="*/ 1188085 w 4277884"/>
              <a:gd name="connsiteY4" fmla="*/ 2574129 h 2583520"/>
              <a:gd name="connsiteX5" fmla="*/ 1192715 w 4277884"/>
              <a:gd name="connsiteY5" fmla="*/ 2574129 h 2583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277884" h="2583520">
                <a:moveTo>
                  <a:pt x="0" y="0"/>
                </a:moveTo>
                <a:lnTo>
                  <a:pt x="4277884" y="0"/>
                </a:lnTo>
                <a:lnTo>
                  <a:pt x="4277884" y="2583520"/>
                </a:lnTo>
                <a:lnTo>
                  <a:pt x="1192437" y="2583520"/>
                </a:lnTo>
                <a:lnTo>
                  <a:pt x="1188085" y="2574129"/>
                </a:lnTo>
                <a:lnTo>
                  <a:pt x="1192715" y="2574129"/>
                </a:lnTo>
                <a:close/>
              </a:path>
            </a:pathLst>
          </a:cu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5C7503A5-FF60-2541-4970-4B1B42C8528D}"/>
              </a:ext>
            </a:extLst>
          </p:cNvPr>
          <p:cNvSpPr/>
          <p:nvPr/>
        </p:nvSpPr>
        <p:spPr>
          <a:xfrm>
            <a:off x="-1" y="1608918"/>
            <a:ext cx="12191999" cy="911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6530C08-A1E0-D6DB-26AA-21AC91CD14B1}"/>
              </a:ext>
            </a:extLst>
          </p:cNvPr>
          <p:cNvSpPr/>
          <p:nvPr/>
        </p:nvSpPr>
        <p:spPr>
          <a:xfrm>
            <a:off x="1" y="6677247"/>
            <a:ext cx="12191999" cy="1901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D2C1E6A-F581-B80F-8557-40819F3E7E89}"/>
              </a:ext>
            </a:extLst>
          </p:cNvPr>
          <p:cNvSpPr/>
          <p:nvPr/>
        </p:nvSpPr>
        <p:spPr>
          <a:xfrm rot="4092292">
            <a:off x="5790668" y="4094517"/>
            <a:ext cx="5446699" cy="1370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167677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955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A6792F05-2FD4-4F18-815E-15391E8B4A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3955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89AFCC-0FF0-498C-B11F-8990DF0DA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b="1" dirty="0">
                <a:latin typeface="Selawik Semibold" panose="020B0604020202020204" pitchFamily="34" charset="0"/>
              </a:rPr>
              <a:t>Your Industry Future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D995594-59F2-4020-AB6F-751BAE84AD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2021248"/>
            <a:ext cx="7460294" cy="4695905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Selawik Semibold" panose="020B0702040204020203" pitchFamily="34" charset="0"/>
              </a:rPr>
              <a:t>Conferences </a:t>
            </a:r>
          </a:p>
          <a:p>
            <a:pPr marL="0" indent="0">
              <a:buNone/>
            </a:pPr>
            <a:endParaRPr lang="en-US" sz="1100" dirty="0">
              <a:latin typeface="Selawik Semibold" panose="020B0702040204020203" pitchFamily="34" charset="0"/>
            </a:endParaRP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MIT Sloan (March)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International Sports Analytics Conference (July)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UConn Sports Analytics Symposium (April)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OSU Sports Analytics Conference (April)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Carnegie Mellon Sports Analytics Conference (?)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New England Symposium on Stat. in Sports (2025)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Great Lakes Data and Analytics (April)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International Conference on Sports Analytics and Data Visualization (August)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More International Conferences (See Link on Website)</a:t>
            </a:r>
          </a:p>
          <a:p>
            <a:pPr lvl="2"/>
            <a:endParaRPr lang="en-US" sz="1800" dirty="0">
              <a:latin typeface="Selawik Semibold" panose="020B0702040204020203" pitchFamily="34" charset="0"/>
            </a:endParaRPr>
          </a:p>
        </p:txBody>
      </p:sp>
      <p:pic>
        <p:nvPicPr>
          <p:cNvPr id="4" name="Picture 3" descr="A drawing of a cartoon character&#10;&#10;Description automatically generated">
            <a:extLst>
              <a:ext uri="{FF2B5EF4-FFF2-40B4-BE49-F238E27FC236}">
                <a16:creationId xmlns:a16="http://schemas.microsoft.com/office/drawing/2014/main" id="{A7FDC859-D890-4904-9C64-27F43DA9045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16" r="2" b="2"/>
          <a:stretch/>
        </p:blipFill>
        <p:spPr>
          <a:xfrm>
            <a:off x="7471144" y="1700078"/>
            <a:ext cx="4720855" cy="2583792"/>
          </a:xfrm>
          <a:custGeom>
            <a:avLst/>
            <a:gdLst>
              <a:gd name="connsiteX0" fmla="*/ 0 w 5475077"/>
              <a:gd name="connsiteY0" fmla="*/ 0 h 2583792"/>
              <a:gd name="connsiteX1" fmla="*/ 5475077 w 5475077"/>
              <a:gd name="connsiteY1" fmla="*/ 0 h 2583792"/>
              <a:gd name="connsiteX2" fmla="*/ 5475077 w 5475077"/>
              <a:gd name="connsiteY2" fmla="*/ 2583792 h 2583792"/>
              <a:gd name="connsiteX3" fmla="*/ 1197192 w 5475077"/>
              <a:gd name="connsiteY3" fmla="*/ 2583792 h 25837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75077" h="2583792">
                <a:moveTo>
                  <a:pt x="0" y="0"/>
                </a:moveTo>
                <a:lnTo>
                  <a:pt x="5475077" y="0"/>
                </a:lnTo>
                <a:lnTo>
                  <a:pt x="5475077" y="2583792"/>
                </a:lnTo>
                <a:lnTo>
                  <a:pt x="1197192" y="2583792"/>
                </a:lnTo>
                <a:close/>
              </a:path>
            </a:pathLst>
          </a:custGeom>
        </p:spPr>
      </p:pic>
      <p:pic>
        <p:nvPicPr>
          <p:cNvPr id="5" name="Content Placeholder 4" descr="A picture containing indoor&#10;&#10;Description automatically generated">
            <a:extLst>
              <a:ext uri="{FF2B5EF4-FFF2-40B4-BE49-F238E27FC236}">
                <a16:creationId xmlns:a16="http://schemas.microsoft.com/office/drawing/2014/main" id="{A58F0E55-21F3-485B-A07F-1CE74177BDD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00" r="3" b="6859"/>
          <a:stretch/>
        </p:blipFill>
        <p:spPr>
          <a:xfrm>
            <a:off x="8491869" y="4283870"/>
            <a:ext cx="3700129" cy="2583520"/>
          </a:xfrm>
          <a:custGeom>
            <a:avLst/>
            <a:gdLst>
              <a:gd name="connsiteX0" fmla="*/ 0 w 4277884"/>
              <a:gd name="connsiteY0" fmla="*/ 0 h 2583520"/>
              <a:gd name="connsiteX1" fmla="*/ 4277884 w 4277884"/>
              <a:gd name="connsiteY1" fmla="*/ 0 h 2583520"/>
              <a:gd name="connsiteX2" fmla="*/ 4277884 w 4277884"/>
              <a:gd name="connsiteY2" fmla="*/ 2583520 h 2583520"/>
              <a:gd name="connsiteX3" fmla="*/ 1192437 w 4277884"/>
              <a:gd name="connsiteY3" fmla="*/ 2583520 h 2583520"/>
              <a:gd name="connsiteX4" fmla="*/ 1188085 w 4277884"/>
              <a:gd name="connsiteY4" fmla="*/ 2574129 h 2583520"/>
              <a:gd name="connsiteX5" fmla="*/ 1192715 w 4277884"/>
              <a:gd name="connsiteY5" fmla="*/ 2574129 h 2583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277884" h="2583520">
                <a:moveTo>
                  <a:pt x="0" y="0"/>
                </a:moveTo>
                <a:lnTo>
                  <a:pt x="4277884" y="0"/>
                </a:lnTo>
                <a:lnTo>
                  <a:pt x="4277884" y="2583520"/>
                </a:lnTo>
                <a:lnTo>
                  <a:pt x="1192437" y="2583520"/>
                </a:lnTo>
                <a:lnTo>
                  <a:pt x="1188085" y="2574129"/>
                </a:lnTo>
                <a:lnTo>
                  <a:pt x="1192715" y="2574129"/>
                </a:lnTo>
                <a:close/>
              </a:path>
            </a:pathLst>
          </a:cu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2901312-C3C2-4CEC-80EF-823AB4FBB726}"/>
              </a:ext>
            </a:extLst>
          </p:cNvPr>
          <p:cNvSpPr/>
          <p:nvPr/>
        </p:nvSpPr>
        <p:spPr>
          <a:xfrm>
            <a:off x="-1" y="1608918"/>
            <a:ext cx="12191999" cy="911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D0A7C9C-CA2C-4B9B-A125-2D09D5573B44}"/>
              </a:ext>
            </a:extLst>
          </p:cNvPr>
          <p:cNvSpPr/>
          <p:nvPr/>
        </p:nvSpPr>
        <p:spPr>
          <a:xfrm>
            <a:off x="1" y="6677247"/>
            <a:ext cx="12191999" cy="1901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4A085FC-1866-46D4-97F7-51AA45E48D4F}"/>
              </a:ext>
            </a:extLst>
          </p:cNvPr>
          <p:cNvSpPr/>
          <p:nvPr/>
        </p:nvSpPr>
        <p:spPr>
          <a:xfrm rot="4092292">
            <a:off x="5790668" y="4094517"/>
            <a:ext cx="5446699" cy="1370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6640421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955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1DB7C82F-AB7E-4F0C-B829-FA1B9C4151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6172782" cy="6858000"/>
          </a:xfrm>
          <a:custGeom>
            <a:avLst/>
            <a:gdLst>
              <a:gd name="connsiteX0" fmla="*/ 6172782 w 6172782"/>
              <a:gd name="connsiteY0" fmla="*/ 0 h 6858000"/>
              <a:gd name="connsiteX1" fmla="*/ 69075 w 6172782"/>
              <a:gd name="connsiteY1" fmla="*/ 0 h 6858000"/>
              <a:gd name="connsiteX2" fmla="*/ 35131 w 6172782"/>
              <a:gd name="connsiteY2" fmla="*/ 267128 h 6858000"/>
              <a:gd name="connsiteX3" fmla="*/ 0 w 6172782"/>
              <a:gd name="connsiteY3" fmla="*/ 962845 h 6858000"/>
              <a:gd name="connsiteX4" fmla="*/ 3276103 w 6172782"/>
              <a:gd name="connsiteY4" fmla="*/ 6782205 h 6858000"/>
              <a:gd name="connsiteX5" fmla="*/ 3407923 w 6172782"/>
              <a:gd name="connsiteY5" fmla="*/ 6858000 h 6858000"/>
              <a:gd name="connsiteX6" fmla="*/ 6172782 w 6172782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172782" h="6858000">
                <a:moveTo>
                  <a:pt x="6172782" y="0"/>
                </a:moveTo>
                <a:lnTo>
                  <a:pt x="69075" y="0"/>
                </a:lnTo>
                <a:lnTo>
                  <a:pt x="35131" y="267128"/>
                </a:lnTo>
                <a:cubicBezTo>
                  <a:pt x="11901" y="495874"/>
                  <a:pt x="0" y="727970"/>
                  <a:pt x="0" y="962845"/>
                </a:cubicBezTo>
                <a:cubicBezTo>
                  <a:pt x="0" y="3429034"/>
                  <a:pt x="1312002" y="5588789"/>
                  <a:pt x="3276103" y="6782205"/>
                </a:cubicBezTo>
                <a:lnTo>
                  <a:pt x="3407923" y="6858000"/>
                </a:lnTo>
                <a:lnTo>
                  <a:pt x="6172782" y="6858000"/>
                </a:lnTo>
                <a:close/>
              </a:path>
            </a:pathLst>
          </a:cu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Picture 4" descr="A picture containing indoor&#10;&#10;Description automatically generated">
            <a:extLst>
              <a:ext uri="{FF2B5EF4-FFF2-40B4-BE49-F238E27FC236}">
                <a16:creationId xmlns:a16="http://schemas.microsoft.com/office/drawing/2014/main" id="{48589EA3-03B9-4D42-8282-8AC52D63CBF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805" r="19804" b="-1"/>
          <a:stretch/>
        </p:blipFill>
        <p:spPr>
          <a:xfrm>
            <a:off x="20" y="10"/>
            <a:ext cx="6024134" cy="6857990"/>
          </a:xfrm>
          <a:custGeom>
            <a:avLst/>
            <a:gdLst>
              <a:gd name="connsiteX0" fmla="*/ 0 w 6024154"/>
              <a:gd name="connsiteY0" fmla="*/ 0 h 6858000"/>
              <a:gd name="connsiteX1" fmla="*/ 5953780 w 6024154"/>
              <a:gd name="connsiteY1" fmla="*/ 0 h 6858000"/>
              <a:gd name="connsiteX2" fmla="*/ 5989880 w 6024154"/>
              <a:gd name="connsiteY2" fmla="*/ 284091 h 6858000"/>
              <a:gd name="connsiteX3" fmla="*/ 6024154 w 6024154"/>
              <a:gd name="connsiteY3" fmla="*/ 962844 h 6858000"/>
              <a:gd name="connsiteX4" fmla="*/ 2549934 w 6024154"/>
              <a:gd name="connsiteY4" fmla="*/ 6800152 h 6858000"/>
              <a:gd name="connsiteX5" fmla="*/ 2436987 w 6024154"/>
              <a:gd name="connsiteY5" fmla="*/ 6858000 h 6858000"/>
              <a:gd name="connsiteX6" fmla="*/ 0 w 6024154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24154" h="6858000">
                <a:moveTo>
                  <a:pt x="0" y="0"/>
                </a:moveTo>
                <a:lnTo>
                  <a:pt x="5953780" y="0"/>
                </a:lnTo>
                <a:lnTo>
                  <a:pt x="5989880" y="284091"/>
                </a:lnTo>
                <a:cubicBezTo>
                  <a:pt x="6012544" y="507260"/>
                  <a:pt x="6024154" y="733696"/>
                  <a:pt x="6024154" y="962844"/>
                </a:cubicBezTo>
                <a:cubicBezTo>
                  <a:pt x="6024154" y="3483472"/>
                  <a:pt x="4619336" y="5675986"/>
                  <a:pt x="2549934" y="6800152"/>
                </a:cubicBezTo>
                <a:lnTo>
                  <a:pt x="2436987" y="6858000"/>
                </a:lnTo>
                <a:lnTo>
                  <a:pt x="0" y="6858000"/>
                </a:lnTo>
                <a:close/>
              </a:path>
            </a:pathLst>
          </a:custGeom>
          <a:ln w="28575">
            <a:noFill/>
          </a:ln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0B9C460C-DD3D-4F1C-9FEE-8EC7228DF8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32779" y="359964"/>
            <a:ext cx="7834193" cy="1264588"/>
          </a:xfrm>
        </p:spPr>
        <p:txBody>
          <a:bodyPr anchor="ctr">
            <a:normAutofit/>
          </a:bodyPr>
          <a:lstStyle/>
          <a:p>
            <a:pPr algn="r"/>
            <a:r>
              <a:rPr lang="en-US">
                <a:latin typeface="Selawik Semibold" panose="020B0702040204020203" pitchFamily="34" charset="0"/>
              </a:rPr>
              <a:t>Final Inspiration</a:t>
            </a:r>
            <a:endParaRPr lang="en-US" dirty="0">
              <a:latin typeface="Selawik Semibold" panose="020B0702040204020203" pitchFamily="34" charset="0"/>
            </a:endParaRPr>
          </a:p>
        </p:txBody>
      </p:sp>
      <p:sp>
        <p:nvSpPr>
          <p:cNvPr id="16" name="Content Placeholder 8">
            <a:extLst>
              <a:ext uri="{FF2B5EF4-FFF2-40B4-BE49-F238E27FC236}">
                <a16:creationId xmlns:a16="http://schemas.microsoft.com/office/drawing/2014/main" id="{EFC1D832-5298-413A-ACCB-93C0C72C636D}"/>
              </a:ext>
            </a:extLst>
          </p:cNvPr>
          <p:cNvSpPr txBox="1">
            <a:spLocks/>
          </p:cNvSpPr>
          <p:nvPr/>
        </p:nvSpPr>
        <p:spPr>
          <a:xfrm>
            <a:off x="5160335" y="4209296"/>
            <a:ext cx="6725573" cy="32470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2800" dirty="0">
                <a:latin typeface="Selawik Semibold" panose="020B0702040204020203" pitchFamily="34" charset="0"/>
              </a:rPr>
              <a:t> Defense wins championships. </a:t>
            </a:r>
          </a:p>
          <a:p>
            <a:pPr algn="r"/>
            <a:r>
              <a:rPr lang="en-US" sz="2800" dirty="0">
                <a:latin typeface="Selawik Semibold" panose="020B0702040204020203" pitchFamily="34" charset="0"/>
              </a:rPr>
              <a:t>Offense wins contracts.</a:t>
            </a:r>
          </a:p>
          <a:p>
            <a:pPr algn="r"/>
            <a:r>
              <a:rPr lang="en-US" sz="2800" dirty="0">
                <a:latin typeface="Selawik Semibold" panose="020B0702040204020203" pitchFamily="34" charset="0"/>
              </a:rPr>
              <a:t>Be offensive. </a:t>
            </a:r>
          </a:p>
          <a:p>
            <a:pPr algn="r"/>
            <a:endParaRPr lang="en-US" sz="2800" dirty="0">
              <a:latin typeface="Selawik Semibold" panose="020B0702040204020203" pitchFamily="34" charset="0"/>
            </a:endParaRPr>
          </a:p>
          <a:p>
            <a:pPr algn="r"/>
            <a:r>
              <a:rPr lang="en-US" sz="2800" dirty="0">
                <a:latin typeface="Selawik Semibold" panose="020B0702040204020203" pitchFamily="34" charset="0"/>
              </a:rPr>
              <a:t>- Mahatma Mario</a:t>
            </a:r>
          </a:p>
          <a:p>
            <a:pPr lvl="2" algn="r"/>
            <a:endParaRPr lang="en-US" sz="2800" dirty="0">
              <a:latin typeface="Selawik Semibold" panose="020B0702040204020203" pitchFamily="34" charset="0"/>
            </a:endParaRPr>
          </a:p>
          <a:p>
            <a:pPr lvl="2" algn="r"/>
            <a:endParaRPr lang="en-US" sz="2800" dirty="0">
              <a:latin typeface="Selawik Semibold" panose="020B0702040204020203" pitchFamily="34" charset="0"/>
            </a:endParaRPr>
          </a:p>
          <a:p>
            <a:pPr lvl="2" algn="r"/>
            <a:endParaRPr lang="en-US" sz="2800" dirty="0">
              <a:latin typeface="Selawik Semibold" panose="020B07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9347506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2884</TotalTime>
  <Words>1194</Words>
  <Application>Microsoft Office PowerPoint</Application>
  <PresentationFormat>Widescreen</PresentationFormat>
  <Paragraphs>300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9" baseType="lpstr">
      <vt:lpstr>Arial</vt:lpstr>
      <vt:lpstr>Calibri</vt:lpstr>
      <vt:lpstr>Calibri Light</vt:lpstr>
      <vt:lpstr>Cambria Math</vt:lpstr>
      <vt:lpstr>Selawik Semibold</vt:lpstr>
      <vt:lpstr>Office Theme</vt:lpstr>
      <vt:lpstr>Sports Analytics III</vt:lpstr>
      <vt:lpstr>Industry Past</vt:lpstr>
      <vt:lpstr>Industry Past</vt:lpstr>
      <vt:lpstr>Industry Past</vt:lpstr>
      <vt:lpstr>Industry Past</vt:lpstr>
      <vt:lpstr>Industry Past</vt:lpstr>
      <vt:lpstr>From Past to Present</vt:lpstr>
      <vt:lpstr>Industry Present</vt:lpstr>
      <vt:lpstr>Industry Present</vt:lpstr>
      <vt:lpstr>Industry Present</vt:lpstr>
      <vt:lpstr>Industry Present</vt:lpstr>
      <vt:lpstr>Industry Present</vt:lpstr>
      <vt:lpstr>Industry Present</vt:lpstr>
      <vt:lpstr>Industry Present</vt:lpstr>
      <vt:lpstr>Industry Present</vt:lpstr>
      <vt:lpstr>Your Industry Future</vt:lpstr>
      <vt:lpstr>Your Industry Future</vt:lpstr>
      <vt:lpstr>Your Industry Future</vt:lpstr>
      <vt:lpstr>Your Industry Future</vt:lpstr>
      <vt:lpstr>Your Industry Future</vt:lpstr>
      <vt:lpstr>Your Industry Future</vt:lpstr>
      <vt:lpstr>Your Industry Future</vt:lpstr>
      <vt:lpstr>Final Inspiration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Sports Analytics I</dc:title>
  <dc:creator>Super Mario</dc:creator>
  <cp:lastModifiedBy>Giacomazzo, Mario Sy John</cp:lastModifiedBy>
  <cp:revision>95</cp:revision>
  <dcterms:created xsi:type="dcterms:W3CDTF">2019-08-23T03:13:37Z</dcterms:created>
  <dcterms:modified xsi:type="dcterms:W3CDTF">2026-01-16T15:59:25Z</dcterms:modified>
</cp:coreProperties>
</file>