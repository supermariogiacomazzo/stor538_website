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98" r:id="rId2"/>
    <p:sldId id="350" r:id="rId3"/>
    <p:sldId id="351" r:id="rId4"/>
    <p:sldId id="353" r:id="rId5"/>
    <p:sldId id="354" r:id="rId6"/>
    <p:sldId id="337" r:id="rId7"/>
    <p:sldId id="341" r:id="rId8"/>
    <p:sldId id="346" r:id="rId9"/>
    <p:sldId id="347" r:id="rId10"/>
    <p:sldId id="348" r:id="rId11"/>
    <p:sldId id="349" r:id="rId12"/>
    <p:sldId id="355" r:id="rId13"/>
    <p:sldId id="356" r:id="rId14"/>
    <p:sldId id="28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5583"/>
    <a:srgbClr val="FF0000"/>
    <a:srgbClr val="F76464"/>
    <a:srgbClr val="882E2E"/>
    <a:srgbClr val="DB5B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72" autoAdjust="0"/>
    <p:restoredTop sz="94991" autoAdjust="0"/>
  </p:normalViewPr>
  <p:slideViewPr>
    <p:cSldViewPr snapToGrid="0">
      <p:cViewPr varScale="1">
        <p:scale>
          <a:sx n="88" d="100"/>
          <a:sy n="88" d="100"/>
        </p:scale>
        <p:origin x="72" y="5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E5E84-956F-4423-97B3-5936A6D8EEE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D9EF6-5B6D-4923-9412-628692DCC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90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EFD90-18A5-461A-97B5-BF5D964D2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F3264F-69B9-437C-A766-FC30EF0FB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968FE-277D-4FAE-A16D-32913B016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A93C4-52E7-4696-B94F-37CFF7B9A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EB5F3-DE9E-4FD6-B37A-94BE3D410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591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CEA10-8D81-465C-81FF-EA62D730A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3FD49-B406-49EC-8015-D32BF2193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6DA73-9FF6-4552-830B-364450604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84263-C145-4184-9AB8-C0184BF6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AD532-E280-4728-A9EE-56C0B5124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44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CD4AA-A53E-4146-9CDB-2F0A94CD3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2CE9F-D854-4A48-8BE9-C34C23BB5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F39BC-7DAB-4116-847E-1920F11F9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FE6BE-067B-4573-98ED-6E55CD1B6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B43CF-83B4-43C4-AB95-4DB39B461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05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B937E-605B-4EAD-A5F0-E4BE62960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AECCE-AF5E-48A1-92E9-086187BFA4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40F2E-CBC6-4A0E-943C-CC4C0CE79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68192-586B-4EC7-8DA5-137D4E3B4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5F421-F128-432A-86E5-27970BF48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0C05C-066A-4700-BD42-A159CD70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00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A41D-7EC3-449B-851E-0F77B8336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C785B-10A6-4B50-B1BC-1A17305F3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AF710-8ED1-4FE8-9EE1-B574629CA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C2A21A-3F2A-4824-BCE2-9A7772A8C2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67A615-D4BC-4095-9C20-CD4F9BF98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CCACE0-B120-48AC-AF25-A247F93B6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8BC188-04E8-4C76-968E-6726720F3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D8CCCD-71D1-4F3F-A403-6224E3F85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46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9B1AC-EC2A-4BD4-91CC-AFB7D17F8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65E60F-4C44-4CAF-AB05-25729A2AB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3677B5-CBF4-4458-93AE-155D078C4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E60569-84C5-4DF4-A2BF-DCB0FEF49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624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ED8FF8-0842-405C-9C34-FB6F4841C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E4E9F5-EE5B-46BE-BE67-A4A9E1FDC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B2951-4B33-4835-9113-98118792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58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2DF96-69DF-4F06-A7B9-F6AEDE53E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0C669-C0D6-43D8-BDC1-428B0BFDB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57871-B9A5-4AF1-8C22-5EFAB20D0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80336-9845-4157-B43A-2DA162111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BBC2E-00D4-4B98-A70F-8B43C6540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0F678-C6B2-4319-AFF1-E313FB2D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018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38E65-2B5B-449C-9BD6-052C2D705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0A7755-3ABB-4B90-9CA8-8F1C1DE30F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AF249-C3B4-48AC-8A9B-0AE469167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72F56-0F14-4C38-A91D-F297CE54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EE1E0-7248-4931-83D5-B20FBF601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E2062-542F-4254-A653-03548B1A2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46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CD8C-6E53-4F40-8380-A92F3B994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38C0C9-02DA-4CEC-85ED-72230B054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42F39-2249-4A7F-A3D2-6D10985A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54834-23F0-4572-9180-C7FD81522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99F3B-3D9B-4B75-96D1-264C43EE8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99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D029F3-D01E-4258-B9B7-98C4FCF70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11006-B6E1-4AAD-84CD-B296071D5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FB41D-AAC0-41AD-B89E-2A54D14EB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6A8BA-9134-45A5-B9C2-7F06ACC05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D21FB-D40F-4086-B1EF-D48D15BEE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398F0C-B37D-42DC-A26E-3F2DE9A0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23FA3-1FB5-45B6-AED5-AA46BE35C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0C43-94CF-49C0-969C-E320D7A0F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1C039-66A3-4640-815B-3B5A8B7D868D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B117C-3B02-46C9-8C04-D8B212580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44BE7-C0B5-4B71-9B7D-446B8E2D9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77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4619768" y="0"/>
            <a:ext cx="7572232" cy="6858000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B5445C-8F3E-4F4B-B272-8D9F0BC49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0658" y="839084"/>
            <a:ext cx="7572232" cy="930447"/>
          </a:xfrm>
        </p:spPr>
        <p:txBody>
          <a:bodyPr>
            <a:noAutofit/>
          </a:bodyPr>
          <a:lstStyle/>
          <a:p>
            <a:r>
              <a:rPr lang="en-US" sz="8000" dirty="0">
                <a:solidFill>
                  <a:srgbClr val="FFFFFF"/>
                </a:solidFill>
                <a:latin typeface="Selawik Semibold" panose="020B0702040204020203" pitchFamily="34" charset="0"/>
              </a:rPr>
              <a:t>Baseball VI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C54F8-420D-42C9-AB41-8EA29A411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0658" y="6322060"/>
            <a:ext cx="7572232" cy="420001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  <a:latin typeface="Selawik Semibold" panose="020B0702040204020203" pitchFamily="34" charset="0"/>
              </a:rPr>
              <a:t>Produced by Dr. Mario | UNC </a:t>
            </a:r>
            <a:r>
              <a:rPr lang="en-US">
                <a:solidFill>
                  <a:schemeClr val="bg1"/>
                </a:solidFill>
                <a:latin typeface="Selawik Semibold" panose="020B0702040204020203" pitchFamily="34" charset="0"/>
              </a:rPr>
              <a:t>STOR 538</a:t>
            </a:r>
            <a:endParaRPr lang="en-US" dirty="0">
              <a:solidFill>
                <a:schemeClr val="bg1"/>
              </a:solidFill>
              <a:latin typeface="Selawik Semibold" panose="020B0702040204020203" pitchFamily="34" charset="0"/>
            </a:endParaRPr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-87960" y="-104313"/>
            <a:ext cx="4707728" cy="6962313"/>
          </a:xfrm>
          <a:prstGeom prst="rect">
            <a:avLst/>
          </a:prstGeom>
        </p:spPr>
      </p:pic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546" y="2553610"/>
            <a:ext cx="2684015" cy="268401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1278981" y="3345872"/>
            <a:ext cx="6858000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B5B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393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0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Win Probability Added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7C2CC-416F-4D29-84CF-D1F8B766EE5F}"/>
              </a:ext>
            </a:extLst>
          </p:cNvPr>
          <p:cNvSpPr txBox="1"/>
          <p:nvPr/>
        </p:nvSpPr>
        <p:spPr>
          <a:xfrm>
            <a:off x="3080081" y="1520792"/>
            <a:ext cx="9027282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Motivation: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1951 Playoffs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New York Giants (H) Versus Brooklyn Dodgers (A)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Situation: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9</a:t>
            </a:r>
            <a:r>
              <a:rPr lang="en-US" sz="2400" baseline="30000" dirty="0">
                <a:solidFill>
                  <a:schemeClr val="bg1"/>
                </a:solidFill>
                <a:latin typeface="Selawik Semibold" panose="020B0702040204020203" pitchFamily="34" charset="0"/>
              </a:rPr>
              <a:t>th</a:t>
            </a: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 inning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Giants Losing By Two Runs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Runners on Second and Third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1 Out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Currently, Giants Have 27% Chance to Win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Bobby Thomson HR to Win Game Against Ralph </a:t>
            </a:r>
            <a:r>
              <a:rPr lang="en-US" sz="2400" dirty="0" err="1">
                <a:solidFill>
                  <a:schemeClr val="bg1"/>
                </a:solidFill>
                <a:latin typeface="Selawik Semibold" panose="020B0702040204020203" pitchFamily="34" charset="0"/>
              </a:rPr>
              <a:t>Branca</a:t>
            </a: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Now, the Giants Have 100% Chance to Win Game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Goal: Measure an Athlete’s Ability to Help Team Win</a:t>
            </a: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662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0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Win Probability Added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7C2CC-416F-4D29-84CF-D1F8B766EE5F}"/>
              </a:ext>
            </a:extLst>
          </p:cNvPr>
          <p:cNvSpPr txBox="1"/>
          <p:nvPr/>
        </p:nvSpPr>
        <p:spPr>
          <a:xfrm>
            <a:off x="3080081" y="1520792"/>
            <a:ext cx="9027282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Win Probability Added (WPA)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Based off Scenario: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Thomson’s WPA: 1-0.27 = 0.73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Selawik Semibold" panose="020B0702040204020203" pitchFamily="34" charset="0"/>
              </a:rPr>
              <a:t>Branca’s</a:t>
            </a: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 WPA: 0-0.73 = </a:t>
            </a:r>
            <a:r>
              <a:rPr lang="en-US" sz="2000" dirty="0">
                <a:solidFill>
                  <a:srgbClr val="FF0000"/>
                </a:solidFill>
                <a:latin typeface="Selawik Semibold" panose="020B0702040204020203" pitchFamily="34" charset="0"/>
              </a:rPr>
              <a:t>-0.73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WPA of a Player is a Difference Between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Win Probability After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Win Probability Before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WPA Changes for Every Plate Appearance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Any Problems in This? Imagine Thomson Got an In-the-Park HR</a:t>
            </a:r>
          </a:p>
        </p:txBody>
      </p:sp>
      <p:pic>
        <p:nvPicPr>
          <p:cNvPr id="3" name="Picture 2" descr="Table displaying rating categories alongside corresponding WPA values, ranging from +6.0 for Excellent to -3.0 for Awful. The table highlights a scale of performance metrics with positive values indicating better ratings and negative values indicating worse ratings.">
            <a:extLst>
              <a:ext uri="{FF2B5EF4-FFF2-40B4-BE49-F238E27FC236}">
                <a16:creationId xmlns:a16="http://schemas.microsoft.com/office/drawing/2014/main" id="{C08903AB-2B25-853E-EC28-A2AF6E209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6212" y="1687571"/>
            <a:ext cx="2847975" cy="2781300"/>
          </a:xfrm>
          <a:prstGeom prst="rect">
            <a:avLst/>
          </a:prstGeom>
          <a:ln w="25400">
            <a:solidFill>
              <a:schemeClr val="dk1"/>
            </a:solidFill>
          </a:ln>
        </p:spPr>
      </p:pic>
    </p:spTree>
    <p:extLst>
      <p:ext uri="{BB962C8B-B14F-4D97-AF65-F5344CB8AC3E}">
        <p14:creationId xmlns:p14="http://schemas.microsoft.com/office/powerpoint/2010/main" val="4291400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0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Win Probability Added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7C2CC-416F-4D29-84CF-D1F8B766EE5F}"/>
              </a:ext>
            </a:extLst>
          </p:cNvPr>
          <p:cNvSpPr txBox="1"/>
          <p:nvPr/>
        </p:nvSpPr>
        <p:spPr>
          <a:xfrm>
            <a:off x="3080081" y="1520792"/>
            <a:ext cx="902728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FanGraphs Calculation of WPA in 2019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Relief Pitchers Benefit From This Metric</a:t>
            </a: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</p:txBody>
      </p:sp>
      <p:pic>
        <p:nvPicPr>
          <p:cNvPr id="3" name="Picture 2" descr="Table listing top 10 baseball players ranked by Wins Above Replacement (WPA), including player names, teams, and WPA values. Christian Yelich from Brewers leads with a WPA of 7.34, followed by Cody Bellinger from Dodgers at 5.41, highlighting key contributors across various MLB teams.">
            <a:extLst>
              <a:ext uri="{FF2B5EF4-FFF2-40B4-BE49-F238E27FC236}">
                <a16:creationId xmlns:a16="http://schemas.microsoft.com/office/drawing/2014/main" id="{4CCE90DB-4B4C-2D62-401B-48EA02358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8531" y="2012263"/>
            <a:ext cx="3676606" cy="29412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AF314E-BEB5-2347-F594-A94233F8259E}"/>
              </a:ext>
            </a:extLst>
          </p:cNvPr>
          <p:cNvSpPr txBox="1"/>
          <p:nvPr/>
        </p:nvSpPr>
        <p:spPr>
          <a:xfrm>
            <a:off x="5094944" y="5187576"/>
            <a:ext cx="4550768" cy="400110"/>
          </a:xfrm>
          <a:prstGeom prst="rect">
            <a:avLst/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Can Be Interpreted in Wins Added</a:t>
            </a:r>
          </a:p>
        </p:txBody>
      </p:sp>
      <p:pic>
        <p:nvPicPr>
          <p:cNvPr id="7" name="Picture 6" descr="Table listing top 10 baseball pitchers ranked by Wins Probability Added (WPA), including player names, teams, and WPA values. Justin Verlander from Astros leads with 5.19 WPA, followed by Hyun-Jin Ryu of Dodgers at 4.33, highlighting key contributors to team success.&#10;&#10;AI-generated content may be incorrect.">
            <a:extLst>
              <a:ext uri="{FF2B5EF4-FFF2-40B4-BE49-F238E27FC236}">
                <a16:creationId xmlns:a16="http://schemas.microsoft.com/office/drawing/2014/main" id="{4772F8A7-CE3D-F038-DD3B-943C06679B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328" y="2016320"/>
            <a:ext cx="3556423" cy="293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71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0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Win Probability Added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7C2CC-416F-4D29-84CF-D1F8B766EE5F}"/>
              </a:ext>
            </a:extLst>
          </p:cNvPr>
          <p:cNvSpPr txBox="1"/>
          <p:nvPr/>
        </p:nvSpPr>
        <p:spPr>
          <a:xfrm>
            <a:off x="3080081" y="1520792"/>
            <a:ext cx="902728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Fielding Ratings Into WPA (Read Chapter 7)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Prerequisites: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Outs Above Average (OAA)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Runs Prevented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10 Runs = 1 Win (Pythagorean Method)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Requirement: Convert Runs Prevented into Wins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Example: Cody Bellinger 2019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WPA = 5.41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Fielding Prevented 8 Runs Above Average (STATCAST)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WPA with Fielding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F5E27D4-13B0-D6CB-0BB0-4A3FD9AA7B51}"/>
                  </a:ext>
                </a:extLst>
              </p:cNvPr>
              <p:cNvSpPr txBox="1"/>
              <p:nvPr/>
            </p:nvSpPr>
            <p:spPr>
              <a:xfrm>
                <a:off x="6903981" y="5752443"/>
                <a:ext cx="3728745" cy="783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𝟒𝟏</m:t>
                      </m:r>
                      <m:r>
                        <a:rPr lang="en-US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US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F5E27D4-13B0-D6CB-0BB0-4A3FD9AA7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981" y="5752443"/>
                <a:ext cx="3728745" cy="7837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2124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-2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Win Probability Added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7C2CC-416F-4D29-84CF-D1F8B766EE5F}"/>
              </a:ext>
            </a:extLst>
          </p:cNvPr>
          <p:cNvSpPr txBox="1"/>
          <p:nvPr/>
        </p:nvSpPr>
        <p:spPr>
          <a:xfrm>
            <a:off x="3080081" y="1520792"/>
            <a:ext cx="8954694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Base Running Into WPA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Good Base Runner Described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latin typeface="Selawik Semibold" panose="020B0702040204020203" pitchFamily="34" charset="0"/>
              </a:rPr>
              <a:t>Able to Take Extra Bases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elawik Semibold" panose="020B0702040204020203" pitchFamily="34" charset="0"/>
              </a:rPr>
              <a:t>Rarely Caught Stealing and Stealing Often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elawik Semibold" panose="020B0702040204020203" pitchFamily="34" charset="0"/>
              </a:rPr>
              <a:t>Rarely Caught in Double Plays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FanGraphs Metrics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Ultimate Base Running (UBR)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Weighted Stolen Bases (</a:t>
            </a:r>
            <a:r>
              <a:rPr lang="en-US" sz="2000" dirty="0" err="1">
                <a:solidFill>
                  <a:schemeClr val="bg1"/>
                </a:solidFill>
                <a:latin typeface="Selawik Semibold" panose="020B0702040204020203" pitchFamily="34" charset="0"/>
              </a:rPr>
              <a:t>wSB</a:t>
            </a: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Weighted Ground Into Double Play (</a:t>
            </a:r>
            <a:r>
              <a:rPr lang="en-US" sz="2000" dirty="0" err="1">
                <a:solidFill>
                  <a:schemeClr val="bg1"/>
                </a:solidFill>
                <a:latin typeface="Selawik Semibold" panose="020B0702040204020203" pitchFamily="34" charset="0"/>
              </a:rPr>
              <a:t>wGDP</a:t>
            </a: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All Three Measure Runs Added Relative to Average Player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Example: Billy Hamilton 2016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UBR = 4.1, </a:t>
            </a:r>
            <a:r>
              <a:rPr lang="en-US" sz="2000" dirty="0" err="1">
                <a:solidFill>
                  <a:schemeClr val="bg1"/>
                </a:solidFill>
                <a:latin typeface="Selawik Semibold" panose="020B0702040204020203" pitchFamily="34" charset="0"/>
              </a:rPr>
              <a:t>wGDP</a:t>
            </a: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 = 0.6, </a:t>
            </a:r>
            <a:r>
              <a:rPr lang="en-US" sz="2000" dirty="0" err="1">
                <a:solidFill>
                  <a:schemeClr val="bg1"/>
                </a:solidFill>
                <a:latin typeface="Selawik Semibold" panose="020B0702040204020203" pitchFamily="34" charset="0"/>
              </a:rPr>
              <a:t>wSB</a:t>
            </a: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 = 8.1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Baserunning Runs Added = 12.8 Runs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Add 1.28 Wins to WPA</a:t>
            </a:r>
          </a:p>
        </p:txBody>
      </p:sp>
    </p:spTree>
    <p:extLst>
      <p:ext uri="{BB962C8B-B14F-4D97-AF65-F5344CB8AC3E}">
        <p14:creationId xmlns:p14="http://schemas.microsoft.com/office/powerpoint/2010/main" val="2774589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-3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Wins Above Replacement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7C2CC-416F-4D29-84CF-D1F8B766EE5F}"/>
              </a:ext>
            </a:extLst>
          </p:cNvPr>
          <p:cNvSpPr txBox="1"/>
          <p:nvPr/>
        </p:nvSpPr>
        <p:spPr>
          <a:xfrm>
            <a:off x="3080081" y="1520792"/>
            <a:ext cx="869413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Keith </a:t>
            </a:r>
            <a:r>
              <a:rPr lang="en-US" sz="2400" dirty="0" err="1">
                <a:solidFill>
                  <a:schemeClr val="bg1"/>
                </a:solidFill>
                <a:latin typeface="Selawik Semibold" panose="020B0702040204020203" pitchFamily="34" charset="0"/>
              </a:rPr>
              <a:t>Woolner</a:t>
            </a: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Works for the Cleveland Guardians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Authored for </a:t>
            </a:r>
            <a:r>
              <a:rPr lang="en-US" sz="2000" i="1" dirty="0">
                <a:solidFill>
                  <a:schemeClr val="bg1"/>
                </a:solidFill>
                <a:latin typeface="Selawik Semibold" panose="020B0702040204020203" pitchFamily="34" charset="0"/>
              </a:rPr>
              <a:t>Baseball Prospectus</a:t>
            </a: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Respected for Player Analysis and Market Evaluation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Created </a:t>
            </a:r>
            <a:r>
              <a:rPr lang="en-US" sz="2000">
                <a:solidFill>
                  <a:schemeClr val="bg1"/>
                </a:solidFill>
                <a:latin typeface="Selawik Semibold" panose="020B0702040204020203" pitchFamily="34" charset="0"/>
              </a:rPr>
              <a:t>Value Over </a:t>
            </a: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Replacement Player (VORP)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Replacement Player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Players Create Value by Keeping Bad Players Off the Field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Acquiring Replacement Players (Minor League)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Assume List of Replacement Players is Infinite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Selawik Semibold" panose="020B0702040204020203" pitchFamily="34" charset="0"/>
              </a:rPr>
              <a:t>Woolner</a:t>
            </a: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 Defined Replacement Player as a Player in the Bottom 20% of List Ordered by Plate Appearances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Fan Graphs Definition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20 Runs Below Average for a Season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Team of Replacement Players Win 48 Games Out of 162</a:t>
            </a:r>
          </a:p>
        </p:txBody>
      </p:sp>
    </p:spTree>
    <p:extLst>
      <p:ext uri="{BB962C8B-B14F-4D97-AF65-F5344CB8AC3E}">
        <p14:creationId xmlns:p14="http://schemas.microsoft.com/office/powerpoint/2010/main" val="3050381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-2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Wins Above Replacement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7C2CC-416F-4D29-84CF-D1F8B766EE5F}"/>
              </a:ext>
            </a:extLst>
          </p:cNvPr>
          <p:cNvSpPr txBox="1"/>
          <p:nvPr/>
        </p:nvSpPr>
        <p:spPr>
          <a:xfrm>
            <a:off x="3080080" y="1520792"/>
            <a:ext cx="8532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Wins Above Replacement (WAR)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Attempt to Measure All of a Baseball’s Player’s Contributions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What is it good for? Absolutely Everything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Not Comparing to Average Player but Replacement Player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Interpretation: “If a player got injured and their team had to replace them, how many </a:t>
            </a:r>
            <a:r>
              <a:rPr lang="en-US" sz="2000" u="sng" dirty="0">
                <a:solidFill>
                  <a:schemeClr val="bg1"/>
                </a:solidFill>
                <a:latin typeface="Selawik Semibold" panose="020B0702040204020203" pitchFamily="34" charset="0"/>
              </a:rPr>
              <a:t>wins</a:t>
            </a: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 would the team be losing?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Three Main Sources of WAR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Baseball-Reference (</a:t>
            </a:r>
            <a:r>
              <a:rPr lang="en-US" sz="2000" dirty="0" err="1">
                <a:solidFill>
                  <a:schemeClr val="bg1"/>
                </a:solidFill>
                <a:latin typeface="Selawik Semibold" panose="020B0702040204020203" pitchFamily="34" charset="0"/>
              </a:rPr>
              <a:t>bWAR</a:t>
            </a: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FanGraphs (</a:t>
            </a:r>
            <a:r>
              <a:rPr lang="en-US" sz="2000" dirty="0" err="1">
                <a:solidFill>
                  <a:schemeClr val="bg1"/>
                </a:solidFill>
                <a:latin typeface="Selawik Semibold" panose="020B0702040204020203" pitchFamily="34" charset="0"/>
              </a:rPr>
              <a:t>fWAR</a:t>
            </a: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Baseball Prospectus (WARP)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Carefully Read Steps for Calculation of WAR in Textbook</a:t>
            </a:r>
          </a:p>
        </p:txBody>
      </p:sp>
    </p:spTree>
    <p:extLst>
      <p:ext uri="{BB962C8B-B14F-4D97-AF65-F5344CB8AC3E}">
        <p14:creationId xmlns:p14="http://schemas.microsoft.com/office/powerpoint/2010/main" val="1358373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-2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Wins Above Replacement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7C2CC-416F-4D29-84CF-D1F8B766EE5F}"/>
              </a:ext>
            </a:extLst>
          </p:cNvPr>
          <p:cNvSpPr txBox="1"/>
          <p:nvPr/>
        </p:nvSpPr>
        <p:spPr>
          <a:xfrm>
            <a:off x="3080080" y="1520792"/>
            <a:ext cx="85328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Formula Differs for Position Players and Pitchers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Position Players: Batting, Baserunning, and Fielding Measured in Runs Above Average (RAA)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Pitchers: Either Based on Runs Allowed Per 9 Innings (RA9) or Fielding Independent Pitching (FIP)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General Formula for Position Players (</a:t>
            </a:r>
            <a:r>
              <a:rPr lang="en-US" sz="2400" dirty="0" err="1">
                <a:solidFill>
                  <a:schemeClr val="bg1"/>
                </a:solidFill>
                <a:latin typeface="Selawik Semibold" panose="020B0702040204020203" pitchFamily="34" charset="0"/>
              </a:rPr>
              <a:t>fWAR</a:t>
            </a: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BF563E-ADAA-4D54-8BE0-D91224E0F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5609" y="4004278"/>
            <a:ext cx="8489166" cy="85211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78628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-2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Wins Above Replacement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7C2CC-416F-4D29-84CF-D1F8B766EE5F}"/>
              </a:ext>
            </a:extLst>
          </p:cNvPr>
          <p:cNvSpPr txBox="1"/>
          <p:nvPr/>
        </p:nvSpPr>
        <p:spPr>
          <a:xfrm>
            <a:off x="3080080" y="1520792"/>
            <a:ext cx="853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Top Players for </a:t>
            </a:r>
            <a:r>
              <a:rPr lang="en-US" sz="2400" dirty="0" err="1">
                <a:solidFill>
                  <a:schemeClr val="bg1"/>
                </a:solidFill>
                <a:latin typeface="Selawik Semibold" panose="020B0702040204020203" pitchFamily="34" charset="0"/>
              </a:rPr>
              <a:t>bWAR</a:t>
            </a: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 Based on Career</a:t>
            </a: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DEB47C-14F0-43E0-9CFA-D70C79C1F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323" y="2069743"/>
            <a:ext cx="6325962" cy="39930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73596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-2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Wins Above Replacement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7C2CC-416F-4D29-84CF-D1F8B766EE5F}"/>
              </a:ext>
            </a:extLst>
          </p:cNvPr>
          <p:cNvSpPr txBox="1"/>
          <p:nvPr/>
        </p:nvSpPr>
        <p:spPr>
          <a:xfrm>
            <a:off x="3080080" y="1520792"/>
            <a:ext cx="853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Top Players for </a:t>
            </a:r>
            <a:r>
              <a:rPr lang="en-US" sz="2400" dirty="0" err="1">
                <a:solidFill>
                  <a:schemeClr val="bg1"/>
                </a:solidFill>
                <a:latin typeface="Selawik Semibold" panose="020B0702040204020203" pitchFamily="34" charset="0"/>
              </a:rPr>
              <a:t>fWAR</a:t>
            </a: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 Based on 2019 Season</a:t>
            </a: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ADD305-22BB-4382-844F-C42DD7345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145" y="2093990"/>
            <a:ext cx="8429955" cy="34376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71303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-2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Wins Above Replacement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7C2CC-416F-4D29-84CF-D1F8B766EE5F}"/>
              </a:ext>
            </a:extLst>
          </p:cNvPr>
          <p:cNvSpPr txBox="1"/>
          <p:nvPr/>
        </p:nvSpPr>
        <p:spPr>
          <a:xfrm>
            <a:off x="3080080" y="1520792"/>
            <a:ext cx="8532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Using WAR to Determine Player Salaries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Prerequisites: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Teams Have 25 Players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Minimum Salary = $500,000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Team of Replacement Players Win 48 Games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Salary for Team of Replacement Players = $12.5 Million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Average Team Salary in 2016 = $114 Million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Average Team Wins 81 out of 162 Games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Cost of 81-48=33 Wins is $114 – $12.5 = $101.5 Million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Each Win Above Replacement is Worth $3.08 Million</a:t>
            </a:r>
          </a:p>
        </p:txBody>
      </p:sp>
    </p:spTree>
    <p:extLst>
      <p:ext uri="{BB962C8B-B14F-4D97-AF65-F5344CB8AC3E}">
        <p14:creationId xmlns:p14="http://schemas.microsoft.com/office/powerpoint/2010/main" val="23115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-2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Wins Above Replacement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7C2CC-416F-4D29-84CF-D1F8B766EE5F}"/>
              </a:ext>
            </a:extLst>
          </p:cNvPr>
          <p:cNvSpPr txBox="1"/>
          <p:nvPr/>
        </p:nvSpPr>
        <p:spPr>
          <a:xfrm>
            <a:off x="3080080" y="1520792"/>
            <a:ext cx="85328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Salary Comparison in 2016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Winner’s Curse = Pay More Than Player is Worth</a:t>
            </a: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A2459E-14D3-1174-2E0D-C60B3EE07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4006" y="2104580"/>
            <a:ext cx="6429697" cy="362536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5000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55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&#10;&#10;Description automatically generated">
            <a:extLst>
              <a:ext uri="{FF2B5EF4-FFF2-40B4-BE49-F238E27FC236}">
                <a16:creationId xmlns:a16="http://schemas.microsoft.com/office/drawing/2014/main" id="{48589EA3-03B9-4D42-8282-8AC52D63CB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05" r="19804" b="-1"/>
          <a:stretch/>
        </p:blipFill>
        <p:spPr>
          <a:xfrm>
            <a:off x="20" y="10"/>
            <a:ext cx="6024134" cy="685799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ln w="28575">
            <a:noFill/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B9C460C-DD3D-4F1C-9FEE-8EC7228DF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2779" y="359964"/>
            <a:ext cx="7834193" cy="1264588"/>
          </a:xfrm>
        </p:spPr>
        <p:txBody>
          <a:bodyPr anchor="ctr">
            <a:normAutofit/>
          </a:bodyPr>
          <a:lstStyle/>
          <a:p>
            <a:pPr algn="r"/>
            <a:r>
              <a:rPr lang="en-US" dirty="0">
                <a:latin typeface="Selawik Semibold" panose="020B0702040204020203" pitchFamily="34" charset="0"/>
              </a:rPr>
              <a:t>Final Inspiration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EFC1D832-5298-413A-ACCB-93C0C72C636D}"/>
              </a:ext>
            </a:extLst>
          </p:cNvPr>
          <p:cNvSpPr txBox="1">
            <a:spLocks/>
          </p:cNvSpPr>
          <p:nvPr/>
        </p:nvSpPr>
        <p:spPr>
          <a:xfrm>
            <a:off x="4780345" y="4357577"/>
            <a:ext cx="7105564" cy="3247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800" dirty="0">
                <a:latin typeface="Selawik Semibold" panose="020B0702040204020203" pitchFamily="34" charset="0"/>
              </a:rPr>
              <a:t>Yesterday’s home runs don’t</a:t>
            </a:r>
          </a:p>
          <a:p>
            <a:pPr algn="r"/>
            <a:r>
              <a:rPr lang="en-US" sz="2800" dirty="0">
                <a:latin typeface="Selawik Semibold" panose="020B0702040204020203" pitchFamily="34" charset="0"/>
              </a:rPr>
              <a:t> win today’s games.</a:t>
            </a:r>
          </a:p>
          <a:p>
            <a:pPr algn="r"/>
            <a:r>
              <a:rPr lang="en-US" sz="2800" dirty="0">
                <a:latin typeface="Selawik Semibold" panose="020B0702040204020203" pitchFamily="34" charset="0"/>
              </a:rPr>
              <a:t> </a:t>
            </a:r>
          </a:p>
          <a:p>
            <a:pPr algn="r"/>
            <a:r>
              <a:rPr lang="en-US" sz="2800" dirty="0">
                <a:latin typeface="Selawik Semibold" panose="020B0702040204020203" pitchFamily="34" charset="0"/>
              </a:rPr>
              <a:t>-Babe Ruth</a:t>
            </a:r>
          </a:p>
          <a:p>
            <a:pPr lvl="2" algn="r"/>
            <a:endParaRPr lang="en-US" sz="2800" dirty="0">
              <a:latin typeface="Selawik Semibold" panose="020B0702040204020203" pitchFamily="34" charset="0"/>
            </a:endParaRPr>
          </a:p>
          <a:p>
            <a:pPr lvl="2" algn="r"/>
            <a:endParaRPr lang="en-US" sz="2800" dirty="0">
              <a:latin typeface="Selawik Semibold" panose="020B0702040204020203" pitchFamily="34" charset="0"/>
            </a:endParaRPr>
          </a:p>
          <a:p>
            <a:pPr lvl="2" algn="r"/>
            <a:endParaRPr lang="en-US" sz="2800" dirty="0">
              <a:latin typeface="Selawik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475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5079</TotalTime>
  <Words>678</Words>
  <Application>Microsoft Office PowerPoint</Application>
  <PresentationFormat>Widescreen</PresentationFormat>
  <Paragraphs>148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Selawik Semibold</vt:lpstr>
      <vt:lpstr>Office Theme</vt:lpstr>
      <vt:lpstr>Baseball VI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 Inspiration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Baseball I</dc:title>
  <dc:creator>Super Mario</dc:creator>
  <cp:lastModifiedBy>Giacomazzo, Mario Sy John</cp:lastModifiedBy>
  <cp:revision>202</cp:revision>
  <dcterms:created xsi:type="dcterms:W3CDTF">2019-09-02T18:29:52Z</dcterms:created>
  <dcterms:modified xsi:type="dcterms:W3CDTF">2026-02-20T18:48:22Z</dcterms:modified>
</cp:coreProperties>
</file>