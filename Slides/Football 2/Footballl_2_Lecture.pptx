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00" r:id="rId1"/>
  </p:sldMasterIdLst>
  <p:notesMasterIdLst>
    <p:notesMasterId r:id="rId14"/>
  </p:notesMasterIdLst>
  <p:sldIdLst>
    <p:sldId id="298" r:id="rId2"/>
    <p:sldId id="308" r:id="rId3"/>
    <p:sldId id="309" r:id="rId4"/>
    <p:sldId id="307" r:id="rId5"/>
    <p:sldId id="311" r:id="rId6"/>
    <p:sldId id="310" r:id="rId7"/>
    <p:sldId id="312" r:id="rId8"/>
    <p:sldId id="313" r:id="rId9"/>
    <p:sldId id="315" r:id="rId10"/>
    <p:sldId id="314" r:id="rId11"/>
    <p:sldId id="316" r:id="rId12"/>
    <p:sldId id="281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Super Mario" initials="SM" lastIdx="1" clrIdx="0">
    <p:extLst>
      <p:ext uri="{19B8F6BF-5375-455C-9EA6-DF929625EA0E}">
        <p15:presenceInfo xmlns:p15="http://schemas.microsoft.com/office/powerpoint/2012/main" userId="00ac6b5476700346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34817"/>
    <a:srgbClr val="A6A1A1"/>
    <a:srgbClr val="663300"/>
    <a:srgbClr val="395583"/>
    <a:srgbClr val="F76464"/>
    <a:srgbClr val="882E2E"/>
    <a:srgbClr val="DB5B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04" autoAdjust="0"/>
    <p:restoredTop sz="95871" autoAdjust="0"/>
  </p:normalViewPr>
  <p:slideViewPr>
    <p:cSldViewPr snapToGrid="0">
      <p:cViewPr varScale="1">
        <p:scale>
          <a:sx n="112" d="100"/>
          <a:sy n="112" d="100"/>
        </p:scale>
        <p:origin x="64" y="2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4E5E84-956F-4423-97B3-5936A6D8EEEE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3D9EF6-5B6D-4923-9412-628692DCC0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90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044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4628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041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1652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0920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542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422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3572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3790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053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3368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496523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5053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7920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2263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9478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292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881C039-66A3-4640-815B-3B5A8B7D868D}" type="datetimeFigureOut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168EBC32-F1AB-4BBF-A78B-0246EAD751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4178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01" r:id="rId1"/>
    <p:sldLayoutId id="2147483902" r:id="rId2"/>
    <p:sldLayoutId id="2147483903" r:id="rId3"/>
    <p:sldLayoutId id="2147483904" r:id="rId4"/>
    <p:sldLayoutId id="2147483905" r:id="rId5"/>
    <p:sldLayoutId id="2147483906" r:id="rId6"/>
    <p:sldLayoutId id="2147483907" r:id="rId7"/>
    <p:sldLayoutId id="2147483908" r:id="rId8"/>
    <p:sldLayoutId id="2147483909" r:id="rId9"/>
    <p:sldLayoutId id="2147483910" r:id="rId10"/>
    <p:sldLayoutId id="2147483911" r:id="rId11"/>
    <p:sldLayoutId id="2147483912" r:id="rId12"/>
    <p:sldLayoutId id="2147483913" r:id="rId13"/>
    <p:sldLayoutId id="2147483914" r:id="rId14"/>
    <p:sldLayoutId id="2147483915" r:id="rId15"/>
    <p:sldLayoutId id="2147483916" r:id="rId16"/>
    <p:sldLayoutId id="214748391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9.png"/><Relationship Id="rId7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image" Target="../media/image9.png"/><Relationship Id="rId7" Type="http://schemas.openxmlformats.org/officeDocument/2006/relationships/image" Target="../media/image1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microsoft.com/office/2007/relationships/hdphoto" Target="../media/hdphoto1.wdp"/><Relationship Id="rId9" Type="http://schemas.openxmlformats.org/officeDocument/2006/relationships/image" Target="../media/image17.jpe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jpeg"/><Relationship Id="rId3" Type="http://schemas.openxmlformats.org/officeDocument/2006/relationships/image" Target="../media/image9.png"/><Relationship Id="rId7" Type="http://schemas.openxmlformats.org/officeDocument/2006/relationships/image" Target="../media/image1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picture containing clothing, person, headdress, baseball&#10;&#10;Description automatically generated">
            <a:extLst>
              <a:ext uri="{FF2B5EF4-FFF2-40B4-BE49-F238E27FC236}">
                <a16:creationId xmlns:a16="http://schemas.microsoft.com/office/drawing/2014/main" id="{41856743-89BA-4675-AC94-48F51448049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66" b="23593"/>
          <a:stretch/>
        </p:blipFill>
        <p:spPr>
          <a:xfrm>
            <a:off x="-4364946" y="-83127"/>
            <a:ext cx="12424206" cy="698861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EB5445C-8F3E-4F4B-B272-8D9F0BC492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52744" y="2131894"/>
            <a:ext cx="7574604" cy="1828801"/>
          </a:xfrm>
        </p:spPr>
        <p:txBody>
          <a:bodyPr>
            <a:normAutofit/>
          </a:bodyPr>
          <a:lstStyle/>
          <a:p>
            <a:r>
              <a:rPr lang="en-US" sz="66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Football II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CC54F8-420D-42C9-AB41-8EA29A4112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88093" y="6274528"/>
            <a:ext cx="6903907" cy="392189"/>
          </a:xfrm>
        </p:spPr>
        <p:txBody>
          <a:bodyPr>
            <a:normAutofit lnSpcReduction="10000"/>
          </a:bodyPr>
          <a:lstStyle/>
          <a:p>
            <a:r>
              <a:rPr lang="en-US" dirty="0">
                <a:ln>
                  <a:noFill/>
                </a:ln>
                <a:solidFill>
                  <a:srgbClr val="D34817"/>
                </a:solidFill>
                <a:effectLst/>
                <a:latin typeface="Selawik Semibold" panose="020B0702040204020203" pitchFamily="34" charset="0"/>
              </a:rPr>
              <a:t>Produced by Dr. Mario | UNC </a:t>
            </a:r>
            <a:r>
              <a:rPr lang="en-US">
                <a:ln>
                  <a:noFill/>
                </a:ln>
                <a:solidFill>
                  <a:srgbClr val="D34817"/>
                </a:solidFill>
                <a:effectLst/>
                <a:latin typeface="Selawik Semibold" panose="020B0702040204020203" pitchFamily="34" charset="0"/>
              </a:rPr>
              <a:t>STOR 538</a:t>
            </a:r>
            <a:endParaRPr lang="en-US" dirty="0">
              <a:ln>
                <a:noFill/>
              </a:ln>
              <a:solidFill>
                <a:srgbClr val="D34817"/>
              </a:solidFill>
              <a:effectLst/>
              <a:latin typeface="Selawik Semibold" panose="020B0702040204020203" pitchFamily="34" charset="0"/>
            </a:endParaRPr>
          </a:p>
        </p:txBody>
      </p:sp>
      <p:pic>
        <p:nvPicPr>
          <p:cNvPr id="9" name="Graphic 8" descr="Football">
            <a:extLst>
              <a:ext uri="{FF2B5EF4-FFF2-40B4-BE49-F238E27FC236}">
                <a16:creationId xmlns:a16="http://schemas.microsoft.com/office/drawing/2014/main" id="{8458BA3F-0AF8-4D6D-8A76-77009396C2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3182294">
            <a:off x="9207524" y="-67270"/>
            <a:ext cx="3049289" cy="3049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3936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picture containing clothing, person, headdress, baseball&#10;&#10;Description automatically generated">
            <a:extLst>
              <a:ext uri="{FF2B5EF4-FFF2-40B4-BE49-F238E27FC236}">
                <a16:creationId xmlns:a16="http://schemas.microsoft.com/office/drawing/2014/main" id="{68BA132B-EA3B-4DFB-BEF2-04F4ACB3B0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151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3" b="7624"/>
          <a:stretch/>
        </p:blipFill>
        <p:spPr>
          <a:xfrm>
            <a:off x="-1051136" y="3119615"/>
            <a:ext cx="4065464" cy="3258005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7BDB8227-827C-484D-95AA-05C24716BEB4}"/>
              </a:ext>
            </a:extLst>
          </p:cNvPr>
          <p:cNvSpPr/>
          <p:nvPr/>
        </p:nvSpPr>
        <p:spPr>
          <a:xfrm>
            <a:off x="1911020" y="528506"/>
            <a:ext cx="692817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6A1A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6C2FBC-B0EB-45C1-9469-C4F6741EC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1020" y="428653"/>
            <a:ext cx="6928179" cy="970450"/>
          </a:xfrm>
          <a:effectLst>
            <a:outerShdw blurRad="25400" dir="17880000">
              <a:srgbClr val="000000">
                <a:alpha val="70000"/>
              </a:srgbClr>
            </a:outerShdw>
          </a:effectLst>
        </p:spPr>
        <p:txBody>
          <a:bodyPr>
            <a:normAutofit/>
          </a:bodyPr>
          <a:lstStyle/>
          <a:p>
            <a:pPr algn="l"/>
            <a:r>
              <a:rPr lang="en-US" sz="3600" dirty="0">
                <a:ln>
                  <a:noFill/>
                </a:ln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Importance of the Quarterback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2313B83-B214-43D7-AC39-182CE4FA3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3154" y="1490925"/>
            <a:ext cx="6928179" cy="4838569"/>
          </a:xfrm>
        </p:spPr>
        <p:txBody>
          <a:bodyPr numCol="1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Historically Important for Success in NFL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Owner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Establish Team Identity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Hire Leadership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Provide Resources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General Manager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Evaluate Players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Make Trades and Acquire Players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Final Say on Personnel (20/32 Teams)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Coach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Responsible for Player Development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Responsible for On-Field Strategy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Real-Time Game Decisions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Quarterback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Throws the Rock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Highest Paid Position</a:t>
            </a:r>
          </a:p>
        </p:txBody>
      </p:sp>
      <p:pic>
        <p:nvPicPr>
          <p:cNvPr id="40" name="Graphic 39" descr="Football">
            <a:extLst>
              <a:ext uri="{FF2B5EF4-FFF2-40B4-BE49-F238E27FC236}">
                <a16:creationId xmlns:a16="http://schemas.microsoft.com/office/drawing/2014/main" id="{43103FBA-298C-4A8C-8E68-C9DFEB1CFA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17272" y="232079"/>
            <a:ext cx="1406766" cy="140676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5020441A-C920-4B5D-B423-02BDA4A265D5}"/>
              </a:ext>
            </a:extLst>
          </p:cNvPr>
          <p:cNvSpPr/>
          <p:nvPr/>
        </p:nvSpPr>
        <p:spPr>
          <a:xfrm>
            <a:off x="0" y="6363870"/>
            <a:ext cx="12192000" cy="280807"/>
          </a:xfrm>
          <a:prstGeom prst="rect">
            <a:avLst/>
          </a:prstGeom>
          <a:solidFill>
            <a:srgbClr val="D348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0A0A4F6-DDDF-466F-B88A-4EAD2319B32D}"/>
              </a:ext>
            </a:extLst>
          </p:cNvPr>
          <p:cNvSpPr/>
          <p:nvPr/>
        </p:nvSpPr>
        <p:spPr>
          <a:xfrm>
            <a:off x="10402110" y="528506"/>
            <a:ext cx="178988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E8668F5-2350-4974-AA4D-876D0CD42EDD}"/>
              </a:ext>
            </a:extLst>
          </p:cNvPr>
          <p:cNvSpPr/>
          <p:nvPr/>
        </p:nvSpPr>
        <p:spPr>
          <a:xfrm>
            <a:off x="-112743" y="528506"/>
            <a:ext cx="470541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Graphic 46" descr="Football">
            <a:extLst>
              <a:ext uri="{FF2B5EF4-FFF2-40B4-BE49-F238E27FC236}">
                <a16:creationId xmlns:a16="http://schemas.microsoft.com/office/drawing/2014/main" id="{BBBD34EB-97F5-4783-BE1A-4ADD4D05EB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6182" y="210495"/>
            <a:ext cx="1406766" cy="1406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4620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picture containing clothing, person, headdress, baseball&#10;&#10;Description automatically generated">
            <a:extLst>
              <a:ext uri="{FF2B5EF4-FFF2-40B4-BE49-F238E27FC236}">
                <a16:creationId xmlns:a16="http://schemas.microsoft.com/office/drawing/2014/main" id="{68BA132B-EA3B-4DFB-BEF2-04F4ACB3B0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151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3" b="7624"/>
          <a:stretch/>
        </p:blipFill>
        <p:spPr>
          <a:xfrm>
            <a:off x="-1051136" y="3119615"/>
            <a:ext cx="4065464" cy="3258005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7BDB8227-827C-484D-95AA-05C24716BEB4}"/>
              </a:ext>
            </a:extLst>
          </p:cNvPr>
          <p:cNvSpPr/>
          <p:nvPr/>
        </p:nvSpPr>
        <p:spPr>
          <a:xfrm>
            <a:off x="1911020" y="528506"/>
            <a:ext cx="692817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6A1A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6C2FBC-B0EB-45C1-9469-C4F6741EC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1020" y="428653"/>
            <a:ext cx="6928179" cy="970450"/>
          </a:xfrm>
          <a:effectLst>
            <a:outerShdw blurRad="25400" dir="17880000">
              <a:srgbClr val="000000">
                <a:alpha val="70000"/>
              </a:srgbClr>
            </a:outerShdw>
          </a:effectLst>
        </p:spPr>
        <p:txBody>
          <a:bodyPr>
            <a:normAutofit/>
          </a:bodyPr>
          <a:lstStyle/>
          <a:p>
            <a:pPr algn="l"/>
            <a:r>
              <a:rPr lang="en-US" sz="3600" dirty="0">
                <a:ln>
                  <a:noFill/>
                </a:ln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Importance of the Quarterback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2313B83-B214-43D7-AC39-182CE4FA3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3154" y="1490925"/>
            <a:ext cx="7277535" cy="4838569"/>
          </a:xfrm>
        </p:spPr>
        <p:txBody>
          <a:bodyPr numCol="1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We Know All Are Important #Browns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What is the Most Important?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Analysis Published in Harvard Business Review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38 Years of Data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Basic Linear Regression (RSQ=0.682)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Order of Importance by Percentage of RSQ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Comparison of 80s and 90s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Head Coach Effect Unchanged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Owner and General Manager Effects Declined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Value of QB has increased</a:t>
            </a:r>
          </a:p>
        </p:txBody>
      </p:sp>
      <p:pic>
        <p:nvPicPr>
          <p:cNvPr id="40" name="Graphic 39" descr="Football">
            <a:extLst>
              <a:ext uri="{FF2B5EF4-FFF2-40B4-BE49-F238E27FC236}">
                <a16:creationId xmlns:a16="http://schemas.microsoft.com/office/drawing/2014/main" id="{43103FBA-298C-4A8C-8E68-C9DFEB1CFA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17272" y="232079"/>
            <a:ext cx="1406766" cy="140676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5020441A-C920-4B5D-B423-02BDA4A265D5}"/>
              </a:ext>
            </a:extLst>
          </p:cNvPr>
          <p:cNvSpPr/>
          <p:nvPr/>
        </p:nvSpPr>
        <p:spPr>
          <a:xfrm>
            <a:off x="0" y="6363870"/>
            <a:ext cx="12192000" cy="280807"/>
          </a:xfrm>
          <a:prstGeom prst="rect">
            <a:avLst/>
          </a:prstGeom>
          <a:solidFill>
            <a:srgbClr val="D348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0A0A4F6-DDDF-466F-B88A-4EAD2319B32D}"/>
              </a:ext>
            </a:extLst>
          </p:cNvPr>
          <p:cNvSpPr/>
          <p:nvPr/>
        </p:nvSpPr>
        <p:spPr>
          <a:xfrm>
            <a:off x="10402110" y="528506"/>
            <a:ext cx="178988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E8668F5-2350-4974-AA4D-876D0CD42EDD}"/>
              </a:ext>
            </a:extLst>
          </p:cNvPr>
          <p:cNvSpPr/>
          <p:nvPr/>
        </p:nvSpPr>
        <p:spPr>
          <a:xfrm>
            <a:off x="-112743" y="528506"/>
            <a:ext cx="470541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Graphic 46" descr="Football">
            <a:extLst>
              <a:ext uri="{FF2B5EF4-FFF2-40B4-BE49-F238E27FC236}">
                <a16:creationId xmlns:a16="http://schemas.microsoft.com/office/drawing/2014/main" id="{BBBD34EB-97F5-4783-BE1A-4ADD4D05EB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6182" y="210495"/>
            <a:ext cx="1406766" cy="140676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5267AC30-A584-4C1B-B6C0-39AB5289EDF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23622" y="3462438"/>
            <a:ext cx="3179478" cy="2809620"/>
          </a:xfrm>
          <a:prstGeom prst="rect">
            <a:avLst/>
          </a:prstGeom>
          <a:ln w="38100">
            <a:solidFill>
              <a:srgbClr val="D34817"/>
            </a:solidFill>
          </a:ln>
        </p:spPr>
      </p:pic>
    </p:spTree>
    <p:extLst>
      <p:ext uri="{BB962C8B-B14F-4D97-AF65-F5344CB8AC3E}">
        <p14:creationId xmlns:p14="http://schemas.microsoft.com/office/powerpoint/2010/main" val="23223551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7BDB8227-827C-484D-95AA-05C24716BEB4}"/>
              </a:ext>
            </a:extLst>
          </p:cNvPr>
          <p:cNvSpPr/>
          <p:nvPr/>
        </p:nvSpPr>
        <p:spPr>
          <a:xfrm>
            <a:off x="1911020" y="528506"/>
            <a:ext cx="692817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6A1A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6C2FBC-B0EB-45C1-9469-C4F6741EC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1020" y="428653"/>
            <a:ext cx="6928179" cy="970450"/>
          </a:xfrm>
          <a:effectLst>
            <a:outerShdw blurRad="25400" dir="17880000">
              <a:srgbClr val="000000">
                <a:alpha val="70000"/>
              </a:srgbClr>
            </a:outerShdw>
          </a:effectLst>
        </p:spPr>
        <p:txBody>
          <a:bodyPr>
            <a:normAutofit/>
          </a:bodyPr>
          <a:lstStyle/>
          <a:p>
            <a:pPr algn="l"/>
            <a:r>
              <a:rPr lang="en-US" sz="3600" dirty="0">
                <a:ln>
                  <a:noFill/>
                </a:ln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Metrics for Quarterbacks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2313B83-B214-43D7-AC39-182CE4FA3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3155" y="1490925"/>
            <a:ext cx="7275036" cy="4838569"/>
          </a:xfrm>
        </p:spPr>
        <p:txBody>
          <a:bodyPr numCol="1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Article from Bleacher Report 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Passing YDS (Bad Metric to Measure Success)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effectLst/>
                <a:latin typeface="Selawik Semibold" panose="020B0702040204020203" pitchFamily="34" charset="0"/>
              </a:rPr>
              <a:t>TD/INT (Accounts for Most Important Info)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effectLst/>
                <a:latin typeface="Selawik Semibold" panose="020B0702040204020203" pitchFamily="34" charset="0"/>
              </a:rPr>
              <a:t>COMP/ATT (Misleading)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effectLst/>
                <a:latin typeface="Selawik Semibold" panose="020B0702040204020203" pitchFamily="34" charset="0"/>
              </a:rPr>
              <a:t>YDS/ATT (Leaves Out Sacks and Touchdowns)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effectLst/>
                <a:latin typeface="Selawik Semibold" panose="020B0702040204020203" pitchFamily="34" charset="0"/>
              </a:rPr>
              <a:t>Passer Rating (Accounts for Most QB Information)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effectLst/>
                <a:latin typeface="Selawik Semibold" panose="020B0702040204020203" pitchFamily="34" charset="0"/>
              </a:rPr>
              <a:t>Dates Back to 1971 and Hasn’t Changed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effectLst/>
                <a:latin typeface="Selawik Semibold" panose="020B0702040204020203" pitchFamily="34" charset="0"/>
              </a:rPr>
              <a:t>Minimum = 0  &amp;  Maximum = 158.3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effectLst/>
                <a:latin typeface="Selawik Semibold" panose="020B0702040204020203" pitchFamily="34" charset="0"/>
              </a:rPr>
              <a:t>Leader in 2018 Was Danny Amendola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effectLst/>
                <a:latin typeface="Selawik Semibold" panose="020B0702040204020203" pitchFamily="34" charset="0"/>
              </a:rPr>
              <a:t>QBR (Produced by ESPN)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effectLst/>
                <a:latin typeface="Selawik Semibold" panose="020B0702040204020203" pitchFamily="34" charset="0"/>
              </a:rPr>
              <a:t>Created in 2011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effectLst/>
                <a:latin typeface="Selawik Semibold" panose="020B0702040204020203" pitchFamily="34" charset="0"/>
              </a:rPr>
              <a:t>Minimum = 0  &amp;  Maximum = 100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effectLst/>
                <a:latin typeface="Selawik Semibold" panose="020B0702040204020203" pitchFamily="34" charset="0"/>
              </a:rPr>
              <a:t>Compares Outcome to Expected Outcome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1800" dirty="0">
                <a:effectLst/>
                <a:latin typeface="Selawik Semibold" panose="020B0702040204020203" pitchFamily="34" charset="0"/>
              </a:rPr>
              <a:t>Leaders in 2018 Were Patrick </a:t>
            </a:r>
            <a:r>
              <a:rPr lang="en-US" sz="1800" dirty="0" err="1">
                <a:effectLst/>
                <a:latin typeface="Selawik Semibold" panose="020B0702040204020203" pitchFamily="34" charset="0"/>
              </a:rPr>
              <a:t>Mahomes</a:t>
            </a:r>
            <a:r>
              <a:rPr lang="en-US" sz="1800" dirty="0">
                <a:effectLst/>
                <a:latin typeface="Selawik Semibold" panose="020B0702040204020203" pitchFamily="34" charset="0"/>
              </a:rPr>
              <a:t> and Drew </a:t>
            </a:r>
            <a:r>
              <a:rPr lang="en-US" sz="1800" dirty="0" err="1">
                <a:effectLst/>
                <a:latin typeface="Selawik Semibold" panose="020B0702040204020203" pitchFamily="34" charset="0"/>
              </a:rPr>
              <a:t>Brees</a:t>
            </a:r>
            <a:endParaRPr lang="en-US" sz="1800" dirty="0">
              <a:effectLst/>
              <a:latin typeface="Selawik Semibold" panose="020B0702040204020203" pitchFamily="34" charset="0"/>
            </a:endParaRP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effectLst/>
                <a:latin typeface="Selawik Semibold" panose="020B0702040204020203" pitchFamily="34" charset="0"/>
              </a:rPr>
              <a:t>W/G (Classic Problem Similar to Baseball Pitching)</a:t>
            </a: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1800" dirty="0">
              <a:effectLst/>
              <a:latin typeface="Selawik Semibold" panose="020B0702040204020203" pitchFamily="34" charset="0"/>
            </a:endParaRP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1800" dirty="0">
              <a:effectLst/>
              <a:latin typeface="Selawik Semibold" panose="020B0702040204020203" pitchFamily="34" charset="0"/>
            </a:endParaRP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1800" dirty="0">
              <a:effectLst/>
              <a:latin typeface="Selawik Semibold" panose="020B0702040204020203" pitchFamily="34" charset="0"/>
            </a:endParaRP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000" dirty="0">
              <a:effectLst/>
              <a:latin typeface="Selawik Semibold" panose="020B0702040204020203" pitchFamily="34" charset="0"/>
            </a:endParaRP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dirty="0">
              <a:effectLst/>
              <a:latin typeface="Selawik Semibold" panose="020B0702040204020203" pitchFamily="34" charset="0"/>
            </a:endParaRPr>
          </a:p>
          <a:p>
            <a:pPr marL="683100" lvl="2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dirty="0">
              <a:effectLst/>
              <a:latin typeface="Selawik Semibold" panose="020B0702040204020203" pitchFamily="34" charset="0"/>
            </a:endParaRP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dirty="0">
              <a:effectLst/>
              <a:latin typeface="Selawik Semibold" panose="020B0702040204020203" pitchFamily="34" charset="0"/>
            </a:endParaRP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dirty="0">
              <a:effectLst/>
              <a:latin typeface="Selawik Semibold" panose="020B0702040204020203" pitchFamily="34" charset="0"/>
            </a:endParaRP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dirty="0">
              <a:effectLst/>
              <a:latin typeface="Selawik Semibold" panose="020B0702040204020203" pitchFamily="34" charset="0"/>
            </a:endParaRP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dirty="0">
              <a:effectLst/>
              <a:latin typeface="Selawik Semibold" panose="020B0702040204020203" pitchFamily="34" charset="0"/>
            </a:endParaRPr>
          </a:p>
        </p:txBody>
      </p:sp>
      <p:pic>
        <p:nvPicPr>
          <p:cNvPr id="21" name="Picture 20" descr="A picture containing clothing, person, headdress, baseball&#10;&#10;Description automatically generated">
            <a:extLst>
              <a:ext uri="{FF2B5EF4-FFF2-40B4-BE49-F238E27FC236}">
                <a16:creationId xmlns:a16="http://schemas.microsoft.com/office/drawing/2014/main" id="{68BA132B-EA3B-4DFB-BEF2-04F4ACB3B0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151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3" b="7624"/>
          <a:stretch/>
        </p:blipFill>
        <p:spPr>
          <a:xfrm>
            <a:off x="-1051136" y="3119615"/>
            <a:ext cx="4065464" cy="3258005"/>
          </a:xfrm>
          <a:prstGeom prst="rect">
            <a:avLst/>
          </a:prstGeom>
        </p:spPr>
      </p:pic>
      <p:pic>
        <p:nvPicPr>
          <p:cNvPr id="40" name="Graphic 39" descr="Football">
            <a:extLst>
              <a:ext uri="{FF2B5EF4-FFF2-40B4-BE49-F238E27FC236}">
                <a16:creationId xmlns:a16="http://schemas.microsoft.com/office/drawing/2014/main" id="{43103FBA-298C-4A8C-8E68-C9DFEB1CFA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17272" y="232079"/>
            <a:ext cx="1406766" cy="140676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5020441A-C920-4B5D-B423-02BDA4A265D5}"/>
              </a:ext>
            </a:extLst>
          </p:cNvPr>
          <p:cNvSpPr/>
          <p:nvPr/>
        </p:nvSpPr>
        <p:spPr>
          <a:xfrm>
            <a:off x="0" y="6363870"/>
            <a:ext cx="12192000" cy="280807"/>
          </a:xfrm>
          <a:prstGeom prst="rect">
            <a:avLst/>
          </a:prstGeom>
          <a:solidFill>
            <a:srgbClr val="D348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0A0A4F6-DDDF-466F-B88A-4EAD2319B32D}"/>
              </a:ext>
            </a:extLst>
          </p:cNvPr>
          <p:cNvSpPr/>
          <p:nvPr/>
        </p:nvSpPr>
        <p:spPr>
          <a:xfrm>
            <a:off x="10402110" y="528506"/>
            <a:ext cx="178988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E8668F5-2350-4974-AA4D-876D0CD42EDD}"/>
              </a:ext>
            </a:extLst>
          </p:cNvPr>
          <p:cNvSpPr/>
          <p:nvPr/>
        </p:nvSpPr>
        <p:spPr>
          <a:xfrm>
            <a:off x="-112743" y="528506"/>
            <a:ext cx="470541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Graphic 46" descr="Football">
            <a:extLst>
              <a:ext uri="{FF2B5EF4-FFF2-40B4-BE49-F238E27FC236}">
                <a16:creationId xmlns:a16="http://schemas.microsoft.com/office/drawing/2014/main" id="{BBBD34EB-97F5-4783-BE1A-4ADD4D05EB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6182" y="210495"/>
            <a:ext cx="1406766" cy="14067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2D564FE-449E-4C0E-B4F0-C0D47CAF5C6D}"/>
              </a:ext>
            </a:extLst>
          </p:cNvPr>
          <p:cNvSpPr/>
          <p:nvPr/>
        </p:nvSpPr>
        <p:spPr>
          <a:xfrm>
            <a:off x="9869341" y="1660888"/>
            <a:ext cx="2322658" cy="4470544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87CD2B-FB33-4F66-8615-D0702FC8CBCF}"/>
              </a:ext>
            </a:extLst>
          </p:cNvPr>
          <p:cNvSpPr txBox="1"/>
          <p:nvPr/>
        </p:nvSpPr>
        <p:spPr>
          <a:xfrm>
            <a:off x="10013004" y="1760270"/>
            <a:ext cx="2490145" cy="2072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YDS = Yards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TD = Touchdown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INT = Interception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sz="1700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COMP = Completion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ATT = Attempts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W = Wins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G = Games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endParaRPr lang="en-US" dirty="0">
              <a:solidFill>
                <a:schemeClr val="bg2">
                  <a:lumMod val="10000"/>
                  <a:lumOff val="90000"/>
                </a:schemeClr>
              </a:solidFill>
              <a:latin typeface="Selawik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01064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picture containing clothing, person, headdress, baseball&#10;&#10;Description automatically generated">
            <a:extLst>
              <a:ext uri="{FF2B5EF4-FFF2-40B4-BE49-F238E27FC236}">
                <a16:creationId xmlns:a16="http://schemas.microsoft.com/office/drawing/2014/main" id="{68BA132B-EA3B-4DFB-BEF2-04F4ACB3B0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151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3" b="7624"/>
          <a:stretch/>
        </p:blipFill>
        <p:spPr>
          <a:xfrm>
            <a:off x="-1051136" y="3119615"/>
            <a:ext cx="4065464" cy="3258005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7BDB8227-827C-484D-95AA-05C24716BEB4}"/>
              </a:ext>
            </a:extLst>
          </p:cNvPr>
          <p:cNvSpPr/>
          <p:nvPr/>
        </p:nvSpPr>
        <p:spPr>
          <a:xfrm>
            <a:off x="1911020" y="528506"/>
            <a:ext cx="692817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6A1A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6C2FBC-B0EB-45C1-9469-C4F6741EC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1020" y="428653"/>
            <a:ext cx="6928179" cy="970450"/>
          </a:xfrm>
          <a:effectLst>
            <a:outerShdw blurRad="25400" dir="17880000">
              <a:srgbClr val="000000">
                <a:alpha val="70000"/>
              </a:srgbClr>
            </a:outerShdw>
          </a:effectLst>
        </p:spPr>
        <p:txBody>
          <a:bodyPr>
            <a:normAutofit/>
          </a:bodyPr>
          <a:lstStyle/>
          <a:p>
            <a:pPr algn="l"/>
            <a:r>
              <a:rPr lang="en-US" sz="3600" dirty="0">
                <a:ln>
                  <a:noFill/>
                </a:ln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Metrics for Quarterbacks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2313B83-B214-43D7-AC39-182CE4FA3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3155" y="1490925"/>
            <a:ext cx="6928179" cy="4838569"/>
          </a:xfrm>
        </p:spPr>
        <p:txBody>
          <a:bodyPr numCol="1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Advanced Stats from Football Outsiders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Defense-Adjusted Value Over Average (DVOA)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Defense-Adjusted Yards Over Replacement (DYOA)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None/>
            </a:pPr>
            <a:endParaRPr lang="en-US" sz="20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2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Advanced Stats from Brian Burke (Advanced    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None/>
            </a:pPr>
            <a:r>
              <a:rPr lang="en-US" sz="22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   Football Analytics)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effectLst/>
                <a:latin typeface="Selawik Semibold" panose="020B0702040204020203" pitchFamily="34" charset="0"/>
              </a:rPr>
              <a:t>Win Probability Added (WPA)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effectLst/>
                <a:latin typeface="Selawik Semibold" panose="020B0702040204020203" pitchFamily="34" charset="0"/>
              </a:rPr>
              <a:t>Expected Points Added (EPA)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None/>
            </a:pPr>
            <a:endParaRPr lang="en-US" dirty="0">
              <a:effectLst/>
              <a:latin typeface="Selawik Semibold" panose="020B0702040204020203" pitchFamily="34" charset="0"/>
            </a:endParaRP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dirty="0">
              <a:effectLst/>
              <a:latin typeface="Selawik Semibold" panose="020B0702040204020203" pitchFamily="34" charset="0"/>
            </a:endParaRPr>
          </a:p>
        </p:txBody>
      </p:sp>
      <p:pic>
        <p:nvPicPr>
          <p:cNvPr id="40" name="Graphic 39" descr="Football">
            <a:extLst>
              <a:ext uri="{FF2B5EF4-FFF2-40B4-BE49-F238E27FC236}">
                <a16:creationId xmlns:a16="http://schemas.microsoft.com/office/drawing/2014/main" id="{43103FBA-298C-4A8C-8E68-C9DFEB1CFA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17272" y="232079"/>
            <a:ext cx="1406766" cy="140676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5020441A-C920-4B5D-B423-02BDA4A265D5}"/>
              </a:ext>
            </a:extLst>
          </p:cNvPr>
          <p:cNvSpPr/>
          <p:nvPr/>
        </p:nvSpPr>
        <p:spPr>
          <a:xfrm>
            <a:off x="0" y="6363870"/>
            <a:ext cx="12192000" cy="280807"/>
          </a:xfrm>
          <a:prstGeom prst="rect">
            <a:avLst/>
          </a:prstGeom>
          <a:solidFill>
            <a:srgbClr val="D348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0A0A4F6-DDDF-466F-B88A-4EAD2319B32D}"/>
              </a:ext>
            </a:extLst>
          </p:cNvPr>
          <p:cNvSpPr/>
          <p:nvPr/>
        </p:nvSpPr>
        <p:spPr>
          <a:xfrm>
            <a:off x="10402110" y="528506"/>
            <a:ext cx="178988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E8668F5-2350-4974-AA4D-876D0CD42EDD}"/>
              </a:ext>
            </a:extLst>
          </p:cNvPr>
          <p:cNvSpPr/>
          <p:nvPr/>
        </p:nvSpPr>
        <p:spPr>
          <a:xfrm>
            <a:off x="-112743" y="528506"/>
            <a:ext cx="470541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Graphic 46" descr="Football">
            <a:extLst>
              <a:ext uri="{FF2B5EF4-FFF2-40B4-BE49-F238E27FC236}">
                <a16:creationId xmlns:a16="http://schemas.microsoft.com/office/drawing/2014/main" id="{BBBD34EB-97F5-4783-BE1A-4ADD4D05EB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6182" y="210495"/>
            <a:ext cx="1406766" cy="14067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E2D564FE-449E-4C0E-B4F0-C0D47CAF5C6D}"/>
              </a:ext>
            </a:extLst>
          </p:cNvPr>
          <p:cNvSpPr/>
          <p:nvPr/>
        </p:nvSpPr>
        <p:spPr>
          <a:xfrm>
            <a:off x="9869341" y="1660888"/>
            <a:ext cx="2322658" cy="4470544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87CD2B-FB33-4F66-8615-D0702FC8CBCF}"/>
              </a:ext>
            </a:extLst>
          </p:cNvPr>
          <p:cNvSpPr txBox="1"/>
          <p:nvPr/>
        </p:nvSpPr>
        <p:spPr>
          <a:xfrm>
            <a:off x="10013004" y="1760270"/>
            <a:ext cx="2490145" cy="20867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YDS = Yards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TD = Touchdown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INT = Interception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ATT = Attempts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SYDS=Sack Yards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S=Sacks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endParaRPr lang="en-US" dirty="0">
              <a:solidFill>
                <a:schemeClr val="bg2">
                  <a:lumMod val="10000"/>
                  <a:lumOff val="90000"/>
                </a:schemeClr>
              </a:solidFill>
              <a:latin typeface="Selawik Semibold" panose="020B0702040204020203" pitchFamily="34" charset="0"/>
            </a:endParaRP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endParaRPr lang="en-US" dirty="0">
              <a:solidFill>
                <a:schemeClr val="bg2">
                  <a:lumMod val="10000"/>
                  <a:lumOff val="90000"/>
                </a:schemeClr>
              </a:solidFill>
              <a:latin typeface="Selawik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2756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picture containing clothing, person, headdress, baseball&#10;&#10;Description automatically generated">
            <a:extLst>
              <a:ext uri="{FF2B5EF4-FFF2-40B4-BE49-F238E27FC236}">
                <a16:creationId xmlns:a16="http://schemas.microsoft.com/office/drawing/2014/main" id="{68BA132B-EA3B-4DFB-BEF2-04F4ACB3B0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151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3" b="7624"/>
          <a:stretch/>
        </p:blipFill>
        <p:spPr>
          <a:xfrm>
            <a:off x="-1051136" y="3119615"/>
            <a:ext cx="4065464" cy="3258005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7BDB8227-827C-484D-95AA-05C24716BEB4}"/>
              </a:ext>
            </a:extLst>
          </p:cNvPr>
          <p:cNvSpPr/>
          <p:nvPr/>
        </p:nvSpPr>
        <p:spPr>
          <a:xfrm>
            <a:off x="1911020" y="528506"/>
            <a:ext cx="692817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6A1A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6C2FBC-B0EB-45C1-9469-C4F6741EC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1020" y="428653"/>
            <a:ext cx="6928179" cy="970450"/>
          </a:xfrm>
          <a:effectLst>
            <a:outerShdw blurRad="25400" dir="17880000">
              <a:srgbClr val="000000">
                <a:alpha val="70000"/>
              </a:srgbClr>
            </a:outerShdw>
          </a:effectLst>
        </p:spPr>
        <p:txBody>
          <a:bodyPr>
            <a:normAutofit/>
          </a:bodyPr>
          <a:lstStyle/>
          <a:p>
            <a:pPr algn="l"/>
            <a:r>
              <a:rPr lang="en-US" sz="3600" dirty="0">
                <a:ln>
                  <a:noFill/>
                </a:ln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Tom Brady VS Aaron Rodgers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2313B83-B214-43D7-AC39-182CE4FA3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3154" y="1490925"/>
            <a:ext cx="7277535" cy="4838569"/>
          </a:xfrm>
        </p:spPr>
        <p:txBody>
          <a:bodyPr numCol="1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40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Passer </a:t>
            </a:r>
            <a:r>
              <a:rPr lang="en-US" sz="24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Rating Based on 4 Stats (NFL)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Comp/ATT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YDS/ATT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INT/ATT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TD/ATT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0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2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Critique: “Any system for rating quarterbacks based on passing statistics is really rating the team’s entire passing game.“ –Dean Oliver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None/>
            </a:pPr>
            <a:endParaRPr lang="en-US" sz="22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2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Estimated Linear Model for Wins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Conducted by Brian Burke (ESPN)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Data from 2002-2006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0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Created Total QBR for ESPN in 2016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None/>
            </a:pPr>
            <a:endParaRPr lang="en-US" sz="20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2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</p:txBody>
      </p:sp>
      <p:pic>
        <p:nvPicPr>
          <p:cNvPr id="40" name="Graphic 39" descr="Football">
            <a:extLst>
              <a:ext uri="{FF2B5EF4-FFF2-40B4-BE49-F238E27FC236}">
                <a16:creationId xmlns:a16="http://schemas.microsoft.com/office/drawing/2014/main" id="{43103FBA-298C-4A8C-8E68-C9DFEB1CFA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17272" y="232079"/>
            <a:ext cx="1406766" cy="140676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5020441A-C920-4B5D-B423-02BDA4A265D5}"/>
              </a:ext>
            </a:extLst>
          </p:cNvPr>
          <p:cNvSpPr/>
          <p:nvPr/>
        </p:nvSpPr>
        <p:spPr>
          <a:xfrm>
            <a:off x="0" y="6363870"/>
            <a:ext cx="12192000" cy="280807"/>
          </a:xfrm>
          <a:prstGeom prst="rect">
            <a:avLst/>
          </a:prstGeom>
          <a:solidFill>
            <a:srgbClr val="D348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0A0A4F6-DDDF-466F-B88A-4EAD2319B32D}"/>
              </a:ext>
            </a:extLst>
          </p:cNvPr>
          <p:cNvSpPr/>
          <p:nvPr/>
        </p:nvSpPr>
        <p:spPr>
          <a:xfrm>
            <a:off x="10402110" y="528506"/>
            <a:ext cx="178988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E8668F5-2350-4974-AA4D-876D0CD42EDD}"/>
              </a:ext>
            </a:extLst>
          </p:cNvPr>
          <p:cNvSpPr/>
          <p:nvPr/>
        </p:nvSpPr>
        <p:spPr>
          <a:xfrm>
            <a:off x="-112743" y="528506"/>
            <a:ext cx="470541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Graphic 46" descr="Football">
            <a:extLst>
              <a:ext uri="{FF2B5EF4-FFF2-40B4-BE49-F238E27FC236}">
                <a16:creationId xmlns:a16="http://schemas.microsoft.com/office/drawing/2014/main" id="{BBBD34EB-97F5-4783-BE1A-4ADD4D05EB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6182" y="210495"/>
            <a:ext cx="1406766" cy="1406766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5F0AAD60-8447-4345-8BAE-BAA9FE11D163}"/>
              </a:ext>
            </a:extLst>
          </p:cNvPr>
          <p:cNvSpPr/>
          <p:nvPr/>
        </p:nvSpPr>
        <p:spPr>
          <a:xfrm>
            <a:off x="9869341" y="1660888"/>
            <a:ext cx="2322658" cy="4470544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B8CCB2-3A90-4EFE-87E8-7E86A934FDEE}"/>
              </a:ext>
            </a:extLst>
          </p:cNvPr>
          <p:cNvSpPr txBox="1"/>
          <p:nvPr/>
        </p:nvSpPr>
        <p:spPr>
          <a:xfrm>
            <a:off x="9966704" y="1760270"/>
            <a:ext cx="2490145" cy="1574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YDS = Yards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TD = Touchdown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INT = Interception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sz="1700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COMP = Completion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ATT = Attempts</a:t>
            </a:r>
          </a:p>
          <a:p>
            <a:pPr marL="0"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endParaRPr lang="en-US" dirty="0">
              <a:solidFill>
                <a:schemeClr val="bg2">
                  <a:lumMod val="10000"/>
                  <a:lumOff val="90000"/>
                </a:schemeClr>
              </a:solidFill>
              <a:latin typeface="Selawik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141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picture containing clothing, person, headdress, baseball&#10;&#10;Description automatically generated">
            <a:extLst>
              <a:ext uri="{FF2B5EF4-FFF2-40B4-BE49-F238E27FC236}">
                <a16:creationId xmlns:a16="http://schemas.microsoft.com/office/drawing/2014/main" id="{68BA132B-EA3B-4DFB-BEF2-04F4ACB3B0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151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3" b="7624"/>
          <a:stretch/>
        </p:blipFill>
        <p:spPr>
          <a:xfrm>
            <a:off x="-1051136" y="3119615"/>
            <a:ext cx="4065464" cy="3258005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7BDB8227-827C-484D-95AA-05C24716BEB4}"/>
              </a:ext>
            </a:extLst>
          </p:cNvPr>
          <p:cNvSpPr/>
          <p:nvPr/>
        </p:nvSpPr>
        <p:spPr>
          <a:xfrm>
            <a:off x="1911020" y="528506"/>
            <a:ext cx="692817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6A1A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6C2FBC-B0EB-45C1-9469-C4F6741EC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1020" y="428653"/>
            <a:ext cx="6928179" cy="970450"/>
          </a:xfrm>
          <a:effectLst>
            <a:outerShdw blurRad="25400" dir="17880000">
              <a:srgbClr val="000000">
                <a:alpha val="70000"/>
              </a:srgbClr>
            </a:outerShdw>
          </a:effectLst>
        </p:spPr>
        <p:txBody>
          <a:bodyPr>
            <a:normAutofit/>
          </a:bodyPr>
          <a:lstStyle/>
          <a:p>
            <a:pPr algn="l"/>
            <a:r>
              <a:rPr lang="en-US" sz="3600" dirty="0">
                <a:ln>
                  <a:noFill/>
                </a:ln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Tom Brady VS Aaron Rodgers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2313B83-B214-43D7-AC39-182CE4FA3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3154" y="1490925"/>
            <a:ext cx="7277535" cy="4838569"/>
          </a:xfrm>
        </p:spPr>
        <p:txBody>
          <a:bodyPr numCol="1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Independent Variables for Wins</a:t>
            </a:r>
            <a:endParaRPr lang="en-US" sz="20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None/>
            </a:pPr>
            <a:endParaRPr lang="en-US" sz="20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2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</p:txBody>
      </p:sp>
      <p:pic>
        <p:nvPicPr>
          <p:cNvPr id="40" name="Graphic 39" descr="Football">
            <a:extLst>
              <a:ext uri="{FF2B5EF4-FFF2-40B4-BE49-F238E27FC236}">
                <a16:creationId xmlns:a16="http://schemas.microsoft.com/office/drawing/2014/main" id="{43103FBA-298C-4A8C-8E68-C9DFEB1CFA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17272" y="232079"/>
            <a:ext cx="1406766" cy="140676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5020441A-C920-4B5D-B423-02BDA4A265D5}"/>
              </a:ext>
            </a:extLst>
          </p:cNvPr>
          <p:cNvSpPr/>
          <p:nvPr/>
        </p:nvSpPr>
        <p:spPr>
          <a:xfrm>
            <a:off x="0" y="6363870"/>
            <a:ext cx="12192000" cy="280807"/>
          </a:xfrm>
          <a:prstGeom prst="rect">
            <a:avLst/>
          </a:prstGeom>
          <a:solidFill>
            <a:srgbClr val="D348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0A0A4F6-DDDF-466F-B88A-4EAD2319B32D}"/>
              </a:ext>
            </a:extLst>
          </p:cNvPr>
          <p:cNvSpPr/>
          <p:nvPr/>
        </p:nvSpPr>
        <p:spPr>
          <a:xfrm>
            <a:off x="10402110" y="528506"/>
            <a:ext cx="178988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E8668F5-2350-4974-AA4D-876D0CD42EDD}"/>
              </a:ext>
            </a:extLst>
          </p:cNvPr>
          <p:cNvSpPr/>
          <p:nvPr/>
        </p:nvSpPr>
        <p:spPr>
          <a:xfrm>
            <a:off x="-112743" y="528506"/>
            <a:ext cx="470541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Graphic 46" descr="Football">
            <a:extLst>
              <a:ext uri="{FF2B5EF4-FFF2-40B4-BE49-F238E27FC236}">
                <a16:creationId xmlns:a16="http://schemas.microsoft.com/office/drawing/2014/main" id="{BBBD34EB-97F5-4783-BE1A-4ADD4D05EB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6182" y="210495"/>
            <a:ext cx="1406766" cy="1406766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EA4F53F-80CF-44E9-A6D6-082520183F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4571" y="2031857"/>
            <a:ext cx="7286324" cy="2660786"/>
          </a:xfrm>
          <a:prstGeom prst="rect">
            <a:avLst/>
          </a:prstGeom>
          <a:ln w="38100">
            <a:solidFill>
              <a:srgbClr val="D34817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E992717-A284-4D1C-8499-17BCF1094DE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24571" y="4727019"/>
            <a:ext cx="7286324" cy="972083"/>
          </a:xfrm>
          <a:prstGeom prst="rect">
            <a:avLst/>
          </a:prstGeom>
          <a:ln w="38100">
            <a:solidFill>
              <a:srgbClr val="D34817"/>
            </a:solidFill>
          </a:ln>
        </p:spPr>
      </p:pic>
    </p:spTree>
    <p:extLst>
      <p:ext uri="{BB962C8B-B14F-4D97-AF65-F5344CB8AC3E}">
        <p14:creationId xmlns:p14="http://schemas.microsoft.com/office/powerpoint/2010/main" val="3155459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picture containing clothing, person, headdress, baseball&#10;&#10;Description automatically generated">
            <a:extLst>
              <a:ext uri="{FF2B5EF4-FFF2-40B4-BE49-F238E27FC236}">
                <a16:creationId xmlns:a16="http://schemas.microsoft.com/office/drawing/2014/main" id="{68BA132B-EA3B-4DFB-BEF2-04F4ACB3B0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151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3" b="7624"/>
          <a:stretch/>
        </p:blipFill>
        <p:spPr>
          <a:xfrm>
            <a:off x="-1051136" y="3119615"/>
            <a:ext cx="4065464" cy="3258005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7BDB8227-827C-484D-95AA-05C24716BEB4}"/>
              </a:ext>
            </a:extLst>
          </p:cNvPr>
          <p:cNvSpPr/>
          <p:nvPr/>
        </p:nvSpPr>
        <p:spPr>
          <a:xfrm>
            <a:off x="1911020" y="528506"/>
            <a:ext cx="692817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6A1A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6C2FBC-B0EB-45C1-9469-C4F6741EC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1020" y="428653"/>
            <a:ext cx="6928179" cy="970450"/>
          </a:xfrm>
          <a:effectLst>
            <a:outerShdw blurRad="25400" dir="17880000">
              <a:srgbClr val="000000">
                <a:alpha val="70000"/>
              </a:srgbClr>
            </a:outerShdw>
          </a:effectLst>
        </p:spPr>
        <p:txBody>
          <a:bodyPr>
            <a:normAutofit/>
          </a:bodyPr>
          <a:lstStyle/>
          <a:p>
            <a:pPr algn="l"/>
            <a:r>
              <a:rPr lang="en-US" sz="3600" dirty="0">
                <a:ln>
                  <a:noFill/>
                </a:ln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Tom Brady VS Aaron Rodgers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2313B83-B214-43D7-AC39-182CE4FA3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3154" y="1490925"/>
            <a:ext cx="7277535" cy="4838569"/>
          </a:xfrm>
        </p:spPr>
        <p:txBody>
          <a:bodyPr numCol="1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Results of Regression</a:t>
            </a:r>
            <a:endParaRPr lang="en-US" sz="20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None/>
            </a:pPr>
            <a:endParaRPr lang="en-US" sz="20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2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</p:txBody>
      </p:sp>
      <p:pic>
        <p:nvPicPr>
          <p:cNvPr id="40" name="Graphic 39" descr="Football">
            <a:extLst>
              <a:ext uri="{FF2B5EF4-FFF2-40B4-BE49-F238E27FC236}">
                <a16:creationId xmlns:a16="http://schemas.microsoft.com/office/drawing/2014/main" id="{43103FBA-298C-4A8C-8E68-C9DFEB1CFA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17272" y="232079"/>
            <a:ext cx="1406766" cy="140676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5020441A-C920-4B5D-B423-02BDA4A265D5}"/>
              </a:ext>
            </a:extLst>
          </p:cNvPr>
          <p:cNvSpPr/>
          <p:nvPr/>
        </p:nvSpPr>
        <p:spPr>
          <a:xfrm>
            <a:off x="0" y="6363870"/>
            <a:ext cx="12192000" cy="280807"/>
          </a:xfrm>
          <a:prstGeom prst="rect">
            <a:avLst/>
          </a:prstGeom>
          <a:solidFill>
            <a:srgbClr val="D348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0A0A4F6-DDDF-466F-B88A-4EAD2319B32D}"/>
              </a:ext>
            </a:extLst>
          </p:cNvPr>
          <p:cNvSpPr/>
          <p:nvPr/>
        </p:nvSpPr>
        <p:spPr>
          <a:xfrm>
            <a:off x="10402110" y="528506"/>
            <a:ext cx="178988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E8668F5-2350-4974-AA4D-876D0CD42EDD}"/>
              </a:ext>
            </a:extLst>
          </p:cNvPr>
          <p:cNvSpPr/>
          <p:nvPr/>
        </p:nvSpPr>
        <p:spPr>
          <a:xfrm>
            <a:off x="-112743" y="528506"/>
            <a:ext cx="470541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Graphic 46" descr="Football">
            <a:extLst>
              <a:ext uri="{FF2B5EF4-FFF2-40B4-BE49-F238E27FC236}">
                <a16:creationId xmlns:a16="http://schemas.microsoft.com/office/drawing/2014/main" id="{BBBD34EB-97F5-4783-BE1A-4ADD4D05EB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6182" y="210495"/>
            <a:ext cx="1406766" cy="14067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BEE1ADE-4B7D-44FF-A11D-DAA77DFB97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7209" y="1991490"/>
            <a:ext cx="3428156" cy="4105323"/>
          </a:xfrm>
          <a:prstGeom prst="rect">
            <a:avLst/>
          </a:prstGeom>
          <a:ln w="38100">
            <a:solidFill>
              <a:srgbClr val="D34817"/>
            </a:solidFill>
          </a:ln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4EDBD470-16AC-4A2F-B293-F704DE34556B}"/>
              </a:ext>
            </a:extLst>
          </p:cNvPr>
          <p:cNvSpPr/>
          <p:nvPr/>
        </p:nvSpPr>
        <p:spPr>
          <a:xfrm>
            <a:off x="5251450" y="2736850"/>
            <a:ext cx="844550" cy="323607"/>
          </a:xfrm>
          <a:prstGeom prst="ellipse">
            <a:avLst/>
          </a:prstGeom>
          <a:noFill/>
          <a:ln w="38100">
            <a:solidFill>
              <a:srgbClr val="D348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2E67CA3-8C07-4D5C-8444-7E90136AD6EC}"/>
              </a:ext>
            </a:extLst>
          </p:cNvPr>
          <p:cNvSpPr/>
          <p:nvPr/>
        </p:nvSpPr>
        <p:spPr>
          <a:xfrm>
            <a:off x="5251450" y="3073157"/>
            <a:ext cx="844550" cy="323607"/>
          </a:xfrm>
          <a:prstGeom prst="ellipse">
            <a:avLst/>
          </a:prstGeom>
          <a:noFill/>
          <a:ln w="38100">
            <a:solidFill>
              <a:srgbClr val="D348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A7C27D6-AE29-4FAA-97F7-6585C4DED987}"/>
              </a:ext>
            </a:extLst>
          </p:cNvPr>
          <p:cNvSpPr/>
          <p:nvPr/>
        </p:nvSpPr>
        <p:spPr>
          <a:xfrm>
            <a:off x="5332261" y="4086874"/>
            <a:ext cx="844550" cy="323607"/>
          </a:xfrm>
          <a:prstGeom prst="ellipse">
            <a:avLst/>
          </a:prstGeom>
          <a:noFill/>
          <a:ln w="38100">
            <a:solidFill>
              <a:srgbClr val="D348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29E5B8-3E72-498B-9399-05C123EB95E2}"/>
              </a:ext>
            </a:extLst>
          </p:cNvPr>
          <p:cNvSpPr txBox="1"/>
          <p:nvPr/>
        </p:nvSpPr>
        <p:spPr>
          <a:xfrm>
            <a:off x="7128473" y="3583079"/>
            <a:ext cx="1596397" cy="5909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All Passing Information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842FB62-BCCD-41E1-9ECC-743DA559F4F8}"/>
              </a:ext>
            </a:extLst>
          </p:cNvPr>
          <p:cNvCxnSpPr>
            <a:cxnSpLocks/>
          </p:cNvCxnSpPr>
          <p:nvPr/>
        </p:nvCxnSpPr>
        <p:spPr>
          <a:xfrm flipH="1" flipV="1">
            <a:off x="6280150" y="3009901"/>
            <a:ext cx="1022350" cy="64360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BDBA0020-2837-483C-8123-FB89709F1E75}"/>
              </a:ext>
            </a:extLst>
          </p:cNvPr>
          <p:cNvCxnSpPr>
            <a:cxnSpLocks/>
            <a:stCxn id="19" idx="1"/>
          </p:cNvCxnSpPr>
          <p:nvPr/>
        </p:nvCxnSpPr>
        <p:spPr>
          <a:xfrm flipH="1" flipV="1">
            <a:off x="6220423" y="3309191"/>
            <a:ext cx="908050" cy="56935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A8AAC44-E805-4889-B9FD-C7C7980CCBF6}"/>
              </a:ext>
            </a:extLst>
          </p:cNvPr>
          <p:cNvCxnSpPr>
            <a:cxnSpLocks/>
          </p:cNvCxnSpPr>
          <p:nvPr/>
        </p:nvCxnSpPr>
        <p:spPr>
          <a:xfrm flipH="1">
            <a:off x="6236971" y="4032119"/>
            <a:ext cx="998689" cy="20452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1AF7A364-CF05-9E45-3BCD-B413991B08D7}"/>
              </a:ext>
            </a:extLst>
          </p:cNvPr>
          <p:cNvSpPr/>
          <p:nvPr/>
        </p:nvSpPr>
        <p:spPr>
          <a:xfrm>
            <a:off x="5306311" y="4444857"/>
            <a:ext cx="844550" cy="323607"/>
          </a:xfrm>
          <a:prstGeom prst="ellipse">
            <a:avLst/>
          </a:prstGeom>
          <a:noFill/>
          <a:ln w="38100">
            <a:solidFill>
              <a:srgbClr val="D348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7079213-FAA7-1284-7B0F-081DC88C87F9}"/>
              </a:ext>
            </a:extLst>
          </p:cNvPr>
          <p:cNvCxnSpPr>
            <a:cxnSpLocks/>
          </p:cNvCxnSpPr>
          <p:nvPr/>
        </p:nvCxnSpPr>
        <p:spPr>
          <a:xfrm flipH="1">
            <a:off x="6258417" y="4174010"/>
            <a:ext cx="977243" cy="41266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5560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picture containing clothing, person, headdress, baseball&#10;&#10;Description automatically generated">
            <a:extLst>
              <a:ext uri="{FF2B5EF4-FFF2-40B4-BE49-F238E27FC236}">
                <a16:creationId xmlns:a16="http://schemas.microsoft.com/office/drawing/2014/main" id="{68BA132B-EA3B-4DFB-BEF2-04F4ACB3B0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151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3" b="7624"/>
          <a:stretch/>
        </p:blipFill>
        <p:spPr>
          <a:xfrm>
            <a:off x="-1051136" y="3119615"/>
            <a:ext cx="4065464" cy="3258005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7BDB8227-827C-484D-95AA-05C24716BEB4}"/>
              </a:ext>
            </a:extLst>
          </p:cNvPr>
          <p:cNvSpPr/>
          <p:nvPr/>
        </p:nvSpPr>
        <p:spPr>
          <a:xfrm>
            <a:off x="1911020" y="528506"/>
            <a:ext cx="692817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6A1A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6C2FBC-B0EB-45C1-9469-C4F6741EC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1020" y="428653"/>
            <a:ext cx="6928179" cy="970450"/>
          </a:xfrm>
          <a:effectLst>
            <a:outerShdw blurRad="25400" dir="17880000">
              <a:srgbClr val="000000">
                <a:alpha val="70000"/>
              </a:srgbClr>
            </a:outerShdw>
          </a:effectLst>
        </p:spPr>
        <p:txBody>
          <a:bodyPr>
            <a:normAutofit/>
          </a:bodyPr>
          <a:lstStyle/>
          <a:p>
            <a:pPr algn="l"/>
            <a:r>
              <a:rPr lang="en-US" sz="3600" dirty="0">
                <a:ln>
                  <a:noFill/>
                </a:ln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Tom Brady VS Aaron Rodgers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2313B83-B214-43D7-AC39-182CE4FA3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3154" y="1490925"/>
            <a:ext cx="7277535" cy="4838569"/>
          </a:xfrm>
        </p:spPr>
        <p:txBody>
          <a:bodyPr numCol="1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Results of Regression</a:t>
            </a:r>
            <a:endParaRPr lang="en-US" sz="20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None/>
            </a:pPr>
            <a:endParaRPr lang="en-US" sz="20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2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</p:txBody>
      </p:sp>
      <p:pic>
        <p:nvPicPr>
          <p:cNvPr id="40" name="Graphic 39" descr="Football">
            <a:extLst>
              <a:ext uri="{FF2B5EF4-FFF2-40B4-BE49-F238E27FC236}">
                <a16:creationId xmlns:a16="http://schemas.microsoft.com/office/drawing/2014/main" id="{43103FBA-298C-4A8C-8E68-C9DFEB1CFA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17272" y="232079"/>
            <a:ext cx="1406766" cy="140676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5020441A-C920-4B5D-B423-02BDA4A265D5}"/>
              </a:ext>
            </a:extLst>
          </p:cNvPr>
          <p:cNvSpPr/>
          <p:nvPr/>
        </p:nvSpPr>
        <p:spPr>
          <a:xfrm>
            <a:off x="0" y="6363870"/>
            <a:ext cx="12192000" cy="280807"/>
          </a:xfrm>
          <a:prstGeom prst="rect">
            <a:avLst/>
          </a:prstGeom>
          <a:solidFill>
            <a:srgbClr val="D348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0A0A4F6-DDDF-466F-B88A-4EAD2319B32D}"/>
              </a:ext>
            </a:extLst>
          </p:cNvPr>
          <p:cNvSpPr/>
          <p:nvPr/>
        </p:nvSpPr>
        <p:spPr>
          <a:xfrm>
            <a:off x="10402110" y="528506"/>
            <a:ext cx="178988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E8668F5-2350-4974-AA4D-876D0CD42EDD}"/>
              </a:ext>
            </a:extLst>
          </p:cNvPr>
          <p:cNvSpPr/>
          <p:nvPr/>
        </p:nvSpPr>
        <p:spPr>
          <a:xfrm>
            <a:off x="-112743" y="528506"/>
            <a:ext cx="470541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Graphic 46" descr="Football">
            <a:extLst>
              <a:ext uri="{FF2B5EF4-FFF2-40B4-BE49-F238E27FC236}">
                <a16:creationId xmlns:a16="http://schemas.microsoft.com/office/drawing/2014/main" id="{BBBD34EB-97F5-4783-BE1A-4ADD4D05EB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6182" y="210495"/>
            <a:ext cx="1406766" cy="14067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BEE1ADE-4B7D-44FF-A11D-DAA77DFB97B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27209" y="1991490"/>
            <a:ext cx="3428156" cy="4105323"/>
          </a:xfrm>
          <a:prstGeom prst="rect">
            <a:avLst/>
          </a:prstGeom>
          <a:ln w="38100">
            <a:solidFill>
              <a:srgbClr val="D34817"/>
            </a:solidFill>
          </a:ln>
        </p:spPr>
      </p:pic>
      <p:sp>
        <p:nvSpPr>
          <p:cNvPr id="15" name="Oval 14">
            <a:extLst>
              <a:ext uri="{FF2B5EF4-FFF2-40B4-BE49-F238E27FC236}">
                <a16:creationId xmlns:a16="http://schemas.microsoft.com/office/drawing/2014/main" id="{4EDBD470-16AC-4A2F-B293-F704DE34556B}"/>
              </a:ext>
            </a:extLst>
          </p:cNvPr>
          <p:cNvSpPr/>
          <p:nvPr/>
        </p:nvSpPr>
        <p:spPr>
          <a:xfrm>
            <a:off x="5251450" y="2736850"/>
            <a:ext cx="844550" cy="323607"/>
          </a:xfrm>
          <a:prstGeom prst="ellipse">
            <a:avLst/>
          </a:prstGeom>
          <a:noFill/>
          <a:ln w="38100">
            <a:solidFill>
              <a:srgbClr val="D348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8A7C27D6-AE29-4FAA-97F7-6585C4DED987}"/>
              </a:ext>
            </a:extLst>
          </p:cNvPr>
          <p:cNvSpPr/>
          <p:nvPr/>
        </p:nvSpPr>
        <p:spPr>
          <a:xfrm>
            <a:off x="5310815" y="4093224"/>
            <a:ext cx="844550" cy="323607"/>
          </a:xfrm>
          <a:prstGeom prst="ellipse">
            <a:avLst/>
          </a:prstGeom>
          <a:noFill/>
          <a:ln w="38100">
            <a:solidFill>
              <a:srgbClr val="D348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829E5B8-3E72-498B-9399-05C123EB95E2}"/>
              </a:ext>
            </a:extLst>
          </p:cNvPr>
          <p:cNvSpPr txBox="1"/>
          <p:nvPr/>
        </p:nvSpPr>
        <p:spPr>
          <a:xfrm>
            <a:off x="7026873" y="3459952"/>
            <a:ext cx="2021877" cy="59093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</a:pP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Contribution from Offense QB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7842FB62-BCCD-41E1-9ECC-743DA559F4F8}"/>
              </a:ext>
            </a:extLst>
          </p:cNvPr>
          <p:cNvCxnSpPr>
            <a:cxnSpLocks/>
          </p:cNvCxnSpPr>
          <p:nvPr/>
        </p:nvCxnSpPr>
        <p:spPr>
          <a:xfrm flipH="1" flipV="1">
            <a:off x="6280150" y="3009901"/>
            <a:ext cx="946150" cy="57317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A8AAC44-E805-4889-B9FD-C7C7980CCBF6}"/>
              </a:ext>
            </a:extLst>
          </p:cNvPr>
          <p:cNvCxnSpPr>
            <a:cxnSpLocks/>
          </p:cNvCxnSpPr>
          <p:nvPr/>
        </p:nvCxnSpPr>
        <p:spPr>
          <a:xfrm flipH="1">
            <a:off x="6237108" y="4044151"/>
            <a:ext cx="891365" cy="18253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403B60C9-7C72-4433-99C7-C630F7F15855}"/>
              </a:ext>
            </a:extLst>
          </p:cNvPr>
          <p:cNvSpPr/>
          <p:nvPr/>
        </p:nvSpPr>
        <p:spPr>
          <a:xfrm>
            <a:off x="4198449" y="2736850"/>
            <a:ext cx="844550" cy="323607"/>
          </a:xfrm>
          <a:prstGeom prst="ellipse">
            <a:avLst/>
          </a:prstGeom>
          <a:noFill/>
          <a:ln w="38100">
            <a:solidFill>
              <a:srgbClr val="D348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C91381B-ED3F-4E9F-964C-066926926849}"/>
              </a:ext>
            </a:extLst>
          </p:cNvPr>
          <p:cNvSpPr/>
          <p:nvPr/>
        </p:nvSpPr>
        <p:spPr>
          <a:xfrm>
            <a:off x="4198449" y="4093223"/>
            <a:ext cx="844550" cy="323607"/>
          </a:xfrm>
          <a:prstGeom prst="ellipse">
            <a:avLst/>
          </a:prstGeom>
          <a:noFill/>
          <a:ln w="38100">
            <a:solidFill>
              <a:srgbClr val="D348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A2876C5-6E9D-89D6-A6C9-34362B6100D4}"/>
                  </a:ext>
                </a:extLst>
              </p:cNvPr>
              <p:cNvSpPr txBox="1"/>
              <p:nvPr/>
            </p:nvSpPr>
            <p:spPr>
              <a:xfrm>
                <a:off x="6096000" y="4508653"/>
                <a:ext cx="628646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𝑄𝐵𝑅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𝐵𝑜𝑜𝑘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=1.543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𝑇𝑅𝑈𝑂𝑃𝐴𝑆𝑆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−50.096(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𝑂𝐼𝑁𝑇𝑅𝐴𝑇𝐸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A2876C5-6E9D-89D6-A6C9-34362B6100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4508653"/>
                <a:ext cx="6286460" cy="369332"/>
              </a:xfrm>
              <a:prstGeom prst="rect">
                <a:avLst/>
              </a:prstGeom>
              <a:blipFill>
                <a:blip r:embed="rId8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3594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picture containing clothing, person, headdress, baseball&#10;&#10;Description automatically generated">
            <a:extLst>
              <a:ext uri="{FF2B5EF4-FFF2-40B4-BE49-F238E27FC236}">
                <a16:creationId xmlns:a16="http://schemas.microsoft.com/office/drawing/2014/main" id="{68BA132B-EA3B-4DFB-BEF2-04F4ACB3B0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151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3" b="7624"/>
          <a:stretch/>
        </p:blipFill>
        <p:spPr>
          <a:xfrm>
            <a:off x="-1051136" y="3119615"/>
            <a:ext cx="4065464" cy="3258005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7BDB8227-827C-484D-95AA-05C24716BEB4}"/>
              </a:ext>
            </a:extLst>
          </p:cNvPr>
          <p:cNvSpPr/>
          <p:nvPr/>
        </p:nvSpPr>
        <p:spPr>
          <a:xfrm>
            <a:off x="1911020" y="528506"/>
            <a:ext cx="692817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6A1A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6C2FBC-B0EB-45C1-9469-C4F6741EC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1020" y="428653"/>
            <a:ext cx="6928179" cy="970450"/>
          </a:xfrm>
          <a:effectLst>
            <a:outerShdw blurRad="25400" dir="17880000">
              <a:srgbClr val="000000">
                <a:alpha val="70000"/>
              </a:srgbClr>
            </a:outerShdw>
          </a:effectLst>
        </p:spPr>
        <p:txBody>
          <a:bodyPr>
            <a:normAutofit/>
          </a:bodyPr>
          <a:lstStyle/>
          <a:p>
            <a:pPr algn="l"/>
            <a:r>
              <a:rPr lang="en-US" sz="3600" dirty="0">
                <a:ln>
                  <a:noFill/>
                </a:ln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Tom Brady VS Aaron Rodgers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2313B83-B214-43D7-AC39-182CE4FA3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3154" y="1490925"/>
            <a:ext cx="9908845" cy="4838569"/>
          </a:xfrm>
        </p:spPr>
        <p:txBody>
          <a:bodyPr numCol="1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Comparing Ratings in 2016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None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</p:txBody>
      </p:sp>
      <p:pic>
        <p:nvPicPr>
          <p:cNvPr id="40" name="Graphic 39" descr="Football">
            <a:extLst>
              <a:ext uri="{FF2B5EF4-FFF2-40B4-BE49-F238E27FC236}">
                <a16:creationId xmlns:a16="http://schemas.microsoft.com/office/drawing/2014/main" id="{43103FBA-298C-4A8C-8E68-C9DFEB1CFA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17272" y="232079"/>
            <a:ext cx="1406766" cy="140676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5020441A-C920-4B5D-B423-02BDA4A265D5}"/>
              </a:ext>
            </a:extLst>
          </p:cNvPr>
          <p:cNvSpPr/>
          <p:nvPr/>
        </p:nvSpPr>
        <p:spPr>
          <a:xfrm>
            <a:off x="0" y="6363870"/>
            <a:ext cx="12192000" cy="280807"/>
          </a:xfrm>
          <a:prstGeom prst="rect">
            <a:avLst/>
          </a:prstGeom>
          <a:solidFill>
            <a:srgbClr val="D348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0A0A4F6-DDDF-466F-B88A-4EAD2319B32D}"/>
              </a:ext>
            </a:extLst>
          </p:cNvPr>
          <p:cNvSpPr/>
          <p:nvPr/>
        </p:nvSpPr>
        <p:spPr>
          <a:xfrm>
            <a:off x="10402110" y="528506"/>
            <a:ext cx="178988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E8668F5-2350-4974-AA4D-876D0CD42EDD}"/>
              </a:ext>
            </a:extLst>
          </p:cNvPr>
          <p:cNvSpPr/>
          <p:nvPr/>
        </p:nvSpPr>
        <p:spPr>
          <a:xfrm>
            <a:off x="-112743" y="528506"/>
            <a:ext cx="470541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Graphic 46" descr="Football">
            <a:extLst>
              <a:ext uri="{FF2B5EF4-FFF2-40B4-BE49-F238E27FC236}">
                <a16:creationId xmlns:a16="http://schemas.microsoft.com/office/drawing/2014/main" id="{BBBD34EB-97F5-4783-BE1A-4ADD4D05EB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6182" y="210495"/>
            <a:ext cx="1406766" cy="14067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5FECA2D-1E28-FB69-E7E0-8C6202CC24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4632" y="2134768"/>
            <a:ext cx="5991225" cy="3095625"/>
          </a:xfrm>
          <a:prstGeom prst="rect">
            <a:avLst/>
          </a:prstGeom>
          <a:ln w="28575">
            <a:solidFill>
              <a:srgbClr val="D34817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</p:pic>
      <p:pic>
        <p:nvPicPr>
          <p:cNvPr id="1026" name="Picture 2" descr="Tom Brady gets apology from Tampa mayor over park snafu">
            <a:extLst>
              <a:ext uri="{FF2B5EF4-FFF2-40B4-BE49-F238E27FC236}">
                <a16:creationId xmlns:a16="http://schemas.microsoft.com/office/drawing/2014/main" id="{BFE6578B-78F1-86B9-8AD5-F676E7FB1D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7452" y="2134768"/>
            <a:ext cx="1589602" cy="1059408"/>
          </a:xfrm>
          <a:prstGeom prst="rect">
            <a:avLst/>
          </a:prstGeom>
          <a:noFill/>
          <a:ln w="28575">
            <a:solidFill>
              <a:srgbClr val="D34817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aron Rodgers has no interest in TV gig after NFL retirement">
            <a:extLst>
              <a:ext uri="{FF2B5EF4-FFF2-40B4-BE49-F238E27FC236}">
                <a16:creationId xmlns:a16="http://schemas.microsoft.com/office/drawing/2014/main" id="{D1C05B2F-737D-EC86-B324-30254B5F7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8678" y="3354998"/>
            <a:ext cx="1588376" cy="1059408"/>
          </a:xfrm>
          <a:prstGeom prst="rect">
            <a:avLst/>
          </a:prstGeom>
          <a:noFill/>
          <a:ln w="28575">
            <a:solidFill>
              <a:srgbClr val="D34817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09D44E6-5E72-18DF-62E5-211579E7168E}"/>
              </a:ext>
            </a:extLst>
          </p:cNvPr>
          <p:cNvSpPr/>
          <p:nvPr/>
        </p:nvSpPr>
        <p:spPr>
          <a:xfrm>
            <a:off x="5640510" y="2720800"/>
            <a:ext cx="513116" cy="27307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C8B0E9B-69AE-936A-E993-3D585467C195}"/>
              </a:ext>
            </a:extLst>
          </p:cNvPr>
          <p:cNvSpPr/>
          <p:nvPr/>
        </p:nvSpPr>
        <p:spPr>
          <a:xfrm>
            <a:off x="5615774" y="3283506"/>
            <a:ext cx="513116" cy="273076"/>
          </a:xfrm>
          <a:prstGeom prst="ellipse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5A4A511-7B41-4F66-3C13-005600CC1ED3}"/>
              </a:ext>
            </a:extLst>
          </p:cNvPr>
          <p:cNvCxnSpPr/>
          <p:nvPr/>
        </p:nvCxnSpPr>
        <p:spPr>
          <a:xfrm flipV="1">
            <a:off x="6153626" y="2401122"/>
            <a:ext cx="3411393" cy="45621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01DA4E8-2C30-8118-2990-634DE58273A1}"/>
              </a:ext>
            </a:extLst>
          </p:cNvPr>
          <p:cNvCxnSpPr>
            <a:cxnSpLocks/>
          </p:cNvCxnSpPr>
          <p:nvPr/>
        </p:nvCxnSpPr>
        <p:spPr>
          <a:xfrm>
            <a:off x="6138583" y="3416029"/>
            <a:ext cx="3482072" cy="42199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95358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picture containing clothing, person, headdress, baseball&#10;&#10;Description automatically generated">
            <a:extLst>
              <a:ext uri="{FF2B5EF4-FFF2-40B4-BE49-F238E27FC236}">
                <a16:creationId xmlns:a16="http://schemas.microsoft.com/office/drawing/2014/main" id="{68BA132B-EA3B-4DFB-BEF2-04F4ACB3B02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11151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3" b="7624"/>
          <a:stretch/>
        </p:blipFill>
        <p:spPr>
          <a:xfrm>
            <a:off x="-1051136" y="3119615"/>
            <a:ext cx="4065464" cy="3258005"/>
          </a:xfrm>
          <a:prstGeom prst="rect">
            <a:avLst/>
          </a:prstGeom>
        </p:spPr>
      </p:pic>
      <p:sp>
        <p:nvSpPr>
          <p:cNvPr id="41" name="Rectangle 40">
            <a:extLst>
              <a:ext uri="{FF2B5EF4-FFF2-40B4-BE49-F238E27FC236}">
                <a16:creationId xmlns:a16="http://schemas.microsoft.com/office/drawing/2014/main" id="{7BDB8227-827C-484D-95AA-05C24716BEB4}"/>
              </a:ext>
            </a:extLst>
          </p:cNvPr>
          <p:cNvSpPr/>
          <p:nvPr/>
        </p:nvSpPr>
        <p:spPr>
          <a:xfrm>
            <a:off x="1911020" y="528506"/>
            <a:ext cx="692817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6A1A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A6C2FBC-B0EB-45C1-9469-C4F6741ECB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11020" y="428653"/>
            <a:ext cx="6928179" cy="970450"/>
          </a:xfrm>
          <a:effectLst>
            <a:outerShdw blurRad="25400" dir="17880000">
              <a:srgbClr val="000000">
                <a:alpha val="70000"/>
              </a:srgbClr>
            </a:outerShdw>
          </a:effectLst>
        </p:spPr>
        <p:txBody>
          <a:bodyPr>
            <a:normAutofit/>
          </a:bodyPr>
          <a:lstStyle/>
          <a:p>
            <a:pPr algn="l"/>
            <a:r>
              <a:rPr lang="en-US" sz="3600" dirty="0">
                <a:ln>
                  <a:noFill/>
                </a:ln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Tom Brady VS Aaron Rodgers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52313B83-B214-43D7-AC39-182CE4FA3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3155" y="1490925"/>
            <a:ext cx="6928180" cy="4838569"/>
          </a:xfrm>
        </p:spPr>
        <p:txBody>
          <a:bodyPr numCol="1" anchor="t">
            <a:noAutofit/>
          </a:bodyPr>
          <a:lstStyle/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Correlation Between Ratings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2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Book with QBR (0.9)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2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Book with Total QBR (0.82)</a:t>
            </a: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2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Further Adjustment Needed to Measure the Quality of the Quarterback?</a:t>
            </a: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r>
              <a:rPr lang="en-US" sz="2400" dirty="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Book Points Out the Difficulty in Understanding How the Offensive Line Contributes to the </a:t>
            </a:r>
            <a:r>
              <a:rPr lang="en-US" sz="2400">
                <a:solidFill>
                  <a:schemeClr val="bg2">
                    <a:lumMod val="10000"/>
                    <a:lumOff val="90000"/>
                  </a:schemeClr>
                </a:solidFill>
                <a:effectLst/>
                <a:latin typeface="Selawik Semibold" panose="020B0702040204020203" pitchFamily="34" charset="0"/>
              </a:rPr>
              <a:t>QB’s Success</a:t>
            </a: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2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377100" lvl="1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2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Font typeface="Wingdings" panose="05000000000000000000" pitchFamily="2" charset="2"/>
              <a:buChar char="v"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  <a:p>
            <a:pPr marL="0" indent="0">
              <a:spcBef>
                <a:spcPts val="0"/>
              </a:spcBef>
              <a:spcAft>
                <a:spcPts val="0"/>
              </a:spcAft>
              <a:buClr>
                <a:srgbClr val="D34817"/>
              </a:buClr>
              <a:buSzPct val="100000"/>
              <a:buNone/>
            </a:pPr>
            <a:endParaRPr lang="en-US" sz="2400" dirty="0">
              <a:solidFill>
                <a:schemeClr val="bg2">
                  <a:lumMod val="10000"/>
                  <a:lumOff val="90000"/>
                </a:schemeClr>
              </a:solidFill>
              <a:effectLst/>
              <a:latin typeface="Selawik Semibold" panose="020B0702040204020203" pitchFamily="34" charset="0"/>
            </a:endParaRPr>
          </a:p>
        </p:txBody>
      </p:sp>
      <p:pic>
        <p:nvPicPr>
          <p:cNvPr id="40" name="Graphic 39" descr="Football">
            <a:extLst>
              <a:ext uri="{FF2B5EF4-FFF2-40B4-BE49-F238E27FC236}">
                <a16:creationId xmlns:a16="http://schemas.microsoft.com/office/drawing/2014/main" id="{43103FBA-298C-4A8C-8E68-C9DFEB1CFAF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17272" y="232079"/>
            <a:ext cx="1406766" cy="1406766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5020441A-C920-4B5D-B423-02BDA4A265D5}"/>
              </a:ext>
            </a:extLst>
          </p:cNvPr>
          <p:cNvSpPr/>
          <p:nvPr/>
        </p:nvSpPr>
        <p:spPr>
          <a:xfrm>
            <a:off x="0" y="6363870"/>
            <a:ext cx="12192000" cy="280807"/>
          </a:xfrm>
          <a:prstGeom prst="rect">
            <a:avLst/>
          </a:prstGeom>
          <a:solidFill>
            <a:srgbClr val="D3481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0A0A4F6-DDDF-466F-B88A-4EAD2319B32D}"/>
              </a:ext>
            </a:extLst>
          </p:cNvPr>
          <p:cNvSpPr/>
          <p:nvPr/>
        </p:nvSpPr>
        <p:spPr>
          <a:xfrm>
            <a:off x="10402110" y="528506"/>
            <a:ext cx="1789889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E8668F5-2350-4974-AA4D-876D0CD42EDD}"/>
              </a:ext>
            </a:extLst>
          </p:cNvPr>
          <p:cNvSpPr/>
          <p:nvPr/>
        </p:nvSpPr>
        <p:spPr>
          <a:xfrm>
            <a:off x="-112743" y="528506"/>
            <a:ext cx="470541" cy="813912"/>
          </a:xfrm>
          <a:prstGeom prst="rect">
            <a:avLst/>
          </a:prstGeom>
          <a:solidFill>
            <a:srgbClr val="D3481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7" name="Graphic 46" descr="Football">
            <a:extLst>
              <a:ext uri="{FF2B5EF4-FFF2-40B4-BE49-F238E27FC236}">
                <a16:creationId xmlns:a16="http://schemas.microsoft.com/office/drawing/2014/main" id="{BBBD34EB-97F5-4783-BE1A-4ADD4D05EB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6182" y="210495"/>
            <a:ext cx="1406766" cy="1406766"/>
          </a:xfrm>
          <a:prstGeom prst="rect">
            <a:avLst/>
          </a:prstGeom>
        </p:spPr>
      </p:pic>
      <p:pic>
        <p:nvPicPr>
          <p:cNvPr id="1026" name="Picture 2" descr="Tom Brady gets apology from Tampa mayor over park snafu">
            <a:extLst>
              <a:ext uri="{FF2B5EF4-FFF2-40B4-BE49-F238E27FC236}">
                <a16:creationId xmlns:a16="http://schemas.microsoft.com/office/drawing/2014/main" id="{BFE6578B-78F1-86B9-8AD5-F676E7FB1D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7452" y="2134768"/>
            <a:ext cx="1589602" cy="1059408"/>
          </a:xfrm>
          <a:prstGeom prst="rect">
            <a:avLst/>
          </a:prstGeom>
          <a:noFill/>
          <a:ln w="28575">
            <a:solidFill>
              <a:srgbClr val="D34817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aron Rodgers has no interest in TV gig after NFL retirement">
            <a:extLst>
              <a:ext uri="{FF2B5EF4-FFF2-40B4-BE49-F238E27FC236}">
                <a16:creationId xmlns:a16="http://schemas.microsoft.com/office/drawing/2014/main" id="{D1C05B2F-737D-EC86-B324-30254B5F73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8678" y="3354998"/>
            <a:ext cx="1588376" cy="1059408"/>
          </a:xfrm>
          <a:prstGeom prst="rect">
            <a:avLst/>
          </a:prstGeom>
          <a:noFill/>
          <a:ln w="28575">
            <a:solidFill>
              <a:srgbClr val="D34817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2396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cture containing indoor&#10;&#10;Description automatically generated">
            <a:extLst>
              <a:ext uri="{FF2B5EF4-FFF2-40B4-BE49-F238E27FC236}">
                <a16:creationId xmlns:a16="http://schemas.microsoft.com/office/drawing/2014/main" id="{48589EA3-03B9-4D42-8282-8AC52D63CBF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805" r="19804" b="-1"/>
          <a:stretch/>
        </p:blipFill>
        <p:spPr>
          <a:xfrm>
            <a:off x="0" y="0"/>
            <a:ext cx="6024144" cy="6858000"/>
          </a:xfrm>
          <a:custGeom>
            <a:avLst/>
            <a:gdLst>
              <a:gd name="connsiteX0" fmla="*/ 0 w 6024154"/>
              <a:gd name="connsiteY0" fmla="*/ 0 h 6858000"/>
              <a:gd name="connsiteX1" fmla="*/ 5953780 w 6024154"/>
              <a:gd name="connsiteY1" fmla="*/ 0 h 6858000"/>
              <a:gd name="connsiteX2" fmla="*/ 5989880 w 6024154"/>
              <a:gd name="connsiteY2" fmla="*/ 284091 h 6858000"/>
              <a:gd name="connsiteX3" fmla="*/ 6024154 w 6024154"/>
              <a:gd name="connsiteY3" fmla="*/ 962844 h 6858000"/>
              <a:gd name="connsiteX4" fmla="*/ 2549934 w 6024154"/>
              <a:gd name="connsiteY4" fmla="*/ 6800152 h 6858000"/>
              <a:gd name="connsiteX5" fmla="*/ 2436987 w 6024154"/>
              <a:gd name="connsiteY5" fmla="*/ 6858000 h 6858000"/>
              <a:gd name="connsiteX6" fmla="*/ 0 w 6024154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24154" h="6858000">
                <a:moveTo>
                  <a:pt x="0" y="0"/>
                </a:moveTo>
                <a:lnTo>
                  <a:pt x="5953780" y="0"/>
                </a:lnTo>
                <a:lnTo>
                  <a:pt x="5989880" y="284091"/>
                </a:lnTo>
                <a:cubicBezTo>
                  <a:pt x="6012544" y="507260"/>
                  <a:pt x="6024154" y="733696"/>
                  <a:pt x="6024154" y="962844"/>
                </a:cubicBezTo>
                <a:cubicBezTo>
                  <a:pt x="6024154" y="3483472"/>
                  <a:pt x="4619336" y="5675986"/>
                  <a:pt x="2549934" y="6800152"/>
                </a:cubicBezTo>
                <a:lnTo>
                  <a:pt x="2436987" y="6858000"/>
                </a:lnTo>
                <a:lnTo>
                  <a:pt x="0" y="6858000"/>
                </a:lnTo>
                <a:close/>
              </a:path>
            </a:pathLst>
          </a:custGeom>
          <a:ln w="28575">
            <a:noFill/>
          </a:ln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B9C460C-DD3D-4F1C-9FEE-8EC7228DF8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30235" y="890427"/>
            <a:ext cx="4577335" cy="1264588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en-US" sz="6000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Final </a:t>
            </a:r>
            <a:br>
              <a:rPr lang="en-US" sz="6000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</a:br>
            <a:r>
              <a:rPr lang="en-US" sz="6000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Inspiration</a:t>
            </a:r>
          </a:p>
        </p:txBody>
      </p:sp>
      <p:sp>
        <p:nvSpPr>
          <p:cNvPr id="16" name="Content Placeholder 8">
            <a:extLst>
              <a:ext uri="{FF2B5EF4-FFF2-40B4-BE49-F238E27FC236}">
                <a16:creationId xmlns:a16="http://schemas.microsoft.com/office/drawing/2014/main" id="{EFC1D832-5298-413A-ACCB-93C0C72C636D}"/>
              </a:ext>
            </a:extLst>
          </p:cNvPr>
          <p:cNvSpPr txBox="1">
            <a:spLocks/>
          </p:cNvSpPr>
          <p:nvPr/>
        </p:nvSpPr>
        <p:spPr>
          <a:xfrm>
            <a:off x="5307645" y="4702986"/>
            <a:ext cx="6639939" cy="3247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2800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All I know is grind.</a:t>
            </a:r>
          </a:p>
          <a:p>
            <a:pPr algn="r"/>
            <a:endParaRPr lang="en-US" sz="2800" dirty="0">
              <a:solidFill>
                <a:schemeClr val="bg2">
                  <a:lumMod val="10000"/>
                  <a:lumOff val="90000"/>
                </a:schemeClr>
              </a:solidFill>
              <a:latin typeface="Selawik Semibold" panose="020B0702040204020203" pitchFamily="34" charset="0"/>
            </a:endParaRPr>
          </a:p>
          <a:p>
            <a:pPr algn="r"/>
            <a:r>
              <a:rPr lang="en-US" sz="2800" dirty="0">
                <a:solidFill>
                  <a:schemeClr val="bg2">
                    <a:lumMod val="10000"/>
                    <a:lumOff val="90000"/>
                  </a:schemeClr>
                </a:solidFill>
                <a:latin typeface="Selawik Semibold" panose="020B0702040204020203" pitchFamily="34" charset="0"/>
              </a:rPr>
              <a:t>- Reverend Ray Lewis</a:t>
            </a:r>
          </a:p>
          <a:p>
            <a:pPr lvl="2" algn="r"/>
            <a:endParaRPr lang="en-US" sz="2800" dirty="0">
              <a:solidFill>
                <a:schemeClr val="tx1">
                  <a:lumMod val="85000"/>
                </a:schemeClr>
              </a:solidFill>
              <a:latin typeface="Selawik Semibold" panose="020B0702040204020203" pitchFamily="34" charset="0"/>
            </a:endParaRPr>
          </a:p>
          <a:p>
            <a:pPr lvl="2" algn="r"/>
            <a:endParaRPr lang="en-US" sz="2800" dirty="0">
              <a:solidFill>
                <a:schemeClr val="tx1">
                  <a:lumMod val="85000"/>
                </a:schemeClr>
              </a:solidFill>
              <a:latin typeface="Selawik Semibold" panose="020B0702040204020203" pitchFamily="34" charset="0"/>
            </a:endParaRPr>
          </a:p>
          <a:p>
            <a:pPr lvl="2" algn="r"/>
            <a:endParaRPr lang="en-US" sz="2800" dirty="0">
              <a:solidFill>
                <a:schemeClr val="tx1">
                  <a:lumMod val="85000"/>
                </a:schemeClr>
              </a:solidFill>
              <a:latin typeface="Selawik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347506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1817</TotalTime>
  <Words>523</Words>
  <Application>Microsoft Office PowerPoint</Application>
  <PresentationFormat>Widescreen</PresentationFormat>
  <Paragraphs>142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Calibri</vt:lpstr>
      <vt:lpstr>Calisto MT</vt:lpstr>
      <vt:lpstr>Cambria Math</vt:lpstr>
      <vt:lpstr>Selawik Semibold</vt:lpstr>
      <vt:lpstr>Wingdings</vt:lpstr>
      <vt:lpstr>Wingdings 2</vt:lpstr>
      <vt:lpstr>Slate</vt:lpstr>
      <vt:lpstr>Football II</vt:lpstr>
      <vt:lpstr>Importance of the Quarterback</vt:lpstr>
      <vt:lpstr>Importance of the Quarterback</vt:lpstr>
      <vt:lpstr>Metrics for Quarterbacks</vt:lpstr>
      <vt:lpstr>Metrics for Quarterbacks</vt:lpstr>
      <vt:lpstr>Tom Brady VS Aaron Rodgers</vt:lpstr>
      <vt:lpstr>Tom Brady VS Aaron Rodgers</vt:lpstr>
      <vt:lpstr>Tom Brady VS Aaron Rodgers</vt:lpstr>
      <vt:lpstr>Tom Brady VS Aaron Rodgers</vt:lpstr>
      <vt:lpstr>Tom Brady VS Aaron Rodgers</vt:lpstr>
      <vt:lpstr>Tom Brady VS Aaron Rodgers</vt:lpstr>
      <vt:lpstr>Final  Inspiration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Football I</dc:title>
  <dc:creator>Super Mario</dc:creator>
  <cp:lastModifiedBy>Giacomazzo, Mario</cp:lastModifiedBy>
  <cp:revision>42</cp:revision>
  <dcterms:created xsi:type="dcterms:W3CDTF">2019-10-09T02:19:47Z</dcterms:created>
  <dcterms:modified xsi:type="dcterms:W3CDTF">2025-11-18T15:24:05Z</dcterms:modified>
</cp:coreProperties>
</file>