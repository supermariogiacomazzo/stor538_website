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8" r:id="rId2"/>
    <p:sldId id="256" r:id="rId3"/>
    <p:sldId id="299" r:id="rId4"/>
    <p:sldId id="301" r:id="rId5"/>
    <p:sldId id="303" r:id="rId6"/>
    <p:sldId id="304" r:id="rId7"/>
    <p:sldId id="302" r:id="rId8"/>
    <p:sldId id="305" r:id="rId9"/>
    <p:sldId id="307" r:id="rId10"/>
    <p:sldId id="308" r:id="rId11"/>
    <p:sldId id="309" r:id="rId12"/>
    <p:sldId id="310" r:id="rId13"/>
    <p:sldId id="311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5583"/>
    <a:srgbClr val="F76464"/>
    <a:srgbClr val="882E2E"/>
    <a:srgbClr val="DB5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1" autoAdjust="0"/>
    <p:restoredTop sz="95008" autoAdjust="0"/>
  </p:normalViewPr>
  <p:slideViewPr>
    <p:cSldViewPr snapToGrid="0">
      <p:cViewPr varScale="1">
        <p:scale>
          <a:sx n="105" d="100"/>
          <a:sy n="105" d="100"/>
        </p:scale>
        <p:origin x="252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E5E84-956F-4423-97B3-5936A6D8EEE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D9EF6-5B6D-4923-9412-628692DCC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D9EF6-5B6D-4923-9412-628692DCC0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8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EFD90-18A5-461A-97B5-BF5D964D2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3264F-69B9-437C-A766-FC30EF0FB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968FE-277D-4FAE-A16D-32913B01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A93C4-52E7-4696-B94F-37CFF7B9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EB5F3-DE9E-4FD6-B37A-94BE3D41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9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EA10-8D81-465C-81FF-EA62D730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3FD49-B406-49EC-8015-D32BF2193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6DA73-9FF6-4552-830B-364450604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84263-C145-4184-9AB8-C0184BF6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AD532-E280-4728-A9EE-56C0B512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4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D4AA-A53E-4146-9CDB-2F0A94CD3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2CE9F-D854-4A48-8BE9-C34C23BB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F39BC-7DAB-4116-847E-1920F11F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FE6BE-067B-4573-98ED-6E55CD1B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43CF-83B4-43C4-AB95-4DB39B46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0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937E-605B-4EAD-A5F0-E4BE6296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AECCE-AF5E-48A1-92E9-086187BFA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40F2E-CBC6-4A0E-943C-CC4C0CE79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68192-586B-4EC7-8DA5-137D4E3B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5F421-F128-432A-86E5-27970BF4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0C05C-066A-4700-BD42-A159CD70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0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A41D-7EC3-449B-851E-0F77B8336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C785B-10A6-4B50-B1BC-1A17305F3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AF710-8ED1-4FE8-9EE1-B574629CA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C2A21A-3F2A-4824-BCE2-9A7772A8C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7A615-D4BC-4095-9C20-CD4F9BF9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CCACE0-B120-48AC-AF25-A247F93B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BC188-04E8-4C76-968E-6726720F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8CCCD-71D1-4F3F-A403-6224E3F8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4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B1AC-EC2A-4BD4-91CC-AFB7D17F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5E60F-4C44-4CAF-AB05-25729A2A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677B5-CBF4-4458-93AE-155D078C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60569-84C5-4DF4-A2BF-DCB0FEF4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2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D8FF8-0842-405C-9C34-FB6F4841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4E9F5-EE5B-46BE-BE67-A4A9E1FD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B2951-4B33-4835-9113-98118792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5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DF96-69DF-4F06-A7B9-F6AEDE53E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0C669-C0D6-43D8-BDC1-428B0BFDB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57871-B9A5-4AF1-8C22-5EFAB20D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80336-9845-4157-B43A-2DA16211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BC2E-00D4-4B98-A70F-8B43C654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0F678-C6B2-4319-AFF1-E313FB2D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1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8E65-2B5B-449C-9BD6-052C2D70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A7755-3ABB-4B90-9CA8-8F1C1DE30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AF249-C3B4-48AC-8A9B-0AE469167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72F56-0F14-4C38-A91D-F297CE54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EE1E0-7248-4931-83D5-B20FBF60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E2062-542F-4254-A653-03548B1A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46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CD8C-6E53-4F40-8380-A92F3B99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8C0C9-02DA-4CEC-85ED-72230B054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42F39-2249-4A7F-A3D2-6D10985A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54834-23F0-4572-9180-C7FD8152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9F3B-3D9B-4B75-96D1-264C43EE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9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29F3-D01E-4258-B9B7-98C4FCF70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11006-B6E1-4AAD-84CD-B296071D5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FB41D-AAC0-41AD-B89E-2A54D14EB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6A8BA-9134-45A5-B9C2-7F06ACC0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D21FB-D40F-4086-B1EF-D48D15B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98F0C-B37D-42DC-A26E-3F2DE9A0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23FA3-1FB5-45B6-AED5-AA46BE35C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0C43-94CF-49C0-969C-E320D7A0F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1C039-66A3-4640-815B-3B5A8B7D868D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B117C-3B02-46C9-8C04-D8B212580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44BE7-C0B5-4B71-9B7D-446B8E2D9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77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hLaoogq_uiU?feature=oembed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PlKDQqKh03Y?feature=oembed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4619768" y="0"/>
            <a:ext cx="7572232" cy="6858000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5445C-8F3E-4F4B-B272-8D9F0BC49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0658" y="839084"/>
            <a:ext cx="7572232" cy="930447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rgbClr val="FFFFFF"/>
                </a:solidFill>
                <a:latin typeface="Selawik Semibold" panose="020B0702040204020203" pitchFamily="34" charset="0"/>
              </a:rPr>
              <a:t>Baseball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C54F8-420D-42C9-AB41-8EA29A411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0658" y="6322060"/>
            <a:ext cx="7572232" cy="420001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Selawik Semibold" panose="020B0702040204020203" pitchFamily="34" charset="0"/>
              </a:rPr>
              <a:t>Produced by Dr. Mario | UNC STOR 538</a:t>
            </a:r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-87960" y="-104313"/>
            <a:ext cx="4707728" cy="6962313"/>
          </a:xfrm>
          <a:prstGeom prst="rect">
            <a:avLst/>
          </a:prstGeom>
        </p:spPr>
      </p:pic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546" y="2553610"/>
            <a:ext cx="2684015" cy="268401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1278981" y="3345872"/>
            <a:ext cx="6858000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B5B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39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Overview of Baseball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7" name="Online Media 36" title="Rules of Baseball in 4 Minutes">
            <a:hlinkClick r:id="" action="ppaction://media"/>
            <a:extLst>
              <a:ext uri="{FF2B5EF4-FFF2-40B4-BE49-F238E27FC236}">
                <a16:creationId xmlns:a16="http://schemas.microsoft.com/office/drawing/2014/main" id="{2BC4FC01-EA76-400B-8AAE-E04B3165655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007492" y="1217750"/>
            <a:ext cx="9027283" cy="5077847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30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History of Sabermetrics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85DC3-763F-4415-9288-107012C07E23}"/>
              </a:ext>
            </a:extLst>
          </p:cNvPr>
          <p:cNvSpPr txBox="1"/>
          <p:nvPr/>
        </p:nvSpPr>
        <p:spPr>
          <a:xfrm>
            <a:off x="3080083" y="1520792"/>
            <a:ext cx="895469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Society of American Baseball Research (SABR)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August 10, 1971 in Cooperstown, 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Founded by Bob 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Davids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16 Original “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Statihistorians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Publication: </a:t>
            </a:r>
            <a:r>
              <a:rPr lang="en-US" sz="2000" i="1" dirty="0">
                <a:solidFill>
                  <a:schemeClr val="bg1"/>
                </a:solidFill>
                <a:latin typeface="Selawik Semibold" panose="020B0702040204020203" pitchFamily="34" charset="0"/>
              </a:rPr>
              <a:t>Baseball Research Journal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Yearly Dues: $25 (Student)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Objectives of SABR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To foster the study of baseball as a significant American social and athletic institution.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To establish an accurate historical account of baseball through the years.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To facilitate the dissemination of baseball research information.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To stimulate the best interests of baseball as our national pastime.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To cooperate in safeguarding the proprietary interests of individual research efforts of members of the Society.</a:t>
            </a:r>
          </a:p>
        </p:txBody>
      </p:sp>
    </p:spTree>
    <p:extLst>
      <p:ext uri="{BB962C8B-B14F-4D97-AF65-F5344CB8AC3E}">
        <p14:creationId xmlns:p14="http://schemas.microsoft.com/office/powerpoint/2010/main" val="198383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History of Sabermetrics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85DC3-763F-4415-9288-107012C07E23}"/>
              </a:ext>
            </a:extLst>
          </p:cNvPr>
          <p:cNvSpPr txBox="1"/>
          <p:nvPr/>
        </p:nvSpPr>
        <p:spPr>
          <a:xfrm>
            <a:off x="3080084" y="1520792"/>
            <a:ext cx="895469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Bill James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Author and Researcher Focused on Baseball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Publication: </a:t>
            </a:r>
            <a:r>
              <a:rPr lang="en-US" sz="2000" i="1" dirty="0">
                <a:solidFill>
                  <a:schemeClr val="bg1"/>
                </a:solidFill>
                <a:latin typeface="Selawik Semibold" panose="020B0702040204020203" pitchFamily="34" charset="0"/>
              </a:rPr>
              <a:t>Baseball Abstracts 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(Annual Since 1977)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Term Coined in 1980: “Saber” = “SABR”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Sabermetrics Is the Search for Objective Knowledge About Baseball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One of Time Magazines 100 Most Influential (2006)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Sabermetrics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Using Mathematics and Statistics to Understand Baseball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Development of Advanced Metrics to Measure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Textbooks by Gabriel Costa, Michael Huber, and John 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Saccoman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bg1"/>
                </a:solidFill>
                <a:latin typeface="Selawik Semibold" panose="020B0702040204020203" pitchFamily="34" charset="0"/>
              </a:rPr>
              <a:t>Understanding Sabermetrics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(2008)</a:t>
            </a:r>
            <a:endParaRPr lang="en-US" sz="2000" i="1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bg1"/>
                </a:solidFill>
                <a:latin typeface="Selawik Semibold" panose="020B0702040204020203" pitchFamily="34" charset="0"/>
              </a:rPr>
              <a:t>Practicing Sabermetrics 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(2009)</a:t>
            </a:r>
            <a:endParaRPr lang="en-US" sz="2000" i="1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25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History of Sabermetrics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85DC3-763F-4415-9288-107012C07E23}"/>
              </a:ext>
            </a:extLst>
          </p:cNvPr>
          <p:cNvSpPr txBox="1"/>
          <p:nvPr/>
        </p:nvSpPr>
        <p:spPr>
          <a:xfrm>
            <a:off x="3080084" y="1520792"/>
            <a:ext cx="895469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Selawik Semibold" panose="020B0702040204020203" pitchFamily="34" charset="0"/>
              </a:rPr>
              <a:t>Moneyball: The Art of Winning an Unfair Game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Authored by Michael Lewis (2003)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About Oakland Athletics MLB Season in 2002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General Manager Billy Beane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Finished with the Same Number of Wins as New York Yankees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Payroll Difference: $44M to $125M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Statistical Analyses Proved Flaws in Classic Statistics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Identified Undervalued Players Using Different Metrics such as    On-Base Percentage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Used Statistics to Modify Playing Style (Devaluation of Steals)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32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History of Sabermetrics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pic>
        <p:nvPicPr>
          <p:cNvPr id="2" name="Online Media 1" title="Moneyball (2011) - He Gets On Base Scene (3/10) | Movieclips">
            <a:hlinkClick r:id="" action="ppaction://media"/>
            <a:extLst>
              <a:ext uri="{FF2B5EF4-FFF2-40B4-BE49-F238E27FC236}">
                <a16:creationId xmlns:a16="http://schemas.microsoft.com/office/drawing/2014/main" id="{88D63F35-FEA0-43A6-8847-87889264424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007490" y="1221019"/>
            <a:ext cx="9015662" cy="507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3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History of Sabermetrics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85DC3-763F-4415-9288-107012C07E23}"/>
              </a:ext>
            </a:extLst>
          </p:cNvPr>
          <p:cNvSpPr txBox="1"/>
          <p:nvPr/>
        </p:nvSpPr>
        <p:spPr>
          <a:xfrm>
            <a:off x="3080084" y="1520792"/>
            <a:ext cx="895469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Jim Albert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Statistics Professor at Bowling Green State University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bg1"/>
                </a:solidFill>
                <a:latin typeface="Selawik Semibold" panose="020B0702040204020203" pitchFamily="34" charset="0"/>
              </a:rPr>
              <a:t>Sabermetrics: The Past, The Present, and The Future 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(2010)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bg1"/>
                </a:solidFill>
                <a:latin typeface="Selawik Semibold" panose="020B0702040204020203" pitchFamily="34" charset="0"/>
              </a:rPr>
              <a:t>Analyzing Baseball Data </a:t>
            </a:r>
            <a:r>
              <a:rPr lang="en-US" sz="2000" i="1">
                <a:solidFill>
                  <a:schemeClr val="bg1"/>
                </a:solidFill>
                <a:latin typeface="Selawik Semibold" panose="020B0702040204020203" pitchFamily="34" charset="0"/>
              </a:rPr>
              <a:t>with R</a:t>
            </a:r>
            <a:r>
              <a:rPr lang="en-US" sz="2000">
                <a:solidFill>
                  <a:schemeClr val="bg1"/>
                </a:solidFill>
                <a:latin typeface="Selawik Semibold" panose="020B0702040204020203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(2014)</a:t>
            </a:r>
            <a:endParaRPr lang="en-US" sz="2000" i="1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Useful Websites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www.baseballprospectus.com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www.hardballtimes.com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www.retrosheet.org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Free Data Sources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Lahman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Database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Retrosheet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PITCH F/X</a:t>
            </a:r>
          </a:p>
        </p:txBody>
      </p:sp>
    </p:spTree>
    <p:extLst>
      <p:ext uri="{BB962C8B-B14F-4D97-AF65-F5344CB8AC3E}">
        <p14:creationId xmlns:p14="http://schemas.microsoft.com/office/powerpoint/2010/main" val="253222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Classic and Modern 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4" y="1520792"/>
            <a:ext cx="433136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Measuring Batting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Batting Average (AVG)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On-base Percentage (OBP)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Slugging Percentage (SLG)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OPS</a:t>
            </a:r>
          </a:p>
          <a:p>
            <a:pPr lvl="1"/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E809FD-31C2-49CA-A6B4-A9C1CBBD9479}"/>
                  </a:ext>
                </a:extLst>
              </p:cNvPr>
              <p:cNvSpPr txBox="1"/>
              <p:nvPr/>
            </p:nvSpPr>
            <p:spPr>
              <a:xfrm>
                <a:off x="3503596" y="2268209"/>
                <a:ext cx="2136808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𝑨𝑽𝑮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E809FD-31C2-49CA-A6B4-A9C1CBBD9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596" y="2268209"/>
                <a:ext cx="2136808" cy="6665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0A7F83B-8E8A-42C3-A2D1-3BCECB1BB403}"/>
              </a:ext>
            </a:extLst>
          </p:cNvPr>
          <p:cNvSpPr txBox="1"/>
          <p:nvPr/>
        </p:nvSpPr>
        <p:spPr>
          <a:xfrm>
            <a:off x="9397453" y="1067024"/>
            <a:ext cx="2637322" cy="34778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 = Hit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AB = At-bat</a:t>
            </a:r>
          </a:p>
          <a:p>
            <a:r>
              <a:rPr lang="en-US" sz="2400" dirty="0">
                <a:solidFill>
                  <a:schemeClr val="bg1"/>
                </a:solidFill>
              </a:rPr>
              <a:t>BB = Walk</a:t>
            </a:r>
          </a:p>
          <a:p>
            <a:r>
              <a:rPr lang="en-US" sz="2400" dirty="0">
                <a:solidFill>
                  <a:schemeClr val="bg1"/>
                </a:solidFill>
              </a:rPr>
              <a:t>HBP = Hit by Pitch</a:t>
            </a:r>
          </a:p>
          <a:p>
            <a:r>
              <a:rPr lang="en-US" sz="2400" dirty="0">
                <a:solidFill>
                  <a:schemeClr val="bg1"/>
                </a:solidFill>
              </a:rPr>
              <a:t>SF = Sacrifice Fly</a:t>
            </a:r>
          </a:p>
          <a:p>
            <a:r>
              <a:rPr lang="en-US" sz="2400" dirty="0">
                <a:solidFill>
                  <a:schemeClr val="bg1"/>
                </a:solidFill>
              </a:rPr>
              <a:t>S = Single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D = Double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T = Triple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HR = Home Run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2887A8-C16B-4561-B8B5-652591869DE2}"/>
                  </a:ext>
                </a:extLst>
              </p:cNvPr>
              <p:cNvSpPr txBox="1"/>
              <p:nvPr/>
            </p:nvSpPr>
            <p:spPr>
              <a:xfrm>
                <a:off x="3503596" y="3523392"/>
                <a:ext cx="4467728" cy="673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𝑶𝑩𝑷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𝑩𝑩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𝑯𝑩𝑷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𝑩𝑩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𝑯𝑩𝑷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𝑺𝑭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2887A8-C16B-4561-B8B5-652591869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596" y="3523392"/>
                <a:ext cx="4467728" cy="6737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50657C-9595-4242-A4D5-205C62B2907D}"/>
                  </a:ext>
                </a:extLst>
              </p:cNvPr>
              <p:cNvSpPr txBox="1"/>
              <p:nvPr/>
            </p:nvSpPr>
            <p:spPr>
              <a:xfrm>
                <a:off x="3268057" y="4785757"/>
                <a:ext cx="4467728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𝑺𝑳𝑮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𝑯𝑹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50657C-9595-4242-A4D5-205C62B29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057" y="4785757"/>
                <a:ext cx="4467728" cy="6685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DAB2AF-F347-4D83-9133-1120E3487EA1}"/>
                  </a:ext>
                </a:extLst>
              </p:cNvPr>
              <p:cNvSpPr txBox="1"/>
              <p:nvPr/>
            </p:nvSpPr>
            <p:spPr>
              <a:xfrm>
                <a:off x="2767141" y="5997907"/>
                <a:ext cx="44677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𝑶𝑷𝑺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𝑶𝑩𝑷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𝑺𝑳𝑮</m:t>
                      </m:r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DAB2AF-F347-4D83-9133-1120E3487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141" y="5997907"/>
                <a:ext cx="446772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33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Classic and Modern 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4" y="1520792"/>
            <a:ext cx="4331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Measuring Batting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Runs Per Game (R/G)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7F83B-8E8A-42C3-A2D1-3BCECB1BB403}"/>
              </a:ext>
            </a:extLst>
          </p:cNvPr>
          <p:cNvSpPr txBox="1"/>
          <p:nvPr/>
        </p:nvSpPr>
        <p:spPr>
          <a:xfrm>
            <a:off x="9397453" y="1067024"/>
            <a:ext cx="2637322" cy="384720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 = Hit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AB = At-bat</a:t>
            </a:r>
          </a:p>
          <a:p>
            <a:r>
              <a:rPr lang="en-US" sz="2400" dirty="0">
                <a:solidFill>
                  <a:schemeClr val="bg1"/>
                </a:solidFill>
              </a:rPr>
              <a:t>BB = Walk</a:t>
            </a:r>
          </a:p>
          <a:p>
            <a:r>
              <a:rPr lang="en-US" sz="2400" dirty="0">
                <a:solidFill>
                  <a:schemeClr val="bg1"/>
                </a:solidFill>
              </a:rPr>
              <a:t>HBP = Hit by Pitch</a:t>
            </a:r>
          </a:p>
          <a:p>
            <a:r>
              <a:rPr lang="en-US" sz="2400" dirty="0">
                <a:solidFill>
                  <a:schemeClr val="bg1"/>
                </a:solidFill>
              </a:rPr>
              <a:t>SF = Sacrifice Fly</a:t>
            </a:r>
          </a:p>
          <a:p>
            <a:r>
              <a:rPr lang="en-US" sz="2400" dirty="0">
                <a:solidFill>
                  <a:schemeClr val="bg1"/>
                </a:solidFill>
              </a:rPr>
              <a:t>S = Single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D = Double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T = Triple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R = Run</a:t>
            </a:r>
          </a:p>
          <a:p>
            <a:r>
              <a:rPr lang="en-US" sz="2400" dirty="0">
                <a:solidFill>
                  <a:schemeClr val="bg1"/>
                </a:solidFill>
              </a:rPr>
              <a:t>G = Game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8B49F-1885-4895-A823-34DDDEFC3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141" y="3104883"/>
            <a:ext cx="3021149" cy="27095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5A882-174F-407A-AF1D-41E8F4FC7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7011" y="3104883"/>
            <a:ext cx="3133217" cy="27095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534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Classic and Modern 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3" y="1520792"/>
            <a:ext cx="649705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Measuring Pitching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Win Percentage (WIN%)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Earned Run Average (ERA)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Strikeout Rate (K/9)</a:t>
            </a:r>
          </a:p>
          <a:p>
            <a:pPr lvl="1"/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Defense-Independent Pitching Statistic (DIPS)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DICE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7F83B-8E8A-42C3-A2D1-3BCECB1BB403}"/>
              </a:ext>
            </a:extLst>
          </p:cNvPr>
          <p:cNvSpPr txBox="1"/>
          <p:nvPr/>
        </p:nvSpPr>
        <p:spPr>
          <a:xfrm>
            <a:off x="9397453" y="1067024"/>
            <a:ext cx="2637322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 = Win</a:t>
            </a:r>
          </a:p>
          <a:p>
            <a:r>
              <a:rPr lang="en-US" sz="2400" dirty="0">
                <a:solidFill>
                  <a:schemeClr val="bg1"/>
                </a:solidFill>
              </a:rPr>
              <a:t>L = Loss</a:t>
            </a:r>
          </a:p>
          <a:p>
            <a:r>
              <a:rPr lang="en-US" sz="2400" dirty="0">
                <a:solidFill>
                  <a:schemeClr val="bg1"/>
                </a:solidFill>
              </a:rPr>
              <a:t>ER = Earned Run</a:t>
            </a:r>
          </a:p>
          <a:p>
            <a:r>
              <a:rPr lang="en-US" sz="2400" dirty="0">
                <a:solidFill>
                  <a:schemeClr val="bg1"/>
                </a:solidFill>
              </a:rPr>
              <a:t>IP = Innings</a:t>
            </a:r>
          </a:p>
          <a:p>
            <a:r>
              <a:rPr lang="en-US" sz="2400" dirty="0">
                <a:solidFill>
                  <a:schemeClr val="bg1"/>
                </a:solidFill>
              </a:rPr>
              <a:t>K = Strikeout</a:t>
            </a:r>
          </a:p>
          <a:p>
            <a:r>
              <a:rPr lang="en-US" sz="2400" dirty="0">
                <a:solidFill>
                  <a:schemeClr val="bg1"/>
                </a:solidFill>
              </a:rPr>
              <a:t>HR =Home Run</a:t>
            </a:r>
          </a:p>
          <a:p>
            <a:r>
              <a:rPr lang="en-US" sz="2400" dirty="0">
                <a:solidFill>
                  <a:schemeClr val="bg1"/>
                </a:solidFill>
              </a:rPr>
              <a:t>BB = Walk</a:t>
            </a:r>
          </a:p>
          <a:p>
            <a:r>
              <a:rPr lang="en-US" sz="2400" dirty="0">
                <a:solidFill>
                  <a:schemeClr val="bg1"/>
                </a:solidFill>
              </a:rPr>
              <a:t>HBP = Hit by Pitch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B9198A-D860-4D4E-9D2F-0C2D0E7297F1}"/>
                  </a:ext>
                </a:extLst>
              </p:cNvPr>
              <p:cNvSpPr txBox="1"/>
              <p:nvPr/>
            </p:nvSpPr>
            <p:spPr>
              <a:xfrm>
                <a:off x="3850106" y="2362149"/>
                <a:ext cx="2136808" cy="673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𝑾𝑰𝑵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%= 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B9198A-D860-4D4E-9D2F-0C2D0E729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06" y="2362149"/>
                <a:ext cx="2136808" cy="6737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E511104-DABD-47AE-A415-5AF3F1855DAA}"/>
                  </a:ext>
                </a:extLst>
              </p:cNvPr>
              <p:cNvSpPr/>
              <p:nvPr/>
            </p:nvSpPr>
            <p:spPr>
              <a:xfrm>
                <a:off x="3850106" y="3575522"/>
                <a:ext cx="1718740" cy="609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𝑬𝑹𝑨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𝑬𝑹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𝑰𝑷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E511104-DABD-47AE-A415-5AF3F1855D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06" y="3575522"/>
                <a:ext cx="1718740" cy="6099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84E658-9286-473C-9B5C-A217AE17454D}"/>
                  </a:ext>
                </a:extLst>
              </p:cNvPr>
              <p:cNvSpPr/>
              <p:nvPr/>
            </p:nvSpPr>
            <p:spPr>
              <a:xfrm>
                <a:off x="3850106" y="4697426"/>
                <a:ext cx="1632178" cy="6090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𝑰𝑷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84E658-9286-473C-9B5C-A217AE174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06" y="4697426"/>
                <a:ext cx="1632178" cy="6090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EFFFD96-786E-4030-8E9A-438D11A288E2}"/>
                  </a:ext>
                </a:extLst>
              </p:cNvPr>
              <p:cNvSpPr/>
              <p:nvPr/>
            </p:nvSpPr>
            <p:spPr>
              <a:xfrm>
                <a:off x="3850106" y="5828243"/>
                <a:ext cx="4984891" cy="6280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𝑫𝑰𝑪𝑬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𝑯𝑹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𝑩𝑩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𝑯𝑩𝑷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𝑰𝑷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EFFFD96-786E-4030-8E9A-438D11A28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106" y="5828243"/>
                <a:ext cx="4984891" cy="6280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588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Classic and Modern 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3" y="1520792"/>
            <a:ext cx="6497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Measuring Pitching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7F83B-8E8A-42C3-A2D1-3BCECB1BB403}"/>
              </a:ext>
            </a:extLst>
          </p:cNvPr>
          <p:cNvSpPr txBox="1"/>
          <p:nvPr/>
        </p:nvSpPr>
        <p:spPr>
          <a:xfrm>
            <a:off x="9397453" y="1067024"/>
            <a:ext cx="2637322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 = Win</a:t>
            </a:r>
          </a:p>
          <a:p>
            <a:r>
              <a:rPr lang="en-US" sz="2400" dirty="0">
                <a:solidFill>
                  <a:schemeClr val="bg1"/>
                </a:solidFill>
              </a:rPr>
              <a:t>L = Loss</a:t>
            </a:r>
          </a:p>
          <a:p>
            <a:r>
              <a:rPr lang="en-US" sz="2400" dirty="0">
                <a:solidFill>
                  <a:schemeClr val="bg1"/>
                </a:solidFill>
              </a:rPr>
              <a:t>ER = Earned Run</a:t>
            </a:r>
          </a:p>
          <a:p>
            <a:r>
              <a:rPr lang="en-US" sz="2400" dirty="0">
                <a:solidFill>
                  <a:schemeClr val="bg1"/>
                </a:solidFill>
              </a:rPr>
              <a:t>IP = Innings</a:t>
            </a:r>
          </a:p>
          <a:p>
            <a:r>
              <a:rPr lang="en-US" sz="2400" dirty="0">
                <a:solidFill>
                  <a:schemeClr val="bg1"/>
                </a:solidFill>
              </a:rPr>
              <a:t>K = Strikeout</a:t>
            </a:r>
          </a:p>
          <a:p>
            <a:r>
              <a:rPr lang="en-US" sz="2400" dirty="0">
                <a:solidFill>
                  <a:schemeClr val="bg1"/>
                </a:solidFill>
              </a:rPr>
              <a:t>HR =Home Run</a:t>
            </a:r>
          </a:p>
          <a:p>
            <a:r>
              <a:rPr lang="en-US" sz="2400" dirty="0">
                <a:solidFill>
                  <a:schemeClr val="bg1"/>
                </a:solidFill>
              </a:rPr>
              <a:t>BB = Walk</a:t>
            </a:r>
          </a:p>
          <a:p>
            <a:r>
              <a:rPr lang="en-US" sz="2400" dirty="0">
                <a:solidFill>
                  <a:schemeClr val="bg1"/>
                </a:solidFill>
              </a:rPr>
              <a:t>HBP = Hit by Pitch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E57F94-DCF7-45FA-A728-580E7E024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523" y="2017055"/>
            <a:ext cx="2658638" cy="23632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4676A2-A020-4715-9396-C935DB384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151" y="2012264"/>
            <a:ext cx="2619966" cy="2372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8C6195-9300-41F1-96C1-356D7D4EA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1832" y="4414076"/>
            <a:ext cx="2658638" cy="239372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1692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Classic and Modern 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3" y="1520792"/>
            <a:ext cx="649705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Measuring Fielding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Fielding Percentage (FLD%)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Range Factor (RF)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lvl="1"/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7F83B-8E8A-42C3-A2D1-3BCECB1BB403}"/>
              </a:ext>
            </a:extLst>
          </p:cNvPr>
          <p:cNvSpPr txBox="1"/>
          <p:nvPr/>
        </p:nvSpPr>
        <p:spPr>
          <a:xfrm>
            <a:off x="9397453" y="1067024"/>
            <a:ext cx="2637322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PO = Put-out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= Assists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E =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AFB99A-8189-4971-8856-AFF31CC98F7B}"/>
                  </a:ext>
                </a:extLst>
              </p:cNvPr>
              <p:cNvSpPr txBox="1"/>
              <p:nvPr/>
            </p:nvSpPr>
            <p:spPr>
              <a:xfrm>
                <a:off x="3638350" y="2362149"/>
                <a:ext cx="3099333" cy="675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𝑭𝑳𝑫</m:t>
                      </m:r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%= 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𝑷𝑶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𝑷𝑶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AFB99A-8189-4971-8856-AFF31CC98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350" y="2362149"/>
                <a:ext cx="3099333" cy="6756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957E668-D6B9-496F-A458-F9719F07F890}"/>
                  </a:ext>
                </a:extLst>
              </p:cNvPr>
              <p:cNvSpPr/>
              <p:nvPr/>
            </p:nvSpPr>
            <p:spPr>
              <a:xfrm>
                <a:off x="3902105" y="3577509"/>
                <a:ext cx="2007281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𝑹𝑭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𝑷𝑶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𝑰𝑷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957E668-D6B9-496F-A458-F9719F07F8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05" y="3577509"/>
                <a:ext cx="2007281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496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8FE870-A334-4DE1-84A7-AB191ED10D63}"/>
              </a:ext>
            </a:extLst>
          </p:cNvPr>
          <p:cNvSpPr/>
          <p:nvPr/>
        </p:nvSpPr>
        <p:spPr>
          <a:xfrm>
            <a:off x="0" y="-52157"/>
            <a:ext cx="12192000" cy="6910157"/>
          </a:xfrm>
          <a:prstGeom prst="rect">
            <a:avLst/>
          </a:prstGeom>
          <a:solidFill>
            <a:srgbClr val="3955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toy&#10;&#10;Description automatically generated">
            <a:extLst>
              <a:ext uri="{FF2B5EF4-FFF2-40B4-BE49-F238E27FC236}">
                <a16:creationId xmlns:a16="http://schemas.microsoft.com/office/drawing/2014/main" id="{131D5527-B848-4F84-9601-62DB9356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r="10796"/>
          <a:stretch/>
        </p:blipFill>
        <p:spPr>
          <a:xfrm>
            <a:off x="0" y="-52157"/>
            <a:ext cx="2684015" cy="396942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F93929A-DE1C-47C4-AF97-F99DB104E96F}"/>
              </a:ext>
            </a:extLst>
          </p:cNvPr>
          <p:cNvSpPr/>
          <p:nvPr/>
        </p:nvSpPr>
        <p:spPr>
          <a:xfrm rot="16200000">
            <a:off x="782431" y="1849427"/>
            <a:ext cx="3969421" cy="1662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A39E4-556F-4581-82A2-C6B68A8147A4}"/>
              </a:ext>
            </a:extLst>
          </p:cNvPr>
          <p:cNvSpPr/>
          <p:nvPr/>
        </p:nvSpPr>
        <p:spPr>
          <a:xfrm rot="10800000">
            <a:off x="-2" y="3756674"/>
            <a:ext cx="2850269" cy="3101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1E5D6413-9C6F-483D-BE52-F3BBB1E74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7491" y="137620"/>
            <a:ext cx="9341732" cy="168486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Selawik Semibold" panose="020B0702040204020203" pitchFamily="34" charset="0"/>
              </a:rPr>
              <a:t>Classic and Modern Metrics</a:t>
            </a:r>
          </a:p>
        </p:txBody>
      </p:sp>
      <p:pic>
        <p:nvPicPr>
          <p:cNvPr id="16" name="Picture 15" descr="A close up of a toy&#10;&#10;Description automatically generated">
            <a:extLst>
              <a:ext uri="{FF2B5EF4-FFF2-40B4-BE49-F238E27FC236}">
                <a16:creationId xmlns:a16="http://schemas.microsoft.com/office/drawing/2014/main" id="{94C75949-F15C-4E05-810D-EF40FCE89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" y="4380288"/>
            <a:ext cx="2014687" cy="20146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8B1909D-4141-4FB1-8633-83F335349C97}"/>
              </a:ext>
            </a:extLst>
          </p:cNvPr>
          <p:cNvSpPr/>
          <p:nvPr/>
        </p:nvSpPr>
        <p:spPr>
          <a:xfrm rot="10800000">
            <a:off x="3007493" y="844062"/>
            <a:ext cx="9027282" cy="1370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B5B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C2CC-416F-4D29-84CF-D1F8B766EE5F}"/>
              </a:ext>
            </a:extLst>
          </p:cNvPr>
          <p:cNvSpPr txBox="1"/>
          <p:nvPr/>
        </p:nvSpPr>
        <p:spPr>
          <a:xfrm>
            <a:off x="3080083" y="1520792"/>
            <a:ext cx="64970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elawik Semibold" panose="020B0702040204020203" pitchFamily="34" charset="0"/>
              </a:rPr>
              <a:t>Measuring Fielding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Omar </a:t>
            </a:r>
            <a:r>
              <a:rPr lang="en-US" sz="2000" dirty="0" err="1">
                <a:solidFill>
                  <a:schemeClr val="bg1"/>
                </a:solidFill>
                <a:latin typeface="Selawik Semibold" panose="020B0702040204020203" pitchFamily="34" charset="0"/>
              </a:rPr>
              <a:t>Vizquel</a:t>
            </a: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 and Derek Jeter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Omar (9 Golden Gloves)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elawik Semibold" panose="020B0702040204020203" pitchFamily="34" charset="0"/>
              </a:rPr>
              <a:t>Derek (3 </a:t>
            </a:r>
            <a:r>
              <a:rPr lang="en-US" sz="2000">
                <a:solidFill>
                  <a:schemeClr val="bg1"/>
                </a:solidFill>
                <a:latin typeface="Selawik Semibold" panose="020B0702040204020203" pitchFamily="34" charset="0"/>
              </a:rPr>
              <a:t>Golden Gloves)</a:t>
            </a:r>
            <a:endParaRPr lang="en-US" sz="2000" dirty="0">
              <a:solidFill>
                <a:schemeClr val="bg1"/>
              </a:solidFill>
              <a:latin typeface="Selawik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7F83B-8E8A-42C3-A2D1-3BCECB1BB403}"/>
              </a:ext>
            </a:extLst>
          </p:cNvPr>
          <p:cNvSpPr txBox="1"/>
          <p:nvPr/>
        </p:nvSpPr>
        <p:spPr>
          <a:xfrm>
            <a:off x="9397453" y="1067024"/>
            <a:ext cx="2637322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PO = Put-out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= Assists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E = Errors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02C17-CF82-4B46-9999-038019790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939" y="3234890"/>
            <a:ext cx="3903541" cy="344470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1A6547-3764-485A-A764-4D94D0C3B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753" y="3212010"/>
            <a:ext cx="3945400" cy="346758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258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55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48589EA3-03B9-4D42-8282-8AC52D63CB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5" r="19804" b="-1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ln w="28575"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9C460C-DD3D-4F1C-9FEE-8EC7228DF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2779" y="359964"/>
            <a:ext cx="7834193" cy="1264588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latin typeface="Selawik Semibold" panose="020B0702040204020203" pitchFamily="34" charset="0"/>
              </a:rPr>
              <a:t>Final Inspiration</a:t>
            </a:r>
            <a:endParaRPr lang="en-US" dirty="0">
              <a:latin typeface="Selawik Semibold" panose="020B0702040204020203" pitchFamily="34" charset="0"/>
            </a:endParaRP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FC1D832-5298-413A-ACCB-93C0C72C636D}"/>
              </a:ext>
            </a:extLst>
          </p:cNvPr>
          <p:cNvSpPr txBox="1">
            <a:spLocks/>
          </p:cNvSpPr>
          <p:nvPr/>
        </p:nvSpPr>
        <p:spPr>
          <a:xfrm>
            <a:off x="5160335" y="4357577"/>
            <a:ext cx="6725573" cy="324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latin typeface="Selawik Semibold" panose="020B0702040204020203" pitchFamily="34" charset="0"/>
              </a:rPr>
              <a:t>There’s No Crying in Statistics.</a:t>
            </a:r>
          </a:p>
          <a:p>
            <a:pPr algn="r"/>
            <a:endParaRPr lang="en-US" sz="2800" dirty="0">
              <a:latin typeface="Selawik Semibold" panose="020B0702040204020203" pitchFamily="34" charset="0"/>
            </a:endParaRPr>
          </a:p>
          <a:p>
            <a:pPr algn="r"/>
            <a:r>
              <a:rPr lang="en-US" sz="2800" dirty="0">
                <a:latin typeface="Selawik Semibold" panose="020B0702040204020203" pitchFamily="34" charset="0"/>
              </a:rPr>
              <a:t>- Mahatma Mario</a:t>
            </a: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75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5277</TotalTime>
  <Words>655</Words>
  <Application>Microsoft Office PowerPoint</Application>
  <PresentationFormat>Widescreen</PresentationFormat>
  <Paragraphs>163</Paragraphs>
  <Slides>14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Selawik Semibold</vt:lpstr>
      <vt:lpstr>Office Theme</vt:lpstr>
      <vt:lpstr>Baseball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Inspiration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Baseball I</dc:title>
  <dc:creator>Super Mario</dc:creator>
  <cp:lastModifiedBy>Giacomazzo, Mario Sy John</cp:lastModifiedBy>
  <cp:revision>37</cp:revision>
  <dcterms:created xsi:type="dcterms:W3CDTF">2019-09-02T18:29:52Z</dcterms:created>
  <dcterms:modified xsi:type="dcterms:W3CDTF">2026-06-26T18:45:14Z</dcterms:modified>
</cp:coreProperties>
</file>