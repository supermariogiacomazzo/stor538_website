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notesMasterIdLst>
    <p:notesMasterId r:id="rId11"/>
  </p:notesMasterIdLst>
  <p:sldIdLst>
    <p:sldId id="298" r:id="rId2"/>
    <p:sldId id="306" r:id="rId3"/>
    <p:sldId id="307" r:id="rId4"/>
    <p:sldId id="308" r:id="rId5"/>
    <p:sldId id="309" r:id="rId6"/>
    <p:sldId id="310" r:id="rId7"/>
    <p:sldId id="311" r:id="rId8"/>
    <p:sldId id="312" r:id="rId9"/>
    <p:sldId id="28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per Mario" initials="SM" lastIdx="1" clrIdx="0">
    <p:extLst>
      <p:ext uri="{19B8F6BF-5375-455C-9EA6-DF929625EA0E}">
        <p15:presenceInfo xmlns:p15="http://schemas.microsoft.com/office/powerpoint/2012/main" userId="00ac6b547670034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4817"/>
    <a:srgbClr val="A6A1A1"/>
    <a:srgbClr val="395583"/>
    <a:srgbClr val="F76464"/>
    <a:srgbClr val="882E2E"/>
    <a:srgbClr val="DB5B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04" autoAdjust="0"/>
    <p:restoredTop sz="95871" autoAdjust="0"/>
  </p:normalViewPr>
  <p:slideViewPr>
    <p:cSldViewPr snapToGrid="0">
      <p:cViewPr varScale="1">
        <p:scale>
          <a:sx n="110" d="100"/>
          <a:sy n="110" d="100"/>
        </p:scale>
        <p:origin x="144" y="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4E5E84-956F-4423-97B3-5936A6D8EEEE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3D9EF6-5B6D-4923-9412-628692DCC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90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spc="3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7380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23724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 spc="3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17735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75793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63251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13588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46601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2800" b="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906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400" baseline="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889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66997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25545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294198"/>
            <a:ext cx="9692640" cy="1397124"/>
          </a:xfrm>
          <a:prstGeom prst="rect">
            <a:avLst/>
          </a:prstGeom>
        </p:spPr>
        <p:txBody>
          <a:bodyPr vert="horz" lIns="91440" tIns="27432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3881C039-66A3-4640-815B-3B5A8B7D868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defRPr>
            </a:lvl1pPr>
          </a:lstStyle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74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 spc="-5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2000" kern="1200" spc="1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4" Type="http://schemas.openxmlformats.org/officeDocument/2006/relationships/image" Target="../media/image2.jp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4" Type="http://schemas.openxmlformats.org/officeDocument/2006/relationships/image" Target="../media/image2.jp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7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55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C11CC02F-B97C-40C6-8861-220DFD3F9C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892" y="4281887"/>
            <a:ext cx="2884733" cy="28847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B5445C-8F3E-4F4B-B272-8D9F0BC492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68510" y="0"/>
            <a:ext cx="5328968" cy="1317643"/>
          </a:xfrm>
        </p:spPr>
        <p:txBody>
          <a:bodyPr>
            <a:normAutofit/>
          </a:bodyPr>
          <a:lstStyle/>
          <a:p>
            <a:pPr algn="ctr"/>
            <a:r>
              <a:rPr lang="en-US" sz="6600" dirty="0">
                <a:latin typeface="Selawik Semibold" panose="020B0702040204020203" pitchFamily="34" charset="0"/>
              </a:rPr>
              <a:t>Basketball VI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CC54F8-420D-42C9-AB41-8EA29A4112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52634" y="5099422"/>
            <a:ext cx="4630943" cy="1201844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Selawik Semibold" panose="020B0702040204020203" pitchFamily="34" charset="0"/>
              </a:rPr>
              <a:t>Produced by Dr. Mario</a:t>
            </a:r>
          </a:p>
          <a:p>
            <a:pPr algn="ctr"/>
            <a:r>
              <a:rPr lang="en-US" dirty="0">
                <a:latin typeface="Selawik Semibold" panose="020B0702040204020203" pitchFamily="34" charset="0"/>
              </a:rPr>
              <a:t>UNC </a:t>
            </a:r>
            <a:r>
              <a:rPr lang="en-US">
                <a:latin typeface="Selawik Semibold" panose="020B0702040204020203" pitchFamily="34" charset="0"/>
              </a:rPr>
              <a:t>STOR 538</a:t>
            </a:r>
            <a:endParaRPr lang="en-US" dirty="0">
              <a:latin typeface="Selawik Semibold" panose="020B0702040204020203" pitchFamily="34" charset="0"/>
            </a:endParaRPr>
          </a:p>
        </p:txBody>
      </p:sp>
      <p:pic>
        <p:nvPicPr>
          <p:cNvPr id="7" name="Picture 6" descr="A picture containing clipart&#10;&#10;Description automatically generated">
            <a:extLst>
              <a:ext uri="{FF2B5EF4-FFF2-40B4-BE49-F238E27FC236}">
                <a16:creationId xmlns:a16="http://schemas.microsoft.com/office/drawing/2014/main" id="{3FD21A8F-F7EE-4057-B495-224BE84B522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32" r="8033" b="-1"/>
          <a:stretch/>
        </p:blipFill>
        <p:spPr>
          <a:xfrm>
            <a:off x="0" y="-680"/>
            <a:ext cx="6082054" cy="4242812"/>
          </a:xfrm>
          <a:prstGeom prst="rect">
            <a:avLst/>
          </a:prstGeom>
        </p:spPr>
      </p:pic>
      <p:pic>
        <p:nvPicPr>
          <p:cNvPr id="10" name="Graphic 9" descr="Basketball">
            <a:extLst>
              <a:ext uri="{FF2B5EF4-FFF2-40B4-BE49-F238E27FC236}">
                <a16:creationId xmlns:a16="http://schemas.microsoft.com/office/drawing/2014/main" id="{0E53D0A7-B3B8-49FA-9664-279622DB24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59602" y="1142477"/>
            <a:ext cx="2946783" cy="2946783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49325DA-35EF-42F1-9A6B-BC897DFCF0DE}"/>
              </a:ext>
            </a:extLst>
          </p:cNvPr>
          <p:cNvCxnSpPr>
            <a:cxnSpLocks/>
          </p:cNvCxnSpPr>
          <p:nvPr/>
        </p:nvCxnSpPr>
        <p:spPr>
          <a:xfrm>
            <a:off x="-92765" y="4242131"/>
            <a:ext cx="12437165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close up of a toy&#10;&#10;Description automatically generated">
            <a:extLst>
              <a:ext uri="{FF2B5EF4-FFF2-40B4-BE49-F238E27FC236}">
                <a16:creationId xmlns:a16="http://schemas.microsoft.com/office/drawing/2014/main" id="{7E0865DB-4B5F-4552-BDFA-5A57B0B572C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05" r="-2" b="25800"/>
          <a:stretch/>
        </p:blipFill>
        <p:spPr>
          <a:xfrm>
            <a:off x="8193587" y="4281887"/>
            <a:ext cx="4066061" cy="2836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3936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55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raphic 22" descr="Basketball">
            <a:extLst>
              <a:ext uri="{FF2B5EF4-FFF2-40B4-BE49-F238E27FC236}">
                <a16:creationId xmlns:a16="http://schemas.microsoft.com/office/drawing/2014/main" id="{E9648A1B-FAF4-4D5E-A5FA-056876B6D1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4683" y="-47773"/>
            <a:ext cx="1236707" cy="12367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DA33D13-A6DD-4F70-90E0-B2FBF766C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6146" y="288168"/>
            <a:ext cx="9746927" cy="77200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Selawik Semibold" panose="020B0702040204020203" pitchFamily="34" charset="0"/>
              </a:rPr>
              <a:t>End-Game Strategy</a:t>
            </a:r>
          </a:p>
        </p:txBody>
      </p:sp>
      <p:pic>
        <p:nvPicPr>
          <p:cNvPr id="27" name="Picture 26" descr="A close up of a toy&#10;&#10;Description automatically generated">
            <a:extLst>
              <a:ext uri="{FF2B5EF4-FFF2-40B4-BE49-F238E27FC236}">
                <a16:creationId xmlns:a16="http://schemas.microsoft.com/office/drawing/2014/main" id="{F3F65D40-5045-4F6A-881C-5E044D5BEB7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05" r="-2" b="25800"/>
          <a:stretch/>
        </p:blipFill>
        <p:spPr>
          <a:xfrm>
            <a:off x="455571" y="3932600"/>
            <a:ext cx="1598646" cy="1115388"/>
          </a:xfrm>
          <a:prstGeom prst="rect">
            <a:avLst/>
          </a:prstGeom>
        </p:spPr>
      </p:pic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52313B83-B214-43D7-AC39-182CE4FA3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1467" y="1275565"/>
            <a:ext cx="8843459" cy="5541546"/>
          </a:xfrm>
        </p:spPr>
        <p:txBody>
          <a:bodyPr>
            <a:normAutofit/>
          </a:bodyPr>
          <a:lstStyle/>
          <a:p>
            <a:pPr>
              <a:buSzPct val="100000"/>
            </a:pPr>
            <a:r>
              <a:rPr lang="en-US" sz="2400" dirty="0">
                <a:solidFill>
                  <a:schemeClr val="bg1"/>
                </a:solidFill>
                <a:latin typeface="Selawik Semibold" panose="020B0702040204020203" pitchFamily="34" charset="0"/>
              </a:rPr>
              <a:t>Focus on Two End-Game Situations</a:t>
            </a:r>
          </a:p>
          <a:p>
            <a:pPr lvl="1">
              <a:buSzPct val="100000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Situation 1</a:t>
            </a:r>
          </a:p>
          <a:p>
            <a:pPr lvl="2">
              <a:buSzPct val="100000"/>
            </a:pPr>
            <a:r>
              <a:rPr lang="en-US" sz="1800" dirty="0">
                <a:solidFill>
                  <a:schemeClr val="bg1"/>
                </a:solidFill>
                <a:latin typeface="Selawik Semibold" panose="020B0702040204020203" pitchFamily="34" charset="0"/>
              </a:rPr>
              <a:t>Your Team Has the Ball With 5 Seconds Left and Losing by 2 Points</a:t>
            </a:r>
          </a:p>
          <a:p>
            <a:pPr lvl="2">
              <a:buSzPct val="100000"/>
            </a:pPr>
            <a:r>
              <a:rPr lang="en-US" sz="1800" dirty="0">
                <a:solidFill>
                  <a:schemeClr val="bg1"/>
                </a:solidFill>
                <a:latin typeface="Selawik Semibold" panose="020B0702040204020203" pitchFamily="34" charset="0"/>
              </a:rPr>
              <a:t>Should You Attempt 2-Point Shot to Tie or 3-Point Shot to Win?</a:t>
            </a:r>
          </a:p>
          <a:p>
            <a:pPr lvl="2">
              <a:buSzPct val="100000"/>
            </a:pPr>
            <a:r>
              <a:rPr lang="en-US" sz="1800" dirty="0">
                <a:solidFill>
                  <a:schemeClr val="bg1"/>
                </a:solidFill>
                <a:latin typeface="Selawik Semibold" panose="020B0702040204020203" pitchFamily="34" charset="0"/>
              </a:rPr>
              <a:t>Example: Philadelphia Versus Indiana in 2001 Playoffs (Game 1)</a:t>
            </a:r>
          </a:p>
          <a:p>
            <a:pPr lvl="1">
              <a:buSzPct val="100000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Situation 2</a:t>
            </a:r>
          </a:p>
          <a:p>
            <a:pPr lvl="2">
              <a:buSzPct val="100000"/>
            </a:pPr>
            <a:r>
              <a:rPr lang="en-US" sz="1800" dirty="0">
                <a:solidFill>
                  <a:schemeClr val="bg1"/>
                </a:solidFill>
                <a:latin typeface="Selawik Semibold" panose="020B0702040204020203" pitchFamily="34" charset="0"/>
              </a:rPr>
              <a:t>Your Team is Defending With 5 Seconds Left and Winning by 3 Points</a:t>
            </a:r>
          </a:p>
          <a:p>
            <a:pPr lvl="2">
              <a:buSzPct val="100000"/>
            </a:pPr>
            <a:r>
              <a:rPr lang="en-US" sz="1800" dirty="0">
                <a:solidFill>
                  <a:schemeClr val="bg1"/>
                </a:solidFill>
                <a:latin typeface="Selawik Semibold" panose="020B0702040204020203" pitchFamily="34" charset="0"/>
              </a:rPr>
              <a:t>Should You Foul or Allow Opponent to Attempt a 3-Pointer for the Tie?</a:t>
            </a:r>
          </a:p>
          <a:p>
            <a:pPr lvl="2">
              <a:buSzPct val="100000"/>
            </a:pPr>
            <a:r>
              <a:rPr lang="en-US" sz="1800" dirty="0">
                <a:solidFill>
                  <a:schemeClr val="bg1"/>
                </a:solidFill>
                <a:latin typeface="Selawik Semibold" panose="020B0702040204020203" pitchFamily="34" charset="0"/>
              </a:rPr>
              <a:t>Example: Dallas Versus Phoenix in 2005 Playoffs (Game 6)</a:t>
            </a:r>
          </a:p>
          <a:p>
            <a:pPr lvl="2">
              <a:buSzPct val="100000"/>
            </a:pPr>
            <a:endParaRPr lang="en-US" sz="8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>
              <a:buSzPct val="100000"/>
            </a:pPr>
            <a:r>
              <a:rPr lang="en-US" sz="2200" dirty="0">
                <a:solidFill>
                  <a:schemeClr val="bg1"/>
                </a:solidFill>
                <a:latin typeface="Selawik Semibold" panose="020B0702040204020203" pitchFamily="34" charset="0"/>
              </a:rPr>
              <a:t>Actual Outcomes</a:t>
            </a:r>
          </a:p>
          <a:p>
            <a:pPr lvl="1">
              <a:buSzPct val="100000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Situation 1: Reggie Miller Won Game with 3-Pointer at Buzzer to Win</a:t>
            </a:r>
          </a:p>
          <a:p>
            <a:pPr lvl="1">
              <a:buSzPct val="100000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Situation 2: Steve Nash Tied the Game with 3-Pointer and Later Won the Game after a Double Overtime</a:t>
            </a:r>
          </a:p>
          <a:p>
            <a:pPr lvl="2">
              <a:buSzPct val="100000"/>
            </a:pPr>
            <a:endParaRPr lang="en-US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0" indent="0">
              <a:buSzPct val="100000"/>
              <a:buNone/>
            </a:pPr>
            <a:endParaRPr lang="en-US" sz="24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lvl="1">
              <a:buSzPct val="100000"/>
            </a:pP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164AB91-DF9B-4348-85B4-B3DBD68D0AB8}"/>
              </a:ext>
            </a:extLst>
          </p:cNvPr>
          <p:cNvCxnSpPr>
            <a:cxnSpLocks/>
          </p:cNvCxnSpPr>
          <p:nvPr/>
        </p:nvCxnSpPr>
        <p:spPr>
          <a:xfrm flipV="1">
            <a:off x="1772959" y="1060174"/>
            <a:ext cx="9513948" cy="40889"/>
          </a:xfrm>
          <a:prstGeom prst="line">
            <a:avLst/>
          </a:prstGeom>
          <a:ln w="1016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34" descr="A picture containing clipart&#10;&#10;Description automatically generated">
            <a:extLst>
              <a:ext uri="{FF2B5EF4-FFF2-40B4-BE49-F238E27FC236}">
                <a16:creationId xmlns:a16="http://schemas.microsoft.com/office/drawing/2014/main" id="{36A4252C-FA56-4DE4-B601-DA4D32813E5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32" r="8033" b="-1"/>
          <a:stretch/>
        </p:blipFill>
        <p:spPr>
          <a:xfrm>
            <a:off x="450297" y="2817212"/>
            <a:ext cx="1598904" cy="1115388"/>
          </a:xfrm>
          <a:prstGeom prst="rect">
            <a:avLst/>
          </a:prstGeom>
        </p:spPr>
      </p:pic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AC0AF4A-02B5-401B-9183-DFBDCAC17CB5}"/>
              </a:ext>
            </a:extLst>
          </p:cNvPr>
          <p:cNvCxnSpPr>
            <a:cxnSpLocks/>
          </p:cNvCxnSpPr>
          <p:nvPr/>
        </p:nvCxnSpPr>
        <p:spPr>
          <a:xfrm flipV="1">
            <a:off x="1443448" y="1087104"/>
            <a:ext cx="364940" cy="567192"/>
          </a:xfrm>
          <a:prstGeom prst="line">
            <a:avLst/>
          </a:prstGeom>
          <a:ln w="1016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C0D842E-CE3C-450F-A5A5-11DDD6118C09}"/>
              </a:ext>
            </a:extLst>
          </p:cNvPr>
          <p:cNvCxnSpPr>
            <a:cxnSpLocks/>
          </p:cNvCxnSpPr>
          <p:nvPr/>
        </p:nvCxnSpPr>
        <p:spPr>
          <a:xfrm>
            <a:off x="443317" y="-93164"/>
            <a:ext cx="1000131" cy="1802428"/>
          </a:xfrm>
          <a:prstGeom prst="line">
            <a:avLst/>
          </a:prstGeom>
          <a:ln w="1016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7D3C56B-D516-4628-8E26-F56918CF8C92}"/>
              </a:ext>
            </a:extLst>
          </p:cNvPr>
          <p:cNvCxnSpPr>
            <a:cxnSpLocks/>
          </p:cNvCxnSpPr>
          <p:nvPr/>
        </p:nvCxnSpPr>
        <p:spPr>
          <a:xfrm>
            <a:off x="369948" y="3889614"/>
            <a:ext cx="1590634" cy="0"/>
          </a:xfrm>
          <a:prstGeom prst="line">
            <a:avLst/>
          </a:prstGeom>
          <a:ln w="101600">
            <a:solidFill>
              <a:srgbClr val="A6A1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290DB4C-815D-42FC-98C1-898CC129644A}"/>
              </a:ext>
            </a:extLst>
          </p:cNvPr>
          <p:cNvCxnSpPr>
            <a:cxnSpLocks/>
          </p:cNvCxnSpPr>
          <p:nvPr/>
        </p:nvCxnSpPr>
        <p:spPr>
          <a:xfrm>
            <a:off x="373606" y="2789797"/>
            <a:ext cx="1590634" cy="0"/>
          </a:xfrm>
          <a:prstGeom prst="line">
            <a:avLst/>
          </a:prstGeom>
          <a:ln w="101600">
            <a:solidFill>
              <a:srgbClr val="A6A1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7FDB3DF-10DC-4872-BCF3-6F2CC6DD0F1C}"/>
              </a:ext>
            </a:extLst>
          </p:cNvPr>
          <p:cNvCxnSpPr>
            <a:cxnSpLocks/>
          </p:cNvCxnSpPr>
          <p:nvPr/>
        </p:nvCxnSpPr>
        <p:spPr>
          <a:xfrm>
            <a:off x="373606" y="5047988"/>
            <a:ext cx="1590634" cy="0"/>
          </a:xfrm>
          <a:prstGeom prst="line">
            <a:avLst/>
          </a:prstGeom>
          <a:ln w="1016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Picture 60" descr="A close up of a toy&#10;&#10;Description automatically generated">
            <a:extLst>
              <a:ext uri="{FF2B5EF4-FFF2-40B4-BE49-F238E27FC236}">
                <a16:creationId xmlns:a16="http://schemas.microsoft.com/office/drawing/2014/main" id="{96AE0023-E4EA-4D16-8B99-96DA8E83150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05" r="-2" b="25800"/>
          <a:stretch/>
        </p:blipFill>
        <p:spPr>
          <a:xfrm>
            <a:off x="455571" y="6190676"/>
            <a:ext cx="1598646" cy="1115388"/>
          </a:xfrm>
          <a:prstGeom prst="rect">
            <a:avLst/>
          </a:prstGeom>
        </p:spPr>
      </p:pic>
      <p:pic>
        <p:nvPicPr>
          <p:cNvPr id="62" name="Picture 61" descr="A picture containing clipart&#10;&#10;Description automatically generated">
            <a:extLst>
              <a:ext uri="{FF2B5EF4-FFF2-40B4-BE49-F238E27FC236}">
                <a16:creationId xmlns:a16="http://schemas.microsoft.com/office/drawing/2014/main" id="{569B3D08-70E8-4C8B-A239-7C18FB492C6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32" r="8033" b="-1"/>
          <a:stretch/>
        </p:blipFill>
        <p:spPr>
          <a:xfrm>
            <a:off x="450297" y="5075288"/>
            <a:ext cx="1598904" cy="1115388"/>
          </a:xfrm>
          <a:prstGeom prst="rect">
            <a:avLst/>
          </a:prstGeom>
        </p:spPr>
      </p:pic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20DB3758-374A-4C64-B771-E4915100FBBC}"/>
              </a:ext>
            </a:extLst>
          </p:cNvPr>
          <p:cNvCxnSpPr>
            <a:cxnSpLocks/>
          </p:cNvCxnSpPr>
          <p:nvPr/>
        </p:nvCxnSpPr>
        <p:spPr>
          <a:xfrm>
            <a:off x="369948" y="6147690"/>
            <a:ext cx="1590634" cy="0"/>
          </a:xfrm>
          <a:prstGeom prst="line">
            <a:avLst/>
          </a:prstGeom>
          <a:ln w="101600">
            <a:solidFill>
              <a:srgbClr val="A6A1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3BDADCEE-4407-4364-B613-6D0D45453CB7}"/>
              </a:ext>
            </a:extLst>
          </p:cNvPr>
          <p:cNvCxnSpPr>
            <a:cxnSpLocks/>
          </p:cNvCxnSpPr>
          <p:nvPr/>
        </p:nvCxnSpPr>
        <p:spPr>
          <a:xfrm>
            <a:off x="373606" y="5047873"/>
            <a:ext cx="1590634" cy="0"/>
          </a:xfrm>
          <a:prstGeom prst="line">
            <a:avLst/>
          </a:prstGeom>
          <a:ln w="101600">
            <a:solidFill>
              <a:srgbClr val="A6A1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DFF830B1-81C0-4325-8FC2-FD52D52FBC55}"/>
              </a:ext>
            </a:extLst>
          </p:cNvPr>
          <p:cNvCxnSpPr>
            <a:cxnSpLocks/>
          </p:cNvCxnSpPr>
          <p:nvPr/>
        </p:nvCxnSpPr>
        <p:spPr>
          <a:xfrm>
            <a:off x="373606" y="7306064"/>
            <a:ext cx="1590634" cy="0"/>
          </a:xfrm>
          <a:prstGeom prst="line">
            <a:avLst/>
          </a:prstGeom>
          <a:ln w="1016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D695731-30B6-474A-893D-D960E2F39AF9}"/>
              </a:ext>
            </a:extLst>
          </p:cNvPr>
          <p:cNvCxnSpPr>
            <a:cxnSpLocks/>
          </p:cNvCxnSpPr>
          <p:nvPr/>
        </p:nvCxnSpPr>
        <p:spPr>
          <a:xfrm flipV="1">
            <a:off x="2010803" y="1087104"/>
            <a:ext cx="0" cy="5770896"/>
          </a:xfrm>
          <a:prstGeom prst="line">
            <a:avLst/>
          </a:prstGeom>
          <a:ln w="1016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9862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55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raphic 22" descr="Basketball">
            <a:extLst>
              <a:ext uri="{FF2B5EF4-FFF2-40B4-BE49-F238E27FC236}">
                <a16:creationId xmlns:a16="http://schemas.microsoft.com/office/drawing/2014/main" id="{E9648A1B-FAF4-4D5E-A5FA-056876B6D1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4683" y="-47773"/>
            <a:ext cx="1236707" cy="12367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DA33D13-A6DD-4F70-90E0-B2FBF766C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6146" y="288168"/>
            <a:ext cx="9746927" cy="77200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Selawik Semibold" panose="020B0702040204020203" pitchFamily="34" charset="0"/>
              </a:rPr>
              <a:t>End-Game Strategy</a:t>
            </a:r>
          </a:p>
        </p:txBody>
      </p:sp>
      <p:pic>
        <p:nvPicPr>
          <p:cNvPr id="27" name="Picture 26" descr="A close up of a toy&#10;&#10;Description automatically generated">
            <a:extLst>
              <a:ext uri="{FF2B5EF4-FFF2-40B4-BE49-F238E27FC236}">
                <a16:creationId xmlns:a16="http://schemas.microsoft.com/office/drawing/2014/main" id="{F3F65D40-5045-4F6A-881C-5E044D5BEB7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05" r="-2" b="25800"/>
          <a:stretch/>
        </p:blipFill>
        <p:spPr>
          <a:xfrm>
            <a:off x="455571" y="3932600"/>
            <a:ext cx="1598646" cy="1115388"/>
          </a:xfrm>
          <a:prstGeom prst="rect">
            <a:avLst/>
          </a:prstGeom>
        </p:spPr>
      </p:pic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52313B83-B214-43D7-AC39-182CE4FA3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1467" y="1275565"/>
            <a:ext cx="8843459" cy="5541546"/>
          </a:xfrm>
        </p:spPr>
        <p:txBody>
          <a:bodyPr>
            <a:normAutofit/>
          </a:bodyPr>
          <a:lstStyle/>
          <a:p>
            <a:pPr>
              <a:buSzPct val="100000"/>
            </a:pPr>
            <a:r>
              <a:rPr lang="en-US" sz="2400" dirty="0">
                <a:solidFill>
                  <a:schemeClr val="bg1"/>
                </a:solidFill>
                <a:latin typeface="Selawik Semibold" panose="020B0702040204020203" pitchFamily="34" charset="0"/>
              </a:rPr>
              <a:t>Decision Making for Situation 1</a:t>
            </a:r>
          </a:p>
          <a:p>
            <a:pPr lvl="1">
              <a:buSzPct val="100000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Goal: Make Decision that Maximizes Probability of Winning</a:t>
            </a:r>
          </a:p>
          <a:p>
            <a:pPr lvl="1">
              <a:buSzPct val="100000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Two Assumptions</a:t>
            </a:r>
          </a:p>
          <a:p>
            <a:pPr lvl="2">
              <a:buSzPct val="100000"/>
            </a:pPr>
            <a:r>
              <a:rPr lang="en-US" sz="1800" dirty="0">
                <a:solidFill>
                  <a:schemeClr val="bg1"/>
                </a:solidFill>
                <a:latin typeface="Selawik Semibold" panose="020B0702040204020203" pitchFamily="34" charset="0"/>
              </a:rPr>
              <a:t>Other Team Will Not Foul on Shot</a:t>
            </a:r>
          </a:p>
          <a:p>
            <a:pPr lvl="2">
              <a:buSzPct val="100000"/>
            </a:pPr>
            <a:r>
              <a:rPr lang="en-US" sz="1800" dirty="0">
                <a:solidFill>
                  <a:schemeClr val="bg1"/>
                </a:solidFill>
                <a:latin typeface="Selawik Semibold" panose="020B0702040204020203" pitchFamily="34" charset="0"/>
              </a:rPr>
              <a:t>Game Will End on Our Shot</a:t>
            </a:r>
          </a:p>
          <a:p>
            <a:pPr lvl="1">
              <a:buSzPct val="100000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Important Events</a:t>
            </a:r>
          </a:p>
          <a:p>
            <a:pPr lvl="2">
              <a:buSzPct val="100000"/>
            </a:pPr>
            <a:r>
              <a:rPr lang="en-US" sz="1800" dirty="0">
                <a:solidFill>
                  <a:schemeClr val="bg1"/>
                </a:solidFill>
                <a:latin typeface="Selawik Semibold" panose="020B0702040204020203" pitchFamily="34" charset="0"/>
              </a:rPr>
              <a:t>A = Event that a 2-Pointer is Good</a:t>
            </a:r>
          </a:p>
          <a:p>
            <a:pPr lvl="2">
              <a:buSzPct val="100000"/>
            </a:pPr>
            <a:r>
              <a:rPr lang="en-US" sz="1800" dirty="0">
                <a:solidFill>
                  <a:schemeClr val="bg1"/>
                </a:solidFill>
                <a:latin typeface="Selawik Semibold" panose="020B0702040204020203" pitchFamily="34" charset="0"/>
              </a:rPr>
              <a:t>B = Event that a 3-Pointer is Good</a:t>
            </a:r>
          </a:p>
          <a:p>
            <a:pPr lvl="2">
              <a:buSzPct val="100000"/>
            </a:pPr>
            <a:r>
              <a:rPr lang="en-US" sz="1800" dirty="0">
                <a:solidFill>
                  <a:schemeClr val="bg1"/>
                </a:solidFill>
                <a:latin typeface="Selawik Semibold" panose="020B0702040204020203" pitchFamily="34" charset="0"/>
              </a:rPr>
              <a:t>C = Event that We Win in Overtime</a:t>
            </a:r>
          </a:p>
          <a:p>
            <a:pPr lvl="2">
              <a:buSzPct val="100000"/>
            </a:pPr>
            <a:r>
              <a:rPr lang="en-US" sz="1800" dirty="0">
                <a:solidFill>
                  <a:schemeClr val="bg1"/>
                </a:solidFill>
                <a:latin typeface="Selawik Semibold" panose="020B0702040204020203" pitchFamily="34" charset="0"/>
              </a:rPr>
              <a:t>W = Event We Win the Game</a:t>
            </a:r>
          </a:p>
          <a:p>
            <a:pPr lvl="2">
              <a:buSzPct val="100000"/>
            </a:pPr>
            <a:r>
              <a:rPr lang="en-US" sz="1800" dirty="0">
                <a:solidFill>
                  <a:schemeClr val="bg1"/>
                </a:solidFill>
                <a:latin typeface="Selawik Semibold" panose="020B0702040204020203" pitchFamily="34" charset="0"/>
              </a:rPr>
              <a:t>L  = Event We Lose the Game</a:t>
            </a:r>
          </a:p>
          <a:p>
            <a:pPr lvl="1">
              <a:buSzPct val="100000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Probabilities Based on Data Over Many Seasons</a:t>
            </a:r>
          </a:p>
          <a:p>
            <a:pPr lvl="1">
              <a:buSzPct val="100000"/>
            </a:pP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lvl="1">
              <a:buSzPct val="100000"/>
            </a:pP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lvl="1">
              <a:buSzPct val="100000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If Attempting 2-Pointer, We Win if Shot is Made and Win in Overtime</a:t>
            </a:r>
          </a:p>
          <a:p>
            <a:pPr lvl="1">
              <a:buSzPct val="100000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If Attempting 3-Pointer, We Win if Shot is Made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164AB91-DF9B-4348-85B4-B3DBD68D0AB8}"/>
              </a:ext>
            </a:extLst>
          </p:cNvPr>
          <p:cNvCxnSpPr>
            <a:cxnSpLocks/>
          </p:cNvCxnSpPr>
          <p:nvPr/>
        </p:nvCxnSpPr>
        <p:spPr>
          <a:xfrm flipV="1">
            <a:off x="1772959" y="1060174"/>
            <a:ext cx="9513948" cy="40889"/>
          </a:xfrm>
          <a:prstGeom prst="line">
            <a:avLst/>
          </a:prstGeom>
          <a:ln w="1016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34" descr="A picture containing clipart&#10;&#10;Description automatically generated">
            <a:extLst>
              <a:ext uri="{FF2B5EF4-FFF2-40B4-BE49-F238E27FC236}">
                <a16:creationId xmlns:a16="http://schemas.microsoft.com/office/drawing/2014/main" id="{36A4252C-FA56-4DE4-B601-DA4D32813E5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32" r="8033" b="-1"/>
          <a:stretch/>
        </p:blipFill>
        <p:spPr>
          <a:xfrm>
            <a:off x="450297" y="2817212"/>
            <a:ext cx="1598904" cy="1115388"/>
          </a:xfrm>
          <a:prstGeom prst="rect">
            <a:avLst/>
          </a:prstGeom>
        </p:spPr>
      </p:pic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AC0AF4A-02B5-401B-9183-DFBDCAC17CB5}"/>
              </a:ext>
            </a:extLst>
          </p:cNvPr>
          <p:cNvCxnSpPr>
            <a:cxnSpLocks/>
          </p:cNvCxnSpPr>
          <p:nvPr/>
        </p:nvCxnSpPr>
        <p:spPr>
          <a:xfrm flipV="1">
            <a:off x="1443448" y="1087104"/>
            <a:ext cx="364940" cy="567192"/>
          </a:xfrm>
          <a:prstGeom prst="line">
            <a:avLst/>
          </a:prstGeom>
          <a:ln w="1016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C0D842E-CE3C-450F-A5A5-11DDD6118C09}"/>
              </a:ext>
            </a:extLst>
          </p:cNvPr>
          <p:cNvCxnSpPr>
            <a:cxnSpLocks/>
          </p:cNvCxnSpPr>
          <p:nvPr/>
        </p:nvCxnSpPr>
        <p:spPr>
          <a:xfrm>
            <a:off x="443317" y="-93164"/>
            <a:ext cx="1000131" cy="1802428"/>
          </a:xfrm>
          <a:prstGeom prst="line">
            <a:avLst/>
          </a:prstGeom>
          <a:ln w="1016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7D3C56B-D516-4628-8E26-F56918CF8C92}"/>
              </a:ext>
            </a:extLst>
          </p:cNvPr>
          <p:cNvCxnSpPr>
            <a:cxnSpLocks/>
          </p:cNvCxnSpPr>
          <p:nvPr/>
        </p:nvCxnSpPr>
        <p:spPr>
          <a:xfrm>
            <a:off x="369948" y="3889614"/>
            <a:ext cx="1590634" cy="0"/>
          </a:xfrm>
          <a:prstGeom prst="line">
            <a:avLst/>
          </a:prstGeom>
          <a:ln w="101600">
            <a:solidFill>
              <a:srgbClr val="A6A1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290DB4C-815D-42FC-98C1-898CC129644A}"/>
              </a:ext>
            </a:extLst>
          </p:cNvPr>
          <p:cNvCxnSpPr>
            <a:cxnSpLocks/>
          </p:cNvCxnSpPr>
          <p:nvPr/>
        </p:nvCxnSpPr>
        <p:spPr>
          <a:xfrm>
            <a:off x="373606" y="2789797"/>
            <a:ext cx="1590634" cy="0"/>
          </a:xfrm>
          <a:prstGeom prst="line">
            <a:avLst/>
          </a:prstGeom>
          <a:ln w="101600">
            <a:solidFill>
              <a:srgbClr val="A6A1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7FDB3DF-10DC-4872-BCF3-6F2CC6DD0F1C}"/>
              </a:ext>
            </a:extLst>
          </p:cNvPr>
          <p:cNvCxnSpPr>
            <a:cxnSpLocks/>
          </p:cNvCxnSpPr>
          <p:nvPr/>
        </p:nvCxnSpPr>
        <p:spPr>
          <a:xfrm>
            <a:off x="373606" y="5047988"/>
            <a:ext cx="1590634" cy="0"/>
          </a:xfrm>
          <a:prstGeom prst="line">
            <a:avLst/>
          </a:prstGeom>
          <a:ln w="1016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Picture 60" descr="A close up of a toy&#10;&#10;Description automatically generated">
            <a:extLst>
              <a:ext uri="{FF2B5EF4-FFF2-40B4-BE49-F238E27FC236}">
                <a16:creationId xmlns:a16="http://schemas.microsoft.com/office/drawing/2014/main" id="{96AE0023-E4EA-4D16-8B99-96DA8E83150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05" r="-2" b="25800"/>
          <a:stretch/>
        </p:blipFill>
        <p:spPr>
          <a:xfrm>
            <a:off x="455571" y="6190676"/>
            <a:ext cx="1598646" cy="1115388"/>
          </a:xfrm>
          <a:prstGeom prst="rect">
            <a:avLst/>
          </a:prstGeom>
        </p:spPr>
      </p:pic>
      <p:pic>
        <p:nvPicPr>
          <p:cNvPr id="62" name="Picture 61" descr="A picture containing clipart&#10;&#10;Description automatically generated">
            <a:extLst>
              <a:ext uri="{FF2B5EF4-FFF2-40B4-BE49-F238E27FC236}">
                <a16:creationId xmlns:a16="http://schemas.microsoft.com/office/drawing/2014/main" id="{569B3D08-70E8-4C8B-A239-7C18FB492C6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32" r="8033" b="-1"/>
          <a:stretch/>
        </p:blipFill>
        <p:spPr>
          <a:xfrm>
            <a:off x="450297" y="5075288"/>
            <a:ext cx="1598904" cy="1115388"/>
          </a:xfrm>
          <a:prstGeom prst="rect">
            <a:avLst/>
          </a:prstGeom>
        </p:spPr>
      </p:pic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20DB3758-374A-4C64-B771-E4915100FBBC}"/>
              </a:ext>
            </a:extLst>
          </p:cNvPr>
          <p:cNvCxnSpPr>
            <a:cxnSpLocks/>
          </p:cNvCxnSpPr>
          <p:nvPr/>
        </p:nvCxnSpPr>
        <p:spPr>
          <a:xfrm>
            <a:off x="369948" y="6147690"/>
            <a:ext cx="1590634" cy="0"/>
          </a:xfrm>
          <a:prstGeom prst="line">
            <a:avLst/>
          </a:prstGeom>
          <a:ln w="101600">
            <a:solidFill>
              <a:srgbClr val="A6A1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3BDADCEE-4407-4364-B613-6D0D45453CB7}"/>
              </a:ext>
            </a:extLst>
          </p:cNvPr>
          <p:cNvCxnSpPr>
            <a:cxnSpLocks/>
          </p:cNvCxnSpPr>
          <p:nvPr/>
        </p:nvCxnSpPr>
        <p:spPr>
          <a:xfrm>
            <a:off x="373606" y="5047873"/>
            <a:ext cx="1590634" cy="0"/>
          </a:xfrm>
          <a:prstGeom prst="line">
            <a:avLst/>
          </a:prstGeom>
          <a:ln w="101600">
            <a:solidFill>
              <a:srgbClr val="A6A1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DFF830B1-81C0-4325-8FC2-FD52D52FBC55}"/>
              </a:ext>
            </a:extLst>
          </p:cNvPr>
          <p:cNvCxnSpPr>
            <a:cxnSpLocks/>
          </p:cNvCxnSpPr>
          <p:nvPr/>
        </p:nvCxnSpPr>
        <p:spPr>
          <a:xfrm>
            <a:off x="373606" y="7306064"/>
            <a:ext cx="1590634" cy="0"/>
          </a:xfrm>
          <a:prstGeom prst="line">
            <a:avLst/>
          </a:prstGeom>
          <a:ln w="1016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D695731-30B6-474A-893D-D960E2F39AF9}"/>
              </a:ext>
            </a:extLst>
          </p:cNvPr>
          <p:cNvCxnSpPr>
            <a:cxnSpLocks/>
          </p:cNvCxnSpPr>
          <p:nvPr/>
        </p:nvCxnSpPr>
        <p:spPr>
          <a:xfrm flipV="1">
            <a:off x="2010803" y="1087104"/>
            <a:ext cx="0" cy="5770896"/>
          </a:xfrm>
          <a:prstGeom prst="line">
            <a:avLst/>
          </a:prstGeom>
          <a:ln w="1016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56A1154-10CB-42E6-A6C7-C474D995A2C8}"/>
                  </a:ext>
                </a:extLst>
              </p:cNvPr>
              <p:cNvSpPr txBox="1"/>
              <p:nvPr/>
            </p:nvSpPr>
            <p:spPr>
              <a:xfrm>
                <a:off x="2576630" y="5402149"/>
                <a:ext cx="76045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=0.52</m:t>
                    </m:r>
                  </m:oMath>
                </a14:m>
                <a:r>
                  <a:rPr lang="en-US" sz="2400" b="0" dirty="0">
                    <a:solidFill>
                      <a:schemeClr val="bg1"/>
                    </a:solidFill>
                  </a:rPr>
                  <a:t>      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0.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     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≈0.5</m:t>
                    </m:r>
                  </m:oMath>
                </a14:m>
                <a:endParaRPr lang="en-US" sz="24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56A1154-10CB-42E6-A6C7-C474D995A2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6630" y="5402149"/>
                <a:ext cx="7604567" cy="461665"/>
              </a:xfrm>
              <a:prstGeom prst="rect">
                <a:avLst/>
              </a:prstGeom>
              <a:blipFill>
                <a:blip r:embed="rId6"/>
                <a:stretch>
                  <a:fillRect l="-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0921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55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raphic 22" descr="Basketball">
            <a:extLst>
              <a:ext uri="{FF2B5EF4-FFF2-40B4-BE49-F238E27FC236}">
                <a16:creationId xmlns:a16="http://schemas.microsoft.com/office/drawing/2014/main" id="{E9648A1B-FAF4-4D5E-A5FA-056876B6D1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4683" y="-47773"/>
            <a:ext cx="1236707" cy="12367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DA33D13-A6DD-4F70-90E0-B2FBF766C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6146" y="288168"/>
            <a:ext cx="9746927" cy="77200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Selawik Semibold" panose="020B0702040204020203" pitchFamily="34" charset="0"/>
              </a:rPr>
              <a:t>End-Game Strategy</a:t>
            </a:r>
          </a:p>
        </p:txBody>
      </p:sp>
      <p:pic>
        <p:nvPicPr>
          <p:cNvPr id="27" name="Picture 26" descr="A close up of a toy&#10;&#10;Description automatically generated">
            <a:extLst>
              <a:ext uri="{FF2B5EF4-FFF2-40B4-BE49-F238E27FC236}">
                <a16:creationId xmlns:a16="http://schemas.microsoft.com/office/drawing/2014/main" id="{F3F65D40-5045-4F6A-881C-5E044D5BEB7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05" r="-2" b="25800"/>
          <a:stretch/>
        </p:blipFill>
        <p:spPr>
          <a:xfrm>
            <a:off x="455571" y="3932600"/>
            <a:ext cx="1598646" cy="1115388"/>
          </a:xfrm>
          <a:prstGeom prst="rect">
            <a:avLst/>
          </a:prstGeom>
        </p:spPr>
      </p:pic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52313B83-B214-43D7-AC39-182CE4FA3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1467" y="1275565"/>
            <a:ext cx="8843459" cy="5541546"/>
          </a:xfrm>
        </p:spPr>
        <p:txBody>
          <a:bodyPr>
            <a:normAutofit/>
          </a:bodyPr>
          <a:lstStyle/>
          <a:p>
            <a:pPr>
              <a:buSzPct val="100000"/>
            </a:pPr>
            <a:r>
              <a:rPr lang="en-US" sz="2400" dirty="0">
                <a:solidFill>
                  <a:schemeClr val="bg1"/>
                </a:solidFill>
                <a:latin typeface="Selawik Semibold" panose="020B0702040204020203" pitchFamily="34" charset="0"/>
              </a:rPr>
              <a:t>Decision Making for Situation 1</a:t>
            </a:r>
          </a:p>
          <a:p>
            <a:pPr lvl="1">
              <a:buSzPct val="100000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Decision Tree</a:t>
            </a:r>
          </a:p>
          <a:p>
            <a:pPr lvl="1">
              <a:buSzPct val="100000"/>
            </a:pP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lvl="1">
              <a:buSzPct val="100000"/>
            </a:pP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lvl="1">
              <a:buSzPct val="100000"/>
            </a:pP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lvl="1">
              <a:buSzPct val="100000"/>
            </a:pP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lvl="1">
              <a:buSzPct val="100000"/>
            </a:pP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lvl="1">
              <a:buSzPct val="100000"/>
            </a:pP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lvl="1">
              <a:buSzPct val="100000"/>
            </a:pP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lvl="1">
              <a:buSzPct val="100000"/>
            </a:pP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lvl="1">
              <a:buSzPct val="100000"/>
            </a:pP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lvl="1">
              <a:buSzPct val="100000"/>
            </a:pP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lvl="1">
              <a:buSzPct val="100000"/>
            </a:pP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lvl="1">
              <a:buSzPct val="100000"/>
            </a:pP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lvl="1">
              <a:buSzPct val="100000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Find Probabilities By Multiplying Across Branches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164AB91-DF9B-4348-85B4-B3DBD68D0AB8}"/>
              </a:ext>
            </a:extLst>
          </p:cNvPr>
          <p:cNvCxnSpPr>
            <a:cxnSpLocks/>
          </p:cNvCxnSpPr>
          <p:nvPr/>
        </p:nvCxnSpPr>
        <p:spPr>
          <a:xfrm flipV="1">
            <a:off x="1772959" y="1060174"/>
            <a:ext cx="9513948" cy="40889"/>
          </a:xfrm>
          <a:prstGeom prst="line">
            <a:avLst/>
          </a:prstGeom>
          <a:ln w="1016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34" descr="A picture containing clipart&#10;&#10;Description automatically generated">
            <a:extLst>
              <a:ext uri="{FF2B5EF4-FFF2-40B4-BE49-F238E27FC236}">
                <a16:creationId xmlns:a16="http://schemas.microsoft.com/office/drawing/2014/main" id="{36A4252C-FA56-4DE4-B601-DA4D32813E5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32" r="8033" b="-1"/>
          <a:stretch/>
        </p:blipFill>
        <p:spPr>
          <a:xfrm>
            <a:off x="450297" y="2817212"/>
            <a:ext cx="1598904" cy="1115388"/>
          </a:xfrm>
          <a:prstGeom prst="rect">
            <a:avLst/>
          </a:prstGeom>
        </p:spPr>
      </p:pic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AC0AF4A-02B5-401B-9183-DFBDCAC17CB5}"/>
              </a:ext>
            </a:extLst>
          </p:cNvPr>
          <p:cNvCxnSpPr>
            <a:cxnSpLocks/>
          </p:cNvCxnSpPr>
          <p:nvPr/>
        </p:nvCxnSpPr>
        <p:spPr>
          <a:xfrm flipV="1">
            <a:off x="1443448" y="1087104"/>
            <a:ext cx="364940" cy="567192"/>
          </a:xfrm>
          <a:prstGeom prst="line">
            <a:avLst/>
          </a:prstGeom>
          <a:ln w="1016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C0D842E-CE3C-450F-A5A5-11DDD6118C09}"/>
              </a:ext>
            </a:extLst>
          </p:cNvPr>
          <p:cNvCxnSpPr>
            <a:cxnSpLocks/>
          </p:cNvCxnSpPr>
          <p:nvPr/>
        </p:nvCxnSpPr>
        <p:spPr>
          <a:xfrm>
            <a:off x="443317" y="-93164"/>
            <a:ext cx="1000131" cy="1802428"/>
          </a:xfrm>
          <a:prstGeom prst="line">
            <a:avLst/>
          </a:prstGeom>
          <a:ln w="1016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7D3C56B-D516-4628-8E26-F56918CF8C92}"/>
              </a:ext>
            </a:extLst>
          </p:cNvPr>
          <p:cNvCxnSpPr>
            <a:cxnSpLocks/>
          </p:cNvCxnSpPr>
          <p:nvPr/>
        </p:nvCxnSpPr>
        <p:spPr>
          <a:xfrm>
            <a:off x="369948" y="3889614"/>
            <a:ext cx="1590634" cy="0"/>
          </a:xfrm>
          <a:prstGeom prst="line">
            <a:avLst/>
          </a:prstGeom>
          <a:ln w="101600">
            <a:solidFill>
              <a:srgbClr val="A6A1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290DB4C-815D-42FC-98C1-898CC129644A}"/>
              </a:ext>
            </a:extLst>
          </p:cNvPr>
          <p:cNvCxnSpPr>
            <a:cxnSpLocks/>
          </p:cNvCxnSpPr>
          <p:nvPr/>
        </p:nvCxnSpPr>
        <p:spPr>
          <a:xfrm>
            <a:off x="373606" y="2789797"/>
            <a:ext cx="1590634" cy="0"/>
          </a:xfrm>
          <a:prstGeom prst="line">
            <a:avLst/>
          </a:prstGeom>
          <a:ln w="101600">
            <a:solidFill>
              <a:srgbClr val="A6A1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7FDB3DF-10DC-4872-BCF3-6F2CC6DD0F1C}"/>
              </a:ext>
            </a:extLst>
          </p:cNvPr>
          <p:cNvCxnSpPr>
            <a:cxnSpLocks/>
          </p:cNvCxnSpPr>
          <p:nvPr/>
        </p:nvCxnSpPr>
        <p:spPr>
          <a:xfrm>
            <a:off x="373606" y="5047988"/>
            <a:ext cx="1590634" cy="0"/>
          </a:xfrm>
          <a:prstGeom prst="line">
            <a:avLst/>
          </a:prstGeom>
          <a:ln w="1016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Picture 60" descr="A close up of a toy&#10;&#10;Description automatically generated">
            <a:extLst>
              <a:ext uri="{FF2B5EF4-FFF2-40B4-BE49-F238E27FC236}">
                <a16:creationId xmlns:a16="http://schemas.microsoft.com/office/drawing/2014/main" id="{96AE0023-E4EA-4D16-8B99-96DA8E83150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05" r="-2" b="25800"/>
          <a:stretch/>
        </p:blipFill>
        <p:spPr>
          <a:xfrm>
            <a:off x="455571" y="6190676"/>
            <a:ext cx="1598646" cy="1115388"/>
          </a:xfrm>
          <a:prstGeom prst="rect">
            <a:avLst/>
          </a:prstGeom>
        </p:spPr>
      </p:pic>
      <p:pic>
        <p:nvPicPr>
          <p:cNvPr id="62" name="Picture 61" descr="A picture containing clipart&#10;&#10;Description automatically generated">
            <a:extLst>
              <a:ext uri="{FF2B5EF4-FFF2-40B4-BE49-F238E27FC236}">
                <a16:creationId xmlns:a16="http://schemas.microsoft.com/office/drawing/2014/main" id="{569B3D08-70E8-4C8B-A239-7C18FB492C6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32" r="8033" b="-1"/>
          <a:stretch/>
        </p:blipFill>
        <p:spPr>
          <a:xfrm>
            <a:off x="450297" y="5075288"/>
            <a:ext cx="1598904" cy="1115388"/>
          </a:xfrm>
          <a:prstGeom prst="rect">
            <a:avLst/>
          </a:prstGeom>
        </p:spPr>
      </p:pic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20DB3758-374A-4C64-B771-E4915100FBBC}"/>
              </a:ext>
            </a:extLst>
          </p:cNvPr>
          <p:cNvCxnSpPr>
            <a:cxnSpLocks/>
          </p:cNvCxnSpPr>
          <p:nvPr/>
        </p:nvCxnSpPr>
        <p:spPr>
          <a:xfrm>
            <a:off x="369948" y="6147690"/>
            <a:ext cx="1590634" cy="0"/>
          </a:xfrm>
          <a:prstGeom prst="line">
            <a:avLst/>
          </a:prstGeom>
          <a:ln w="101600">
            <a:solidFill>
              <a:srgbClr val="A6A1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3BDADCEE-4407-4364-B613-6D0D45453CB7}"/>
              </a:ext>
            </a:extLst>
          </p:cNvPr>
          <p:cNvCxnSpPr>
            <a:cxnSpLocks/>
          </p:cNvCxnSpPr>
          <p:nvPr/>
        </p:nvCxnSpPr>
        <p:spPr>
          <a:xfrm>
            <a:off x="373606" y="5047873"/>
            <a:ext cx="1590634" cy="0"/>
          </a:xfrm>
          <a:prstGeom prst="line">
            <a:avLst/>
          </a:prstGeom>
          <a:ln w="101600">
            <a:solidFill>
              <a:srgbClr val="A6A1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DFF830B1-81C0-4325-8FC2-FD52D52FBC55}"/>
              </a:ext>
            </a:extLst>
          </p:cNvPr>
          <p:cNvCxnSpPr>
            <a:cxnSpLocks/>
          </p:cNvCxnSpPr>
          <p:nvPr/>
        </p:nvCxnSpPr>
        <p:spPr>
          <a:xfrm>
            <a:off x="373606" y="7306064"/>
            <a:ext cx="1590634" cy="0"/>
          </a:xfrm>
          <a:prstGeom prst="line">
            <a:avLst/>
          </a:prstGeom>
          <a:ln w="1016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D695731-30B6-474A-893D-D960E2F39AF9}"/>
              </a:ext>
            </a:extLst>
          </p:cNvPr>
          <p:cNvCxnSpPr>
            <a:cxnSpLocks/>
          </p:cNvCxnSpPr>
          <p:nvPr/>
        </p:nvCxnSpPr>
        <p:spPr>
          <a:xfrm flipV="1">
            <a:off x="2010803" y="1087104"/>
            <a:ext cx="0" cy="5770896"/>
          </a:xfrm>
          <a:prstGeom prst="line">
            <a:avLst/>
          </a:prstGeom>
          <a:ln w="1016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F548664-1D2F-4D9A-B369-B67B42DF36FE}"/>
              </a:ext>
            </a:extLst>
          </p:cNvPr>
          <p:cNvGrpSpPr/>
          <p:nvPr/>
        </p:nvGrpSpPr>
        <p:grpSpPr>
          <a:xfrm>
            <a:off x="2836505" y="1915439"/>
            <a:ext cx="6704184" cy="4114226"/>
            <a:chOff x="3058828" y="2173524"/>
            <a:chExt cx="6704184" cy="4114226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78CC701-5078-4348-9A32-B83E2A399B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46541" y="3489139"/>
              <a:ext cx="796135" cy="800949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02DA3E12-D9BB-4A15-9744-C611BF869C6D}"/>
                </a:ext>
              </a:extLst>
            </p:cNvPr>
            <p:cNvSpPr/>
            <p:nvPr/>
          </p:nvSpPr>
          <p:spPr>
            <a:xfrm>
              <a:off x="3058828" y="4176410"/>
              <a:ext cx="219919" cy="219919"/>
            </a:xfrm>
            <a:prstGeom prst="ellipse">
              <a:avLst/>
            </a:prstGeom>
            <a:solidFill>
              <a:srgbClr val="D34817"/>
            </a:solidFill>
            <a:ln>
              <a:solidFill>
                <a:srgbClr val="D348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6C2B977-02AC-4449-83A4-FBC941E8951D}"/>
                </a:ext>
              </a:extLst>
            </p:cNvPr>
            <p:cNvCxnSpPr>
              <a:cxnSpLocks/>
            </p:cNvCxnSpPr>
            <p:nvPr/>
          </p:nvCxnSpPr>
          <p:spPr>
            <a:xfrm>
              <a:off x="3216787" y="4286369"/>
              <a:ext cx="825889" cy="1098612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1671533-CC45-4962-8612-B5E67A89B576}"/>
                </a:ext>
              </a:extLst>
            </p:cNvPr>
            <p:cNvSpPr txBox="1"/>
            <p:nvPr/>
          </p:nvSpPr>
          <p:spPr>
            <a:xfrm>
              <a:off x="4103339" y="3289084"/>
              <a:ext cx="13426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2-Pointer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4DB671A-7DA3-41ED-BFE8-9D6248D7E777}"/>
                </a:ext>
              </a:extLst>
            </p:cNvPr>
            <p:cNvSpPr txBox="1"/>
            <p:nvPr/>
          </p:nvSpPr>
          <p:spPr>
            <a:xfrm>
              <a:off x="4103339" y="5184926"/>
              <a:ext cx="13426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3-Pointer</a:t>
              </a:r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413CBFC1-9994-4F2E-8E16-909B8A1EE0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56431" y="3023378"/>
              <a:ext cx="1264108" cy="468761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422F4D78-FB71-4EC6-BF5D-59A869210427}"/>
                </a:ext>
              </a:extLst>
            </p:cNvPr>
            <p:cNvSpPr/>
            <p:nvPr/>
          </p:nvSpPr>
          <p:spPr>
            <a:xfrm>
              <a:off x="5268718" y="3378461"/>
              <a:ext cx="219919" cy="219919"/>
            </a:xfrm>
            <a:prstGeom prst="ellipse">
              <a:avLst/>
            </a:prstGeom>
            <a:solidFill>
              <a:srgbClr val="D34817"/>
            </a:solidFill>
            <a:ln>
              <a:solidFill>
                <a:srgbClr val="D348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52001F4-2F86-4D01-9BD5-29AEAC938717}"/>
                </a:ext>
              </a:extLst>
            </p:cNvPr>
            <p:cNvCxnSpPr>
              <a:cxnSpLocks/>
            </p:cNvCxnSpPr>
            <p:nvPr/>
          </p:nvCxnSpPr>
          <p:spPr>
            <a:xfrm>
              <a:off x="5426677" y="3488420"/>
              <a:ext cx="1343088" cy="290151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E8977D7-8468-4C33-835C-E0FF363AF9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26677" y="4819914"/>
              <a:ext cx="1264108" cy="60046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B9C10B08-7054-42C4-B3C9-ADC196FF2772}"/>
                </a:ext>
              </a:extLst>
            </p:cNvPr>
            <p:cNvSpPr/>
            <p:nvPr/>
          </p:nvSpPr>
          <p:spPr>
            <a:xfrm>
              <a:off x="5238964" y="5306700"/>
              <a:ext cx="219919" cy="219919"/>
            </a:xfrm>
            <a:prstGeom prst="ellipse">
              <a:avLst/>
            </a:prstGeom>
            <a:solidFill>
              <a:srgbClr val="D34817"/>
            </a:solidFill>
            <a:ln>
              <a:solidFill>
                <a:srgbClr val="D348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725725E-A872-4FFA-ABE5-06B98D50A87C}"/>
                </a:ext>
              </a:extLst>
            </p:cNvPr>
            <p:cNvCxnSpPr>
              <a:cxnSpLocks/>
            </p:cNvCxnSpPr>
            <p:nvPr/>
          </p:nvCxnSpPr>
          <p:spPr>
            <a:xfrm>
              <a:off x="5396923" y="5416659"/>
              <a:ext cx="1293862" cy="57744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1A14C3F-B322-4D3D-BF67-F50A6F5078AA}"/>
                </a:ext>
              </a:extLst>
            </p:cNvPr>
            <p:cNvSpPr txBox="1"/>
            <p:nvPr/>
          </p:nvSpPr>
          <p:spPr>
            <a:xfrm>
              <a:off x="6690785" y="2729329"/>
              <a:ext cx="103482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Made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B42074CA-2FF4-4C50-AE18-5FFC3288CAED}"/>
                </a:ext>
              </a:extLst>
            </p:cNvPr>
            <p:cNvSpPr txBox="1"/>
            <p:nvPr/>
          </p:nvSpPr>
          <p:spPr>
            <a:xfrm>
              <a:off x="6769341" y="3479373"/>
              <a:ext cx="103482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Missed (L)</a:t>
              </a:r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830EC2F-7F63-4B58-99B4-B02A8D4ABB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04162" y="2471977"/>
              <a:ext cx="1264108" cy="468761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87C8C949-997A-4727-B4FB-704209AA5A7C}"/>
                </a:ext>
              </a:extLst>
            </p:cNvPr>
            <p:cNvSpPr/>
            <p:nvPr/>
          </p:nvSpPr>
          <p:spPr>
            <a:xfrm>
              <a:off x="7616449" y="2827060"/>
              <a:ext cx="219919" cy="219919"/>
            </a:xfrm>
            <a:prstGeom prst="ellipse">
              <a:avLst/>
            </a:prstGeom>
            <a:solidFill>
              <a:srgbClr val="D34817"/>
            </a:solidFill>
            <a:ln>
              <a:solidFill>
                <a:srgbClr val="D348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45F1D084-FB56-49A5-9C98-5E7E03E758C5}"/>
                </a:ext>
              </a:extLst>
            </p:cNvPr>
            <p:cNvCxnSpPr>
              <a:cxnSpLocks/>
            </p:cNvCxnSpPr>
            <p:nvPr/>
          </p:nvCxnSpPr>
          <p:spPr>
            <a:xfrm>
              <a:off x="7774408" y="2937019"/>
              <a:ext cx="1343088" cy="290151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31E02DBC-C7BF-4415-9800-B0C2C7B8EB97}"/>
                </a:ext>
              </a:extLst>
            </p:cNvPr>
            <p:cNvSpPr txBox="1"/>
            <p:nvPr/>
          </p:nvSpPr>
          <p:spPr>
            <a:xfrm>
              <a:off x="8728190" y="2249603"/>
              <a:ext cx="103482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1C7AE9B5-9BE2-4EF8-B688-E49922CB4131}"/>
                </a:ext>
              </a:extLst>
            </p:cNvPr>
            <p:cNvSpPr txBox="1"/>
            <p:nvPr/>
          </p:nvSpPr>
          <p:spPr>
            <a:xfrm>
              <a:off x="8728191" y="3001562"/>
              <a:ext cx="103482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63CD8D94-3B53-4808-881E-700F0C361241}"/>
                </a:ext>
              </a:extLst>
            </p:cNvPr>
            <p:cNvSpPr txBox="1"/>
            <p:nvPr/>
          </p:nvSpPr>
          <p:spPr>
            <a:xfrm>
              <a:off x="6612141" y="4583949"/>
              <a:ext cx="103482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Made</a:t>
              </a:r>
            </a:p>
            <a:p>
              <a:pPr algn="ctr"/>
              <a:r>
                <a:rPr lang="en-US" sz="20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(W)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BD2A33F6-3D92-4FDA-90A9-3677DD1DA217}"/>
                </a:ext>
              </a:extLst>
            </p:cNvPr>
            <p:cNvSpPr txBox="1"/>
            <p:nvPr/>
          </p:nvSpPr>
          <p:spPr>
            <a:xfrm>
              <a:off x="6612140" y="5579864"/>
              <a:ext cx="103482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Missed (L)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55F26D44-732C-4F15-A30C-2753474FD124}"/>
                </a:ext>
              </a:extLst>
            </p:cNvPr>
            <p:cNvSpPr txBox="1"/>
            <p:nvPr/>
          </p:nvSpPr>
          <p:spPr>
            <a:xfrm rot="20031447">
              <a:off x="5586671" y="2726235"/>
              <a:ext cx="13426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0.52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D774A0CC-F4EB-485F-A338-8B9E3473ACF6}"/>
                </a:ext>
              </a:extLst>
            </p:cNvPr>
            <p:cNvSpPr txBox="1"/>
            <p:nvPr/>
          </p:nvSpPr>
          <p:spPr>
            <a:xfrm rot="20031447">
              <a:off x="7996194" y="2173524"/>
              <a:ext cx="13426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0.5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B66AD800-9EE7-405B-9659-B1FEF024E2A4}"/>
                </a:ext>
              </a:extLst>
            </p:cNvPr>
            <p:cNvSpPr txBox="1"/>
            <p:nvPr/>
          </p:nvSpPr>
          <p:spPr>
            <a:xfrm rot="1018734">
              <a:off x="5675754" y="3724478"/>
              <a:ext cx="13426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0.48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AE2B2FA4-8226-4EB5-A1CD-D4861C5B4609}"/>
                </a:ext>
              </a:extLst>
            </p:cNvPr>
            <p:cNvSpPr txBox="1"/>
            <p:nvPr/>
          </p:nvSpPr>
          <p:spPr>
            <a:xfrm rot="825249">
              <a:off x="8069276" y="3151303"/>
              <a:ext cx="13426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0.5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9FF02052-27CF-468D-8016-9C00977FEE93}"/>
                </a:ext>
              </a:extLst>
            </p:cNvPr>
            <p:cNvSpPr txBox="1"/>
            <p:nvPr/>
          </p:nvSpPr>
          <p:spPr>
            <a:xfrm rot="20031447">
              <a:off x="5516366" y="4616397"/>
              <a:ext cx="13426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0.36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6A2B5892-9395-41C1-BF03-B28778B5386B}"/>
                </a:ext>
              </a:extLst>
            </p:cNvPr>
            <p:cNvSpPr txBox="1"/>
            <p:nvPr/>
          </p:nvSpPr>
          <p:spPr>
            <a:xfrm rot="1553301">
              <a:off x="5562936" y="5818242"/>
              <a:ext cx="13426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0.64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76829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55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raphic 22" descr="Basketball">
            <a:extLst>
              <a:ext uri="{FF2B5EF4-FFF2-40B4-BE49-F238E27FC236}">
                <a16:creationId xmlns:a16="http://schemas.microsoft.com/office/drawing/2014/main" id="{E9648A1B-FAF4-4D5E-A5FA-056876B6D1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4683" y="-47773"/>
            <a:ext cx="1236707" cy="12367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DA33D13-A6DD-4F70-90E0-B2FBF766C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6146" y="288168"/>
            <a:ext cx="9746927" cy="77200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Selawik Semibold" panose="020B0702040204020203" pitchFamily="34" charset="0"/>
              </a:rPr>
              <a:t>End-Game Strategy</a:t>
            </a:r>
          </a:p>
        </p:txBody>
      </p:sp>
      <p:pic>
        <p:nvPicPr>
          <p:cNvPr id="27" name="Picture 26" descr="A close up of a toy&#10;&#10;Description automatically generated">
            <a:extLst>
              <a:ext uri="{FF2B5EF4-FFF2-40B4-BE49-F238E27FC236}">
                <a16:creationId xmlns:a16="http://schemas.microsoft.com/office/drawing/2014/main" id="{F3F65D40-5045-4F6A-881C-5E044D5BEB7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05" r="-2" b="25800"/>
          <a:stretch/>
        </p:blipFill>
        <p:spPr>
          <a:xfrm>
            <a:off x="455571" y="3932600"/>
            <a:ext cx="1598646" cy="1115388"/>
          </a:xfrm>
          <a:prstGeom prst="rect">
            <a:avLst/>
          </a:prstGeom>
        </p:spPr>
      </p:pic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52313B83-B214-43D7-AC39-182CE4FA3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1467" y="1275565"/>
            <a:ext cx="8843459" cy="5541546"/>
          </a:xfrm>
        </p:spPr>
        <p:txBody>
          <a:bodyPr>
            <a:normAutofit/>
          </a:bodyPr>
          <a:lstStyle/>
          <a:p>
            <a:pPr>
              <a:buSzPct val="100000"/>
            </a:pPr>
            <a:r>
              <a:rPr lang="en-US" sz="2400" dirty="0">
                <a:solidFill>
                  <a:schemeClr val="bg1"/>
                </a:solidFill>
                <a:latin typeface="Selawik Semibold" panose="020B0702040204020203" pitchFamily="34" charset="0"/>
              </a:rPr>
              <a:t>Decision Making for Situation 1</a:t>
            </a:r>
          </a:p>
          <a:p>
            <a:pPr lvl="1">
              <a:buSzPct val="100000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Probability of W Given Attempting 2-Pointer</a:t>
            </a:r>
          </a:p>
          <a:p>
            <a:pPr lvl="1">
              <a:buSzPct val="100000"/>
            </a:pP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lvl="1">
              <a:buSzPct val="100000"/>
            </a:pP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lvl="1">
              <a:buSzPct val="100000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Probability of W Given Attempting 3-Pointer</a:t>
            </a:r>
          </a:p>
          <a:p>
            <a:pPr lvl="1">
              <a:buSzPct val="100000"/>
            </a:pP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lvl="1">
              <a:buSzPct val="100000"/>
            </a:pP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lvl="1">
              <a:buSzPct val="100000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Reality: Most Coaches Will Go for 2-Pointer Due to Perceived Risk</a:t>
            </a:r>
          </a:p>
          <a:p>
            <a:pPr lvl="1">
              <a:buSzPct val="100000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Conclusion: Always Go For 3-Pointer.</a:t>
            </a:r>
          </a:p>
          <a:p>
            <a:pPr lvl="1">
              <a:buSzPct val="100000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Sensitivity Analysis (Cases Where 2-Point Attempt is Better)</a:t>
            </a:r>
          </a:p>
          <a:p>
            <a:pPr lvl="2">
              <a:buSzPct val="100000"/>
            </a:pPr>
            <a:r>
              <a:rPr lang="en-US" sz="1800" dirty="0">
                <a:solidFill>
                  <a:schemeClr val="bg1"/>
                </a:solidFill>
                <a:latin typeface="Selawik Semibold" panose="020B0702040204020203" pitchFamily="34" charset="0"/>
              </a:rPr>
              <a:t>Suppose We Have a Play That Scores a 2-Pointer 80% of the Time</a:t>
            </a:r>
          </a:p>
          <a:p>
            <a:pPr lvl="2">
              <a:buSzPct val="100000"/>
            </a:pPr>
            <a:endParaRPr lang="en-US" sz="18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lvl="2">
              <a:buSzPct val="100000"/>
            </a:pPr>
            <a:endParaRPr lang="en-US" sz="18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lvl="2">
              <a:buSzPct val="100000"/>
            </a:pPr>
            <a:r>
              <a:rPr lang="en-US" sz="1800" dirty="0">
                <a:solidFill>
                  <a:schemeClr val="bg1"/>
                </a:solidFill>
                <a:latin typeface="Selawik Semibold" panose="020B0702040204020203" pitchFamily="34" charset="0"/>
              </a:rPr>
              <a:t>Suppose Our Best 3-Point Shooter Scores a 3-Pointer 20% of the Time</a:t>
            </a:r>
          </a:p>
          <a:p>
            <a:pPr lvl="2">
              <a:buSzPct val="100000"/>
            </a:pPr>
            <a:endParaRPr lang="en-US" sz="18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lvl="2">
              <a:buSzPct val="100000"/>
            </a:pPr>
            <a:endParaRPr lang="en-US" sz="18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lvl="1">
              <a:buSzPct val="100000"/>
            </a:pP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lvl="1">
              <a:buSzPct val="100000"/>
            </a:pP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164AB91-DF9B-4348-85B4-B3DBD68D0AB8}"/>
              </a:ext>
            </a:extLst>
          </p:cNvPr>
          <p:cNvCxnSpPr>
            <a:cxnSpLocks/>
          </p:cNvCxnSpPr>
          <p:nvPr/>
        </p:nvCxnSpPr>
        <p:spPr>
          <a:xfrm flipV="1">
            <a:off x="1772959" y="1060174"/>
            <a:ext cx="9513948" cy="40889"/>
          </a:xfrm>
          <a:prstGeom prst="line">
            <a:avLst/>
          </a:prstGeom>
          <a:ln w="1016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34" descr="A picture containing clipart&#10;&#10;Description automatically generated">
            <a:extLst>
              <a:ext uri="{FF2B5EF4-FFF2-40B4-BE49-F238E27FC236}">
                <a16:creationId xmlns:a16="http://schemas.microsoft.com/office/drawing/2014/main" id="{36A4252C-FA56-4DE4-B601-DA4D32813E5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32" r="8033" b="-1"/>
          <a:stretch/>
        </p:blipFill>
        <p:spPr>
          <a:xfrm>
            <a:off x="450297" y="2817212"/>
            <a:ext cx="1598904" cy="1115388"/>
          </a:xfrm>
          <a:prstGeom prst="rect">
            <a:avLst/>
          </a:prstGeom>
        </p:spPr>
      </p:pic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AC0AF4A-02B5-401B-9183-DFBDCAC17CB5}"/>
              </a:ext>
            </a:extLst>
          </p:cNvPr>
          <p:cNvCxnSpPr>
            <a:cxnSpLocks/>
          </p:cNvCxnSpPr>
          <p:nvPr/>
        </p:nvCxnSpPr>
        <p:spPr>
          <a:xfrm flipV="1">
            <a:off x="1443448" y="1087104"/>
            <a:ext cx="364940" cy="567192"/>
          </a:xfrm>
          <a:prstGeom prst="line">
            <a:avLst/>
          </a:prstGeom>
          <a:ln w="1016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C0D842E-CE3C-450F-A5A5-11DDD6118C09}"/>
              </a:ext>
            </a:extLst>
          </p:cNvPr>
          <p:cNvCxnSpPr>
            <a:cxnSpLocks/>
          </p:cNvCxnSpPr>
          <p:nvPr/>
        </p:nvCxnSpPr>
        <p:spPr>
          <a:xfrm>
            <a:off x="443317" y="-93164"/>
            <a:ext cx="1000131" cy="1802428"/>
          </a:xfrm>
          <a:prstGeom prst="line">
            <a:avLst/>
          </a:prstGeom>
          <a:ln w="1016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7D3C56B-D516-4628-8E26-F56918CF8C92}"/>
              </a:ext>
            </a:extLst>
          </p:cNvPr>
          <p:cNvCxnSpPr>
            <a:cxnSpLocks/>
          </p:cNvCxnSpPr>
          <p:nvPr/>
        </p:nvCxnSpPr>
        <p:spPr>
          <a:xfrm>
            <a:off x="369948" y="3889614"/>
            <a:ext cx="1590634" cy="0"/>
          </a:xfrm>
          <a:prstGeom prst="line">
            <a:avLst/>
          </a:prstGeom>
          <a:ln w="101600">
            <a:solidFill>
              <a:srgbClr val="A6A1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290DB4C-815D-42FC-98C1-898CC129644A}"/>
              </a:ext>
            </a:extLst>
          </p:cNvPr>
          <p:cNvCxnSpPr>
            <a:cxnSpLocks/>
          </p:cNvCxnSpPr>
          <p:nvPr/>
        </p:nvCxnSpPr>
        <p:spPr>
          <a:xfrm>
            <a:off x="373606" y="2789797"/>
            <a:ext cx="1590634" cy="0"/>
          </a:xfrm>
          <a:prstGeom prst="line">
            <a:avLst/>
          </a:prstGeom>
          <a:ln w="101600">
            <a:solidFill>
              <a:srgbClr val="A6A1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7FDB3DF-10DC-4872-BCF3-6F2CC6DD0F1C}"/>
              </a:ext>
            </a:extLst>
          </p:cNvPr>
          <p:cNvCxnSpPr>
            <a:cxnSpLocks/>
          </p:cNvCxnSpPr>
          <p:nvPr/>
        </p:nvCxnSpPr>
        <p:spPr>
          <a:xfrm>
            <a:off x="373606" y="5047988"/>
            <a:ext cx="1590634" cy="0"/>
          </a:xfrm>
          <a:prstGeom prst="line">
            <a:avLst/>
          </a:prstGeom>
          <a:ln w="1016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Picture 60" descr="A close up of a toy&#10;&#10;Description automatically generated">
            <a:extLst>
              <a:ext uri="{FF2B5EF4-FFF2-40B4-BE49-F238E27FC236}">
                <a16:creationId xmlns:a16="http://schemas.microsoft.com/office/drawing/2014/main" id="{96AE0023-E4EA-4D16-8B99-96DA8E83150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05" r="-2" b="25800"/>
          <a:stretch/>
        </p:blipFill>
        <p:spPr>
          <a:xfrm>
            <a:off x="455571" y="6190676"/>
            <a:ext cx="1598646" cy="1115388"/>
          </a:xfrm>
          <a:prstGeom prst="rect">
            <a:avLst/>
          </a:prstGeom>
        </p:spPr>
      </p:pic>
      <p:pic>
        <p:nvPicPr>
          <p:cNvPr id="62" name="Picture 61" descr="A picture containing clipart&#10;&#10;Description automatically generated">
            <a:extLst>
              <a:ext uri="{FF2B5EF4-FFF2-40B4-BE49-F238E27FC236}">
                <a16:creationId xmlns:a16="http://schemas.microsoft.com/office/drawing/2014/main" id="{569B3D08-70E8-4C8B-A239-7C18FB492C6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32" r="8033" b="-1"/>
          <a:stretch/>
        </p:blipFill>
        <p:spPr>
          <a:xfrm>
            <a:off x="450297" y="5075288"/>
            <a:ext cx="1598904" cy="1115388"/>
          </a:xfrm>
          <a:prstGeom prst="rect">
            <a:avLst/>
          </a:prstGeom>
        </p:spPr>
      </p:pic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20DB3758-374A-4C64-B771-E4915100FBBC}"/>
              </a:ext>
            </a:extLst>
          </p:cNvPr>
          <p:cNvCxnSpPr>
            <a:cxnSpLocks/>
          </p:cNvCxnSpPr>
          <p:nvPr/>
        </p:nvCxnSpPr>
        <p:spPr>
          <a:xfrm>
            <a:off x="369948" y="6147690"/>
            <a:ext cx="1590634" cy="0"/>
          </a:xfrm>
          <a:prstGeom prst="line">
            <a:avLst/>
          </a:prstGeom>
          <a:ln w="101600">
            <a:solidFill>
              <a:srgbClr val="A6A1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3BDADCEE-4407-4364-B613-6D0D45453CB7}"/>
              </a:ext>
            </a:extLst>
          </p:cNvPr>
          <p:cNvCxnSpPr>
            <a:cxnSpLocks/>
          </p:cNvCxnSpPr>
          <p:nvPr/>
        </p:nvCxnSpPr>
        <p:spPr>
          <a:xfrm>
            <a:off x="373606" y="5047873"/>
            <a:ext cx="1590634" cy="0"/>
          </a:xfrm>
          <a:prstGeom prst="line">
            <a:avLst/>
          </a:prstGeom>
          <a:ln w="101600">
            <a:solidFill>
              <a:srgbClr val="A6A1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DFF830B1-81C0-4325-8FC2-FD52D52FBC55}"/>
              </a:ext>
            </a:extLst>
          </p:cNvPr>
          <p:cNvCxnSpPr>
            <a:cxnSpLocks/>
          </p:cNvCxnSpPr>
          <p:nvPr/>
        </p:nvCxnSpPr>
        <p:spPr>
          <a:xfrm>
            <a:off x="373606" y="7306064"/>
            <a:ext cx="1590634" cy="0"/>
          </a:xfrm>
          <a:prstGeom prst="line">
            <a:avLst/>
          </a:prstGeom>
          <a:ln w="1016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D695731-30B6-474A-893D-D960E2F39AF9}"/>
              </a:ext>
            </a:extLst>
          </p:cNvPr>
          <p:cNvCxnSpPr>
            <a:cxnSpLocks/>
          </p:cNvCxnSpPr>
          <p:nvPr/>
        </p:nvCxnSpPr>
        <p:spPr>
          <a:xfrm flipV="1">
            <a:off x="2010803" y="1087104"/>
            <a:ext cx="0" cy="5770896"/>
          </a:xfrm>
          <a:prstGeom prst="line">
            <a:avLst/>
          </a:prstGeom>
          <a:ln w="1016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7CBD7B6-6ADF-4D22-89E6-159871AF49CB}"/>
                  </a:ext>
                </a:extLst>
              </p:cNvPr>
              <p:cNvSpPr txBox="1"/>
              <p:nvPr/>
            </p:nvSpPr>
            <p:spPr>
              <a:xfrm>
                <a:off x="2443449" y="2168121"/>
                <a:ext cx="88434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𝐴𝑡𝑡𝑒𝑚𝑝𝑡</m:t>
                          </m:r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2−</m:t>
                          </m:r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𝑃𝑜𝑖𝑛𝑡𝑒𝑟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=0.52×0.5=0.26</m:t>
                      </m:r>
                    </m:oMath>
                  </m:oMathPara>
                </a14:m>
                <a:endParaRPr lang="en-US" sz="24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7CBD7B6-6ADF-4D22-89E6-159871AF49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3449" y="2168121"/>
                <a:ext cx="8843458" cy="461665"/>
              </a:xfrm>
              <a:prstGeom prst="rect">
                <a:avLst/>
              </a:prstGeom>
              <a:blipFill>
                <a:blip r:embed="rId6"/>
                <a:stretch>
                  <a:fillRect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9E01890-74B6-4270-9252-0B788531DAED}"/>
                  </a:ext>
                </a:extLst>
              </p:cNvPr>
              <p:cNvSpPr txBox="1"/>
              <p:nvPr/>
            </p:nvSpPr>
            <p:spPr>
              <a:xfrm>
                <a:off x="1249749" y="3184204"/>
                <a:ext cx="88434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𝐴𝑡𝑡𝑒𝑚𝑝𝑡</m:t>
                          </m:r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3−</m:t>
                          </m:r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𝑃𝑜𝑖𝑛𝑡𝑒𝑟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=0.36</m:t>
                      </m:r>
                    </m:oMath>
                  </m:oMathPara>
                </a14:m>
                <a:endParaRPr lang="en-US" sz="24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9E01890-74B6-4270-9252-0B788531DA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9749" y="3184204"/>
                <a:ext cx="8843458" cy="461665"/>
              </a:xfrm>
              <a:prstGeom prst="rect">
                <a:avLst/>
              </a:prstGeom>
              <a:blipFill>
                <a:blip r:embed="rId7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C80957EB-E689-4936-BD32-C2B5EA9FA90B}"/>
                  </a:ext>
                </a:extLst>
              </p:cNvPr>
              <p:cNvSpPr txBox="1"/>
              <p:nvPr/>
            </p:nvSpPr>
            <p:spPr>
              <a:xfrm>
                <a:off x="2443449" y="5267345"/>
                <a:ext cx="88434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𝐴𝑡𝑡𝑒𝑚𝑝𝑡</m:t>
                          </m:r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2−</m:t>
                          </m:r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𝑃𝑜𝑖𝑛𝑡𝑒𝑟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=0.8×0.5=0.4</m:t>
                      </m:r>
                    </m:oMath>
                  </m:oMathPara>
                </a14:m>
                <a:endParaRPr lang="en-US" sz="24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C80957EB-E689-4936-BD32-C2B5EA9FA9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3449" y="5267345"/>
                <a:ext cx="8843458" cy="461665"/>
              </a:xfrm>
              <a:prstGeom prst="rect">
                <a:avLst/>
              </a:prstGeom>
              <a:blipFill>
                <a:blip r:embed="rId8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C0021F12-38D9-4153-9945-E44ECA1BA4ED}"/>
                  </a:ext>
                </a:extLst>
              </p:cNvPr>
              <p:cNvSpPr txBox="1"/>
              <p:nvPr/>
            </p:nvSpPr>
            <p:spPr>
              <a:xfrm>
                <a:off x="1277074" y="6161367"/>
                <a:ext cx="88434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𝐴𝑡𝑡𝑒𝑚𝑝𝑡</m:t>
                          </m:r>
                          <m: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3−</m:t>
                          </m:r>
                          <m: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𝑃𝑜𝑖𝑛𝑡𝑒𝑟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=0.20</m:t>
                      </m:r>
                    </m:oMath>
                  </m:oMathPara>
                </a14:m>
                <a:endParaRPr lang="en-US" sz="24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C0021F12-38D9-4153-9945-E44ECA1BA4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7074" y="6161367"/>
                <a:ext cx="8843458" cy="461665"/>
              </a:xfrm>
              <a:prstGeom prst="rect">
                <a:avLst/>
              </a:prstGeom>
              <a:blipFill>
                <a:blip r:embed="rId9"/>
                <a:stretch>
                  <a:fillRect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375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55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raphic 22" descr="Basketball">
            <a:extLst>
              <a:ext uri="{FF2B5EF4-FFF2-40B4-BE49-F238E27FC236}">
                <a16:creationId xmlns:a16="http://schemas.microsoft.com/office/drawing/2014/main" id="{E9648A1B-FAF4-4D5E-A5FA-056876B6D1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4683" y="-47773"/>
            <a:ext cx="1236707" cy="12367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DA33D13-A6DD-4F70-90E0-B2FBF766C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6146" y="288168"/>
            <a:ext cx="9746927" cy="77200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Selawik Semibold" panose="020B0702040204020203" pitchFamily="34" charset="0"/>
              </a:rPr>
              <a:t>End-Game Strategy</a:t>
            </a:r>
          </a:p>
        </p:txBody>
      </p:sp>
      <p:pic>
        <p:nvPicPr>
          <p:cNvPr id="27" name="Picture 26" descr="A close up of a toy&#10;&#10;Description automatically generated">
            <a:extLst>
              <a:ext uri="{FF2B5EF4-FFF2-40B4-BE49-F238E27FC236}">
                <a16:creationId xmlns:a16="http://schemas.microsoft.com/office/drawing/2014/main" id="{F3F65D40-5045-4F6A-881C-5E044D5BEB7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05" r="-2" b="25800"/>
          <a:stretch/>
        </p:blipFill>
        <p:spPr>
          <a:xfrm>
            <a:off x="455571" y="3932600"/>
            <a:ext cx="1598646" cy="1115388"/>
          </a:xfrm>
          <a:prstGeom prst="rect">
            <a:avLst/>
          </a:prstGeom>
        </p:spPr>
      </p:pic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52313B83-B214-43D7-AC39-182CE4FA3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1467" y="1275565"/>
            <a:ext cx="8843459" cy="5541546"/>
          </a:xfrm>
        </p:spPr>
        <p:txBody>
          <a:bodyPr>
            <a:normAutofit/>
          </a:bodyPr>
          <a:lstStyle/>
          <a:p>
            <a:pPr>
              <a:buSzPct val="100000"/>
            </a:pPr>
            <a:r>
              <a:rPr lang="en-US" sz="2400" dirty="0">
                <a:solidFill>
                  <a:schemeClr val="bg1"/>
                </a:solidFill>
                <a:latin typeface="Selawik Semibold" panose="020B0702040204020203" pitchFamily="34" charset="0"/>
              </a:rPr>
              <a:t>Decision Making for Situation 1</a:t>
            </a:r>
          </a:p>
          <a:p>
            <a:pPr lvl="1">
              <a:buSzPct val="100000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Decision Tree 2.0</a:t>
            </a:r>
          </a:p>
          <a:p>
            <a:pPr lvl="2">
              <a:buSzPct val="100000"/>
            </a:pPr>
            <a:endParaRPr lang="en-US" sz="18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lvl="1">
              <a:buSzPct val="100000"/>
            </a:pP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lvl="1">
              <a:buSzPct val="100000"/>
            </a:pP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164AB91-DF9B-4348-85B4-B3DBD68D0AB8}"/>
              </a:ext>
            </a:extLst>
          </p:cNvPr>
          <p:cNvCxnSpPr>
            <a:cxnSpLocks/>
          </p:cNvCxnSpPr>
          <p:nvPr/>
        </p:nvCxnSpPr>
        <p:spPr>
          <a:xfrm flipV="1">
            <a:off x="1772959" y="1060174"/>
            <a:ext cx="9513948" cy="40889"/>
          </a:xfrm>
          <a:prstGeom prst="line">
            <a:avLst/>
          </a:prstGeom>
          <a:ln w="1016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34" descr="A picture containing clipart&#10;&#10;Description automatically generated">
            <a:extLst>
              <a:ext uri="{FF2B5EF4-FFF2-40B4-BE49-F238E27FC236}">
                <a16:creationId xmlns:a16="http://schemas.microsoft.com/office/drawing/2014/main" id="{36A4252C-FA56-4DE4-B601-DA4D32813E5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32" r="8033" b="-1"/>
          <a:stretch/>
        </p:blipFill>
        <p:spPr>
          <a:xfrm>
            <a:off x="450297" y="2817212"/>
            <a:ext cx="1598904" cy="1115388"/>
          </a:xfrm>
          <a:prstGeom prst="rect">
            <a:avLst/>
          </a:prstGeom>
        </p:spPr>
      </p:pic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AC0AF4A-02B5-401B-9183-DFBDCAC17CB5}"/>
              </a:ext>
            </a:extLst>
          </p:cNvPr>
          <p:cNvCxnSpPr>
            <a:cxnSpLocks/>
          </p:cNvCxnSpPr>
          <p:nvPr/>
        </p:nvCxnSpPr>
        <p:spPr>
          <a:xfrm flipV="1">
            <a:off x="1443448" y="1087104"/>
            <a:ext cx="364940" cy="567192"/>
          </a:xfrm>
          <a:prstGeom prst="line">
            <a:avLst/>
          </a:prstGeom>
          <a:ln w="1016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C0D842E-CE3C-450F-A5A5-11DDD6118C09}"/>
              </a:ext>
            </a:extLst>
          </p:cNvPr>
          <p:cNvCxnSpPr>
            <a:cxnSpLocks/>
          </p:cNvCxnSpPr>
          <p:nvPr/>
        </p:nvCxnSpPr>
        <p:spPr>
          <a:xfrm>
            <a:off x="443317" y="-93164"/>
            <a:ext cx="1000131" cy="1802428"/>
          </a:xfrm>
          <a:prstGeom prst="line">
            <a:avLst/>
          </a:prstGeom>
          <a:ln w="1016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7D3C56B-D516-4628-8E26-F56918CF8C92}"/>
              </a:ext>
            </a:extLst>
          </p:cNvPr>
          <p:cNvCxnSpPr>
            <a:cxnSpLocks/>
          </p:cNvCxnSpPr>
          <p:nvPr/>
        </p:nvCxnSpPr>
        <p:spPr>
          <a:xfrm>
            <a:off x="369948" y="3889614"/>
            <a:ext cx="1590634" cy="0"/>
          </a:xfrm>
          <a:prstGeom prst="line">
            <a:avLst/>
          </a:prstGeom>
          <a:ln w="101600">
            <a:solidFill>
              <a:srgbClr val="A6A1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290DB4C-815D-42FC-98C1-898CC129644A}"/>
              </a:ext>
            </a:extLst>
          </p:cNvPr>
          <p:cNvCxnSpPr>
            <a:cxnSpLocks/>
          </p:cNvCxnSpPr>
          <p:nvPr/>
        </p:nvCxnSpPr>
        <p:spPr>
          <a:xfrm>
            <a:off x="373606" y="2789797"/>
            <a:ext cx="1590634" cy="0"/>
          </a:xfrm>
          <a:prstGeom prst="line">
            <a:avLst/>
          </a:prstGeom>
          <a:ln w="101600">
            <a:solidFill>
              <a:srgbClr val="A6A1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7FDB3DF-10DC-4872-BCF3-6F2CC6DD0F1C}"/>
              </a:ext>
            </a:extLst>
          </p:cNvPr>
          <p:cNvCxnSpPr>
            <a:cxnSpLocks/>
          </p:cNvCxnSpPr>
          <p:nvPr/>
        </p:nvCxnSpPr>
        <p:spPr>
          <a:xfrm>
            <a:off x="373606" y="5047988"/>
            <a:ext cx="1590634" cy="0"/>
          </a:xfrm>
          <a:prstGeom prst="line">
            <a:avLst/>
          </a:prstGeom>
          <a:ln w="1016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Picture 60" descr="A close up of a toy&#10;&#10;Description automatically generated">
            <a:extLst>
              <a:ext uri="{FF2B5EF4-FFF2-40B4-BE49-F238E27FC236}">
                <a16:creationId xmlns:a16="http://schemas.microsoft.com/office/drawing/2014/main" id="{96AE0023-E4EA-4D16-8B99-96DA8E83150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05" r="-2" b="25800"/>
          <a:stretch/>
        </p:blipFill>
        <p:spPr>
          <a:xfrm>
            <a:off x="455571" y="6190676"/>
            <a:ext cx="1598646" cy="1115388"/>
          </a:xfrm>
          <a:prstGeom prst="rect">
            <a:avLst/>
          </a:prstGeom>
        </p:spPr>
      </p:pic>
      <p:pic>
        <p:nvPicPr>
          <p:cNvPr id="62" name="Picture 61" descr="A picture containing clipart&#10;&#10;Description automatically generated">
            <a:extLst>
              <a:ext uri="{FF2B5EF4-FFF2-40B4-BE49-F238E27FC236}">
                <a16:creationId xmlns:a16="http://schemas.microsoft.com/office/drawing/2014/main" id="{569B3D08-70E8-4C8B-A239-7C18FB492C6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32" r="8033" b="-1"/>
          <a:stretch/>
        </p:blipFill>
        <p:spPr>
          <a:xfrm>
            <a:off x="450297" y="5075288"/>
            <a:ext cx="1598904" cy="1115388"/>
          </a:xfrm>
          <a:prstGeom prst="rect">
            <a:avLst/>
          </a:prstGeom>
        </p:spPr>
      </p:pic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20DB3758-374A-4C64-B771-E4915100FBBC}"/>
              </a:ext>
            </a:extLst>
          </p:cNvPr>
          <p:cNvCxnSpPr>
            <a:cxnSpLocks/>
          </p:cNvCxnSpPr>
          <p:nvPr/>
        </p:nvCxnSpPr>
        <p:spPr>
          <a:xfrm>
            <a:off x="369948" y="6147690"/>
            <a:ext cx="1590634" cy="0"/>
          </a:xfrm>
          <a:prstGeom prst="line">
            <a:avLst/>
          </a:prstGeom>
          <a:ln w="101600">
            <a:solidFill>
              <a:srgbClr val="A6A1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3BDADCEE-4407-4364-B613-6D0D45453CB7}"/>
              </a:ext>
            </a:extLst>
          </p:cNvPr>
          <p:cNvCxnSpPr>
            <a:cxnSpLocks/>
          </p:cNvCxnSpPr>
          <p:nvPr/>
        </p:nvCxnSpPr>
        <p:spPr>
          <a:xfrm>
            <a:off x="373606" y="5047873"/>
            <a:ext cx="1590634" cy="0"/>
          </a:xfrm>
          <a:prstGeom prst="line">
            <a:avLst/>
          </a:prstGeom>
          <a:ln w="101600">
            <a:solidFill>
              <a:srgbClr val="A6A1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DFF830B1-81C0-4325-8FC2-FD52D52FBC55}"/>
              </a:ext>
            </a:extLst>
          </p:cNvPr>
          <p:cNvCxnSpPr>
            <a:cxnSpLocks/>
          </p:cNvCxnSpPr>
          <p:nvPr/>
        </p:nvCxnSpPr>
        <p:spPr>
          <a:xfrm>
            <a:off x="373606" y="7306064"/>
            <a:ext cx="1590634" cy="0"/>
          </a:xfrm>
          <a:prstGeom prst="line">
            <a:avLst/>
          </a:prstGeom>
          <a:ln w="1016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D695731-30B6-474A-893D-D960E2F39AF9}"/>
              </a:ext>
            </a:extLst>
          </p:cNvPr>
          <p:cNvCxnSpPr>
            <a:cxnSpLocks/>
          </p:cNvCxnSpPr>
          <p:nvPr/>
        </p:nvCxnSpPr>
        <p:spPr>
          <a:xfrm flipV="1">
            <a:off x="2010803" y="1087104"/>
            <a:ext cx="0" cy="5770896"/>
          </a:xfrm>
          <a:prstGeom prst="line">
            <a:avLst/>
          </a:prstGeom>
          <a:ln w="1016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F70C1B4-0FBF-4215-AC10-13E336845959}"/>
              </a:ext>
            </a:extLst>
          </p:cNvPr>
          <p:cNvGrpSpPr/>
          <p:nvPr/>
        </p:nvGrpSpPr>
        <p:grpSpPr>
          <a:xfrm>
            <a:off x="2213219" y="1542927"/>
            <a:ext cx="8834479" cy="5354684"/>
            <a:chOff x="2441138" y="1915439"/>
            <a:chExt cx="8834479" cy="5354684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6FFAA440-8289-48E8-85CE-00212B854AD5}"/>
                </a:ext>
              </a:extLst>
            </p:cNvPr>
            <p:cNvGrpSpPr/>
            <p:nvPr/>
          </p:nvGrpSpPr>
          <p:grpSpPr>
            <a:xfrm>
              <a:off x="3524746" y="1915439"/>
              <a:ext cx="6704184" cy="4114226"/>
              <a:chOff x="3058828" y="2173524"/>
              <a:chExt cx="6704184" cy="4114226"/>
            </a:xfrm>
          </p:grpSpPr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AE89B2C6-5528-410D-81A7-27A74132C45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46541" y="3489139"/>
                <a:ext cx="796135" cy="800949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27B2914A-2F5D-468B-956F-2AEF31A37512}"/>
                  </a:ext>
                </a:extLst>
              </p:cNvPr>
              <p:cNvSpPr/>
              <p:nvPr/>
            </p:nvSpPr>
            <p:spPr>
              <a:xfrm>
                <a:off x="3058828" y="4176410"/>
                <a:ext cx="219919" cy="219919"/>
              </a:xfrm>
              <a:prstGeom prst="ellipse">
                <a:avLst/>
              </a:prstGeom>
              <a:solidFill>
                <a:srgbClr val="D34817"/>
              </a:solidFill>
              <a:ln>
                <a:solidFill>
                  <a:srgbClr val="D3481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D6695414-D480-469A-86AD-4892A16995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16787" y="4286369"/>
                <a:ext cx="825889" cy="1098612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E10128B-AB37-4585-903A-7A95BE7A1E43}"/>
                  </a:ext>
                </a:extLst>
              </p:cNvPr>
              <p:cNvSpPr txBox="1"/>
              <p:nvPr/>
            </p:nvSpPr>
            <p:spPr>
              <a:xfrm>
                <a:off x="4103339" y="3289084"/>
                <a:ext cx="134266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2-Pointer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4522FA2-3267-4F92-B61F-04BF7B070B7D}"/>
                  </a:ext>
                </a:extLst>
              </p:cNvPr>
              <p:cNvSpPr txBox="1"/>
              <p:nvPr/>
            </p:nvSpPr>
            <p:spPr>
              <a:xfrm>
                <a:off x="4103339" y="5184926"/>
                <a:ext cx="134266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3-Pointer</a:t>
                </a:r>
              </a:p>
            </p:txBody>
          </p: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DD4F0586-94C7-4F67-B5BB-481ED34422F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456431" y="3023378"/>
                <a:ext cx="1264108" cy="468761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F48CEBB2-C44F-4F41-8C57-1A7E93E85DA6}"/>
                  </a:ext>
                </a:extLst>
              </p:cNvPr>
              <p:cNvSpPr/>
              <p:nvPr/>
            </p:nvSpPr>
            <p:spPr>
              <a:xfrm>
                <a:off x="5268718" y="3378461"/>
                <a:ext cx="219919" cy="219919"/>
              </a:xfrm>
              <a:prstGeom prst="ellipse">
                <a:avLst/>
              </a:prstGeom>
              <a:solidFill>
                <a:srgbClr val="D34817"/>
              </a:solidFill>
              <a:ln>
                <a:solidFill>
                  <a:srgbClr val="D3481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2A936DA8-AE90-450C-83BC-596E4E0892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677" y="3488420"/>
                <a:ext cx="1343088" cy="290151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BACDA7D1-ACE5-4EEF-85BA-EFAA88A2815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426677" y="4819914"/>
                <a:ext cx="1264108" cy="600464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C90E16EA-AD00-4981-84E3-60549EF72939}"/>
                  </a:ext>
                </a:extLst>
              </p:cNvPr>
              <p:cNvSpPr/>
              <p:nvPr/>
            </p:nvSpPr>
            <p:spPr>
              <a:xfrm>
                <a:off x="5238964" y="5306700"/>
                <a:ext cx="219919" cy="219919"/>
              </a:xfrm>
              <a:prstGeom prst="ellipse">
                <a:avLst/>
              </a:prstGeom>
              <a:solidFill>
                <a:srgbClr val="D34817"/>
              </a:solidFill>
              <a:ln>
                <a:solidFill>
                  <a:srgbClr val="D3481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C550E726-1742-48CD-83C3-FB1129E333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96923" y="5416659"/>
                <a:ext cx="1293862" cy="577443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E11F922-E07A-4C91-A8ED-AA87DA0146CE}"/>
                  </a:ext>
                </a:extLst>
              </p:cNvPr>
              <p:cNvSpPr txBox="1"/>
              <p:nvPr/>
            </p:nvSpPr>
            <p:spPr>
              <a:xfrm>
                <a:off x="6690785" y="2729329"/>
                <a:ext cx="103482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Made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A6C08CB-C1B2-4C53-93D1-5AA5D1DB8270}"/>
                  </a:ext>
                </a:extLst>
              </p:cNvPr>
              <p:cNvSpPr txBox="1"/>
              <p:nvPr/>
            </p:nvSpPr>
            <p:spPr>
              <a:xfrm>
                <a:off x="6769341" y="3479373"/>
                <a:ext cx="103482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Missed (L)</a:t>
                </a:r>
              </a:p>
            </p:txBody>
          </p: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C4905EF5-C240-49CA-82DC-609F08D832D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804162" y="2471977"/>
                <a:ext cx="1264108" cy="468761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67775636-6A0A-4F43-B818-BE311C7B6410}"/>
                  </a:ext>
                </a:extLst>
              </p:cNvPr>
              <p:cNvSpPr/>
              <p:nvPr/>
            </p:nvSpPr>
            <p:spPr>
              <a:xfrm>
                <a:off x="7616449" y="2827060"/>
                <a:ext cx="219919" cy="219919"/>
              </a:xfrm>
              <a:prstGeom prst="ellipse">
                <a:avLst/>
              </a:prstGeom>
              <a:solidFill>
                <a:srgbClr val="D34817"/>
              </a:solidFill>
              <a:ln>
                <a:solidFill>
                  <a:srgbClr val="D3481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BD4A937F-652F-4978-9046-90F1A67BA9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74408" y="2937019"/>
                <a:ext cx="1343088" cy="290151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84A94DEA-6D6F-43F5-9119-BAB266C9E6B9}"/>
                  </a:ext>
                </a:extLst>
              </p:cNvPr>
              <p:cNvSpPr txBox="1"/>
              <p:nvPr/>
            </p:nvSpPr>
            <p:spPr>
              <a:xfrm>
                <a:off x="8728190" y="2249603"/>
                <a:ext cx="103482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0E6B27D-1278-45C0-803B-821BAD07AEDC}"/>
                  </a:ext>
                </a:extLst>
              </p:cNvPr>
              <p:cNvSpPr txBox="1"/>
              <p:nvPr/>
            </p:nvSpPr>
            <p:spPr>
              <a:xfrm>
                <a:off x="8728191" y="3001562"/>
                <a:ext cx="103482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L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63932F7-FCE0-4568-9DC5-78B4ABB1AB5A}"/>
                  </a:ext>
                </a:extLst>
              </p:cNvPr>
              <p:cNvSpPr txBox="1"/>
              <p:nvPr/>
            </p:nvSpPr>
            <p:spPr>
              <a:xfrm>
                <a:off x="6612141" y="4583949"/>
                <a:ext cx="103482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Made</a:t>
                </a:r>
              </a:p>
              <a:p>
                <a:pPr algn="ctr"/>
                <a:r>
                  <a:rPr lang="en-US" sz="2000" dirty="0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(W)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25E1944E-105C-4FA8-ABA5-8E387711B6FF}"/>
                  </a:ext>
                </a:extLst>
              </p:cNvPr>
              <p:cNvSpPr txBox="1"/>
              <p:nvPr/>
            </p:nvSpPr>
            <p:spPr>
              <a:xfrm>
                <a:off x="6612140" y="5579864"/>
                <a:ext cx="103482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Missed (L)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595AA56-7545-4FBC-AEE7-77B51EDC44B0}"/>
                  </a:ext>
                </a:extLst>
              </p:cNvPr>
              <p:cNvSpPr txBox="1"/>
              <p:nvPr/>
            </p:nvSpPr>
            <p:spPr>
              <a:xfrm rot="20031447">
                <a:off x="5586671" y="2726235"/>
                <a:ext cx="134266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0.52</a:t>
                </a: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926B50F-501D-44A7-A92C-E2F2BD736081}"/>
                  </a:ext>
                </a:extLst>
              </p:cNvPr>
              <p:cNvSpPr txBox="1"/>
              <p:nvPr/>
            </p:nvSpPr>
            <p:spPr>
              <a:xfrm rot="20031447">
                <a:off x="7996194" y="2173524"/>
                <a:ext cx="134266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x</a:t>
                </a: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5CB01891-3912-491B-A603-AD233C8CE447}"/>
                  </a:ext>
                </a:extLst>
              </p:cNvPr>
              <p:cNvSpPr txBox="1"/>
              <p:nvPr/>
            </p:nvSpPr>
            <p:spPr>
              <a:xfrm rot="1018734">
                <a:off x="5675754" y="3724478"/>
                <a:ext cx="134266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0.48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CE9C008F-8AE1-4CC9-84D7-6555B392C01D}"/>
                  </a:ext>
                </a:extLst>
              </p:cNvPr>
              <p:cNvSpPr txBox="1"/>
              <p:nvPr/>
            </p:nvSpPr>
            <p:spPr>
              <a:xfrm rot="825249">
                <a:off x="8069276" y="3151303"/>
                <a:ext cx="134266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1-x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ACFD2712-62E4-4682-B6E9-B52DA88922A8}"/>
                  </a:ext>
                </a:extLst>
              </p:cNvPr>
              <p:cNvSpPr txBox="1"/>
              <p:nvPr/>
            </p:nvSpPr>
            <p:spPr>
              <a:xfrm rot="20031447">
                <a:off x="5516366" y="4616397"/>
                <a:ext cx="134266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0.36</a:t>
                </a: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364D2ACF-A839-4143-B2E5-8CF5133FB93F}"/>
                  </a:ext>
                </a:extLst>
              </p:cNvPr>
              <p:cNvSpPr txBox="1"/>
              <p:nvPr/>
            </p:nvSpPr>
            <p:spPr>
              <a:xfrm rot="1553301">
                <a:off x="5562936" y="5818242"/>
                <a:ext cx="134266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0.64</a:t>
                </a:r>
              </a:p>
            </p:txBody>
          </p:sp>
        </p:grp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75EFB2CE-AC66-4C55-930E-49CFE86BDF36}"/>
                </a:ext>
              </a:extLst>
            </p:cNvPr>
            <p:cNvCxnSpPr>
              <a:cxnSpLocks/>
            </p:cNvCxnSpPr>
            <p:nvPr/>
          </p:nvCxnSpPr>
          <p:spPr>
            <a:xfrm>
              <a:off x="3612476" y="4024554"/>
              <a:ext cx="1017324" cy="2387821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CFEE589-E043-40C8-BB15-955A1706786B}"/>
                </a:ext>
              </a:extLst>
            </p:cNvPr>
            <p:cNvSpPr txBox="1"/>
            <p:nvPr/>
          </p:nvSpPr>
          <p:spPr>
            <a:xfrm rot="18926726">
              <a:off x="3545293" y="2998616"/>
              <a:ext cx="13426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185C8F96-FEE2-49FB-9CA6-E60EDA5FA2D9}"/>
                </a:ext>
              </a:extLst>
            </p:cNvPr>
            <p:cNvSpPr txBox="1"/>
            <p:nvPr/>
          </p:nvSpPr>
          <p:spPr>
            <a:xfrm rot="3139521">
              <a:off x="3837703" y="4591801"/>
              <a:ext cx="13426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b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8F46EE3D-BE98-4EE2-8FC7-E2E0F39F6894}"/>
                </a:ext>
              </a:extLst>
            </p:cNvPr>
            <p:cNvSpPr txBox="1"/>
            <p:nvPr/>
          </p:nvSpPr>
          <p:spPr>
            <a:xfrm rot="4122281">
              <a:off x="3390687" y="5419928"/>
              <a:ext cx="13426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1-a-b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3C7B3908-8AEA-4EB8-A2A0-B8DBE20A2476}"/>
                </a:ext>
              </a:extLst>
            </p:cNvPr>
            <p:cNvSpPr txBox="1"/>
            <p:nvPr/>
          </p:nvSpPr>
          <p:spPr>
            <a:xfrm>
              <a:off x="2441138" y="3709699"/>
              <a:ext cx="134266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Play </a:t>
              </a:r>
            </a:p>
            <a:p>
              <a:pPr algn="ctr"/>
              <a:r>
                <a:rPr lang="en-US" sz="20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Called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FA6453BB-6E93-4A1F-93CF-43534132AD8A}"/>
                </a:ext>
              </a:extLst>
            </p:cNvPr>
            <p:cNvSpPr txBox="1"/>
            <p:nvPr/>
          </p:nvSpPr>
          <p:spPr>
            <a:xfrm>
              <a:off x="4666212" y="6212046"/>
              <a:ext cx="13426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Neither</a:t>
              </a:r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7CC3C92-A7AF-4CFF-949C-367DAA79A3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56466" y="5989383"/>
              <a:ext cx="2764691" cy="489845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98DC61B8-CE60-4BDA-B7DF-8AD02AEE7434}"/>
                </a:ext>
              </a:extLst>
            </p:cNvPr>
            <p:cNvSpPr/>
            <p:nvPr/>
          </p:nvSpPr>
          <p:spPr>
            <a:xfrm>
              <a:off x="5626601" y="6331305"/>
              <a:ext cx="219919" cy="219919"/>
            </a:xfrm>
            <a:prstGeom prst="ellipse">
              <a:avLst/>
            </a:prstGeom>
            <a:solidFill>
              <a:srgbClr val="D34817"/>
            </a:solidFill>
            <a:ln>
              <a:solidFill>
                <a:srgbClr val="D348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6FA8E936-8905-4DE0-8092-B3F243759635}"/>
                </a:ext>
              </a:extLst>
            </p:cNvPr>
            <p:cNvCxnSpPr>
              <a:cxnSpLocks/>
            </p:cNvCxnSpPr>
            <p:nvPr/>
          </p:nvCxnSpPr>
          <p:spPr>
            <a:xfrm>
              <a:off x="5750647" y="6486674"/>
              <a:ext cx="2852974" cy="167056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B12954CE-FB87-41E6-9F3B-E9916498BAD9}"/>
                </a:ext>
              </a:extLst>
            </p:cNvPr>
            <p:cNvSpPr txBox="1"/>
            <p:nvPr/>
          </p:nvSpPr>
          <p:spPr>
            <a:xfrm>
              <a:off x="8238086" y="5760212"/>
              <a:ext cx="103482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</a:t>
              </a:r>
            </a:p>
          </p:txBody>
        </p: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4D8515F5-8ED0-44C9-BE5A-53AD1D05D9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79389" y="6352567"/>
              <a:ext cx="2866975" cy="104402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CFDAB963-8A86-446A-BCB7-10BFC08C1FB6}"/>
                </a:ext>
              </a:extLst>
            </p:cNvPr>
            <p:cNvSpPr txBox="1"/>
            <p:nvPr/>
          </p:nvSpPr>
          <p:spPr>
            <a:xfrm>
              <a:off x="8298749" y="6123238"/>
              <a:ext cx="103482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B5796A07-B040-4825-919F-4F7666F8A9DF}"/>
                </a:ext>
              </a:extLst>
            </p:cNvPr>
            <p:cNvSpPr txBox="1"/>
            <p:nvPr/>
          </p:nvSpPr>
          <p:spPr>
            <a:xfrm>
              <a:off x="8321265" y="6449159"/>
              <a:ext cx="103482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Tie</a:t>
              </a:r>
            </a:p>
          </p:txBody>
        </p: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09BF7005-B44F-4CD1-ABA0-EA6D88ADB2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43714" y="6190687"/>
              <a:ext cx="1264108" cy="468761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97306E69-8885-4E3F-94C1-4DBCE16D635A}"/>
                </a:ext>
              </a:extLst>
            </p:cNvPr>
            <p:cNvSpPr/>
            <p:nvPr/>
          </p:nvSpPr>
          <p:spPr>
            <a:xfrm>
              <a:off x="9056001" y="6545770"/>
              <a:ext cx="219919" cy="219919"/>
            </a:xfrm>
            <a:prstGeom prst="ellipse">
              <a:avLst/>
            </a:prstGeom>
            <a:solidFill>
              <a:srgbClr val="D34817"/>
            </a:solidFill>
            <a:ln>
              <a:solidFill>
                <a:srgbClr val="D348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C449BB7F-637C-418C-BFC7-51E91C98E4CA}"/>
                </a:ext>
              </a:extLst>
            </p:cNvPr>
            <p:cNvCxnSpPr>
              <a:cxnSpLocks/>
            </p:cNvCxnSpPr>
            <p:nvPr/>
          </p:nvCxnSpPr>
          <p:spPr>
            <a:xfrm>
              <a:off x="9213960" y="6655729"/>
              <a:ext cx="1343088" cy="290151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466CBBF5-8FBB-43CA-8C76-8387D27D6E4C}"/>
                </a:ext>
              </a:extLst>
            </p:cNvPr>
            <p:cNvSpPr txBox="1"/>
            <p:nvPr/>
          </p:nvSpPr>
          <p:spPr>
            <a:xfrm rot="20031447">
              <a:off x="9435746" y="5892234"/>
              <a:ext cx="13426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1D749CB0-0003-4C21-AEF7-AA8ECA713D88}"/>
                </a:ext>
              </a:extLst>
            </p:cNvPr>
            <p:cNvSpPr txBox="1"/>
            <p:nvPr/>
          </p:nvSpPr>
          <p:spPr>
            <a:xfrm rot="825249">
              <a:off x="9508828" y="6870013"/>
              <a:ext cx="13426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1-x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DEF781F2-5075-4AD3-89F7-764DB3663069}"/>
                </a:ext>
              </a:extLst>
            </p:cNvPr>
            <p:cNvSpPr txBox="1"/>
            <p:nvPr/>
          </p:nvSpPr>
          <p:spPr>
            <a:xfrm>
              <a:off x="10240795" y="5980559"/>
              <a:ext cx="103482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094443BC-D3B2-426F-B323-8311DE74F031}"/>
                </a:ext>
              </a:extLst>
            </p:cNvPr>
            <p:cNvSpPr txBox="1"/>
            <p:nvPr/>
          </p:nvSpPr>
          <p:spPr>
            <a:xfrm>
              <a:off x="10240796" y="6732518"/>
              <a:ext cx="103482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39873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55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raphic 22" descr="Basketball">
            <a:extLst>
              <a:ext uri="{FF2B5EF4-FFF2-40B4-BE49-F238E27FC236}">
                <a16:creationId xmlns:a16="http://schemas.microsoft.com/office/drawing/2014/main" id="{E9648A1B-FAF4-4D5E-A5FA-056876B6D1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4683" y="-47773"/>
            <a:ext cx="1236707" cy="12367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DA33D13-A6DD-4F70-90E0-B2FBF766C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6146" y="288168"/>
            <a:ext cx="9746927" cy="77200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Selawik Semibold" panose="020B0702040204020203" pitchFamily="34" charset="0"/>
              </a:rPr>
              <a:t>End-Game Strategy</a:t>
            </a:r>
          </a:p>
        </p:txBody>
      </p:sp>
      <p:pic>
        <p:nvPicPr>
          <p:cNvPr id="27" name="Picture 26" descr="A close up of a toy&#10;&#10;Description automatically generated">
            <a:extLst>
              <a:ext uri="{FF2B5EF4-FFF2-40B4-BE49-F238E27FC236}">
                <a16:creationId xmlns:a16="http://schemas.microsoft.com/office/drawing/2014/main" id="{F3F65D40-5045-4F6A-881C-5E044D5BEB7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05" r="-2" b="25800"/>
          <a:stretch/>
        </p:blipFill>
        <p:spPr>
          <a:xfrm>
            <a:off x="455571" y="3932600"/>
            <a:ext cx="1598646" cy="1115388"/>
          </a:xfrm>
          <a:prstGeom prst="rect">
            <a:avLst/>
          </a:prstGeom>
        </p:spPr>
      </p:pic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52313B83-B214-43D7-AC39-182CE4FA3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1467" y="1275565"/>
            <a:ext cx="9270603" cy="5541546"/>
          </a:xfrm>
        </p:spPr>
        <p:txBody>
          <a:bodyPr>
            <a:normAutofit/>
          </a:bodyPr>
          <a:lstStyle/>
          <a:p>
            <a:pPr>
              <a:buSzPct val="100000"/>
            </a:pPr>
            <a:r>
              <a:rPr lang="en-US" sz="2400" dirty="0">
                <a:solidFill>
                  <a:schemeClr val="bg1"/>
                </a:solidFill>
                <a:latin typeface="Selawik Semibold" panose="020B0702040204020203" pitchFamily="34" charset="0"/>
              </a:rPr>
              <a:t>Decision Making for Situation 2</a:t>
            </a:r>
          </a:p>
          <a:p>
            <a:pPr lvl="1">
              <a:buSzPct val="100000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Two Researchers Concluded Defensive Team Should Foul</a:t>
            </a:r>
          </a:p>
          <a:p>
            <a:pPr lvl="2">
              <a:buSzPct val="100000"/>
            </a:pPr>
            <a:r>
              <a:rPr lang="en-US" sz="1800" dirty="0">
                <a:solidFill>
                  <a:schemeClr val="bg1"/>
                </a:solidFill>
                <a:latin typeface="Selawik Semibold" panose="020B0702040204020203" pitchFamily="34" charset="0"/>
              </a:rPr>
              <a:t>Adrian Lawhorn (Contributor to Hoops Habit)</a:t>
            </a:r>
          </a:p>
          <a:p>
            <a:pPr lvl="2">
              <a:buSzPct val="100000"/>
            </a:pPr>
            <a:r>
              <a:rPr lang="en-US" sz="1800" dirty="0">
                <a:solidFill>
                  <a:schemeClr val="bg1"/>
                </a:solidFill>
                <a:latin typeface="Selawik Semibold" panose="020B0702040204020203" pitchFamily="34" charset="0"/>
              </a:rPr>
              <a:t>David </a:t>
            </a:r>
            <a:r>
              <a:rPr lang="en-US" sz="1800" dirty="0" err="1">
                <a:solidFill>
                  <a:schemeClr val="bg1"/>
                </a:solidFill>
                <a:latin typeface="Selawik Semibold" panose="020B0702040204020203" pitchFamily="34" charset="0"/>
              </a:rPr>
              <a:t>Annis</a:t>
            </a:r>
            <a:r>
              <a:rPr lang="en-US" sz="1800" dirty="0">
                <a:solidFill>
                  <a:schemeClr val="bg1"/>
                </a:solidFill>
                <a:latin typeface="Selawik Semibold" panose="020B0702040204020203" pitchFamily="34" charset="0"/>
              </a:rPr>
              <a:t> (Statistical Consultant in Charlotte)</a:t>
            </a:r>
          </a:p>
          <a:p>
            <a:pPr lvl="1">
              <a:buSzPct val="100000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Based on </a:t>
            </a:r>
            <a:r>
              <a:rPr lang="en-US" sz="2000" dirty="0" err="1">
                <a:solidFill>
                  <a:schemeClr val="bg1"/>
                </a:solidFill>
                <a:latin typeface="Selawik Semibold" panose="020B0702040204020203" pitchFamily="34" charset="0"/>
              </a:rPr>
              <a:t>Annis</a:t>
            </a: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 Lawhorn</a:t>
            </a:r>
          </a:p>
          <a:p>
            <a:pPr lvl="2">
              <a:buSzPct val="100000"/>
            </a:pPr>
            <a:r>
              <a:rPr lang="en-US" sz="1800" dirty="0">
                <a:solidFill>
                  <a:schemeClr val="bg1"/>
                </a:solidFill>
                <a:latin typeface="Selawik Semibold" panose="020B0702040204020203" pitchFamily="34" charset="0"/>
              </a:rPr>
              <a:t>Assume Last Possession</a:t>
            </a:r>
          </a:p>
          <a:p>
            <a:pPr lvl="2">
              <a:buSzPct val="100000"/>
            </a:pPr>
            <a:r>
              <a:rPr lang="en-US" sz="1800" dirty="0">
                <a:solidFill>
                  <a:schemeClr val="bg1"/>
                </a:solidFill>
                <a:latin typeface="Selawik Semibold" panose="020B0702040204020203" pitchFamily="34" charset="0"/>
              </a:rPr>
              <a:t>Within 11 Seconds, Offensive Teams Scored 3-Pointers 20% of the Time</a:t>
            </a:r>
          </a:p>
          <a:p>
            <a:pPr lvl="2">
              <a:buSzPct val="100000"/>
            </a:pPr>
            <a:endParaRPr lang="en-US" sz="18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lvl="2">
              <a:buSzPct val="100000"/>
            </a:pPr>
            <a:endParaRPr lang="en-US" sz="18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lvl="2">
              <a:buSzPct val="100000"/>
            </a:pPr>
            <a:r>
              <a:rPr lang="en-US" sz="1800" dirty="0">
                <a:solidFill>
                  <a:schemeClr val="bg1"/>
                </a:solidFill>
                <a:latin typeface="Selawik Semibold" panose="020B0702040204020203" pitchFamily="34" charset="0"/>
              </a:rPr>
              <a:t>If Defensive Team Fouls, Offensive Team Must Intentionally  Miss a Free Throw</a:t>
            </a:r>
          </a:p>
          <a:p>
            <a:pPr lvl="2">
              <a:buSzPct val="100000"/>
            </a:pPr>
            <a:r>
              <a:rPr lang="en-US" sz="1800" dirty="0">
                <a:solidFill>
                  <a:schemeClr val="bg1"/>
                </a:solidFill>
                <a:latin typeface="Selawik Semibold" panose="020B0702040204020203" pitchFamily="34" charset="0"/>
              </a:rPr>
              <a:t>Probability Other Team Wins Off 2 Pointer</a:t>
            </a:r>
          </a:p>
          <a:p>
            <a:pPr lvl="2">
              <a:buSzPct val="100000"/>
            </a:pPr>
            <a:endParaRPr lang="en-US" sz="18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lvl="2">
              <a:buSzPct val="100000"/>
            </a:pPr>
            <a:endParaRPr lang="en-US" sz="18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lvl="2">
              <a:buSzPct val="100000"/>
            </a:pPr>
            <a:endParaRPr lang="en-US" sz="18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lvl="2">
              <a:buSzPct val="100000"/>
            </a:pPr>
            <a:r>
              <a:rPr lang="en-US" sz="1800" dirty="0">
                <a:solidFill>
                  <a:schemeClr val="bg1"/>
                </a:solidFill>
                <a:latin typeface="Selawik Semibold" panose="020B0702040204020203" pitchFamily="34" charset="0"/>
              </a:rPr>
              <a:t>Probability Other Team Wins Off 3 Pointer</a:t>
            </a:r>
          </a:p>
          <a:p>
            <a:pPr lvl="2">
              <a:buSzPct val="100000"/>
            </a:pPr>
            <a:endParaRPr lang="en-US" sz="18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lvl="2">
              <a:buSzPct val="100000"/>
            </a:pPr>
            <a:endParaRPr lang="en-US" sz="18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lvl="2">
              <a:buSzPct val="100000"/>
            </a:pPr>
            <a:endParaRPr lang="en-US" sz="18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548640" lvl="2" indent="0">
              <a:buSzPct val="100000"/>
              <a:buNone/>
            </a:pPr>
            <a:endParaRPr lang="en-US" sz="18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lvl="2">
              <a:buSzPct val="100000"/>
            </a:pPr>
            <a:endParaRPr lang="en-US" sz="1800" dirty="0">
              <a:solidFill>
                <a:schemeClr val="bg1"/>
              </a:solidFill>
              <a:latin typeface="Selawik Semibold" panose="020B0702040204020203" pitchFamily="34" charset="0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164AB91-DF9B-4348-85B4-B3DBD68D0AB8}"/>
              </a:ext>
            </a:extLst>
          </p:cNvPr>
          <p:cNvCxnSpPr>
            <a:cxnSpLocks/>
          </p:cNvCxnSpPr>
          <p:nvPr/>
        </p:nvCxnSpPr>
        <p:spPr>
          <a:xfrm flipV="1">
            <a:off x="1808388" y="1087104"/>
            <a:ext cx="9513948" cy="40889"/>
          </a:xfrm>
          <a:prstGeom prst="line">
            <a:avLst/>
          </a:prstGeom>
          <a:ln w="1016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34" descr="A picture containing clipart&#10;&#10;Description automatically generated">
            <a:extLst>
              <a:ext uri="{FF2B5EF4-FFF2-40B4-BE49-F238E27FC236}">
                <a16:creationId xmlns:a16="http://schemas.microsoft.com/office/drawing/2014/main" id="{36A4252C-FA56-4DE4-B601-DA4D32813E5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32" r="8033" b="-1"/>
          <a:stretch/>
        </p:blipFill>
        <p:spPr>
          <a:xfrm>
            <a:off x="450297" y="2817212"/>
            <a:ext cx="1598904" cy="1115388"/>
          </a:xfrm>
          <a:prstGeom prst="rect">
            <a:avLst/>
          </a:prstGeom>
        </p:spPr>
      </p:pic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AC0AF4A-02B5-401B-9183-DFBDCAC17CB5}"/>
              </a:ext>
            </a:extLst>
          </p:cNvPr>
          <p:cNvCxnSpPr>
            <a:cxnSpLocks/>
          </p:cNvCxnSpPr>
          <p:nvPr/>
        </p:nvCxnSpPr>
        <p:spPr>
          <a:xfrm flipV="1">
            <a:off x="1443448" y="1087104"/>
            <a:ext cx="364940" cy="567192"/>
          </a:xfrm>
          <a:prstGeom prst="line">
            <a:avLst/>
          </a:prstGeom>
          <a:ln w="1016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C0D842E-CE3C-450F-A5A5-11DDD6118C09}"/>
              </a:ext>
            </a:extLst>
          </p:cNvPr>
          <p:cNvCxnSpPr>
            <a:cxnSpLocks/>
          </p:cNvCxnSpPr>
          <p:nvPr/>
        </p:nvCxnSpPr>
        <p:spPr>
          <a:xfrm>
            <a:off x="443317" y="-93164"/>
            <a:ext cx="1000131" cy="1802428"/>
          </a:xfrm>
          <a:prstGeom prst="line">
            <a:avLst/>
          </a:prstGeom>
          <a:ln w="1016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7D3C56B-D516-4628-8E26-F56918CF8C92}"/>
              </a:ext>
            </a:extLst>
          </p:cNvPr>
          <p:cNvCxnSpPr>
            <a:cxnSpLocks/>
          </p:cNvCxnSpPr>
          <p:nvPr/>
        </p:nvCxnSpPr>
        <p:spPr>
          <a:xfrm>
            <a:off x="369948" y="3889614"/>
            <a:ext cx="1590634" cy="0"/>
          </a:xfrm>
          <a:prstGeom prst="line">
            <a:avLst/>
          </a:prstGeom>
          <a:ln w="101600">
            <a:solidFill>
              <a:srgbClr val="A6A1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290DB4C-815D-42FC-98C1-898CC129644A}"/>
              </a:ext>
            </a:extLst>
          </p:cNvPr>
          <p:cNvCxnSpPr>
            <a:cxnSpLocks/>
          </p:cNvCxnSpPr>
          <p:nvPr/>
        </p:nvCxnSpPr>
        <p:spPr>
          <a:xfrm>
            <a:off x="373606" y="2789797"/>
            <a:ext cx="1590634" cy="0"/>
          </a:xfrm>
          <a:prstGeom prst="line">
            <a:avLst/>
          </a:prstGeom>
          <a:ln w="101600">
            <a:solidFill>
              <a:srgbClr val="A6A1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7FDB3DF-10DC-4872-BCF3-6F2CC6DD0F1C}"/>
              </a:ext>
            </a:extLst>
          </p:cNvPr>
          <p:cNvCxnSpPr>
            <a:cxnSpLocks/>
          </p:cNvCxnSpPr>
          <p:nvPr/>
        </p:nvCxnSpPr>
        <p:spPr>
          <a:xfrm>
            <a:off x="373606" y="5047988"/>
            <a:ext cx="1590634" cy="0"/>
          </a:xfrm>
          <a:prstGeom prst="line">
            <a:avLst/>
          </a:prstGeom>
          <a:ln w="1016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Picture 60" descr="A close up of a toy&#10;&#10;Description automatically generated">
            <a:extLst>
              <a:ext uri="{FF2B5EF4-FFF2-40B4-BE49-F238E27FC236}">
                <a16:creationId xmlns:a16="http://schemas.microsoft.com/office/drawing/2014/main" id="{96AE0023-E4EA-4D16-8B99-96DA8E83150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05" r="-2" b="25800"/>
          <a:stretch/>
        </p:blipFill>
        <p:spPr>
          <a:xfrm>
            <a:off x="455571" y="6190676"/>
            <a:ext cx="1598646" cy="1115388"/>
          </a:xfrm>
          <a:prstGeom prst="rect">
            <a:avLst/>
          </a:prstGeom>
        </p:spPr>
      </p:pic>
      <p:pic>
        <p:nvPicPr>
          <p:cNvPr id="62" name="Picture 61" descr="A picture containing clipart&#10;&#10;Description automatically generated">
            <a:extLst>
              <a:ext uri="{FF2B5EF4-FFF2-40B4-BE49-F238E27FC236}">
                <a16:creationId xmlns:a16="http://schemas.microsoft.com/office/drawing/2014/main" id="{569B3D08-70E8-4C8B-A239-7C18FB492C6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32" r="8033" b="-1"/>
          <a:stretch/>
        </p:blipFill>
        <p:spPr>
          <a:xfrm>
            <a:off x="450297" y="5075288"/>
            <a:ext cx="1598904" cy="1115388"/>
          </a:xfrm>
          <a:prstGeom prst="rect">
            <a:avLst/>
          </a:prstGeom>
        </p:spPr>
      </p:pic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20DB3758-374A-4C64-B771-E4915100FBBC}"/>
              </a:ext>
            </a:extLst>
          </p:cNvPr>
          <p:cNvCxnSpPr>
            <a:cxnSpLocks/>
          </p:cNvCxnSpPr>
          <p:nvPr/>
        </p:nvCxnSpPr>
        <p:spPr>
          <a:xfrm>
            <a:off x="369948" y="6147690"/>
            <a:ext cx="1590634" cy="0"/>
          </a:xfrm>
          <a:prstGeom prst="line">
            <a:avLst/>
          </a:prstGeom>
          <a:ln w="101600">
            <a:solidFill>
              <a:srgbClr val="A6A1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3BDADCEE-4407-4364-B613-6D0D45453CB7}"/>
              </a:ext>
            </a:extLst>
          </p:cNvPr>
          <p:cNvCxnSpPr>
            <a:cxnSpLocks/>
          </p:cNvCxnSpPr>
          <p:nvPr/>
        </p:nvCxnSpPr>
        <p:spPr>
          <a:xfrm>
            <a:off x="373606" y="5047873"/>
            <a:ext cx="1590634" cy="0"/>
          </a:xfrm>
          <a:prstGeom prst="line">
            <a:avLst/>
          </a:prstGeom>
          <a:ln w="101600">
            <a:solidFill>
              <a:srgbClr val="A6A1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DFF830B1-81C0-4325-8FC2-FD52D52FBC55}"/>
              </a:ext>
            </a:extLst>
          </p:cNvPr>
          <p:cNvCxnSpPr>
            <a:cxnSpLocks/>
          </p:cNvCxnSpPr>
          <p:nvPr/>
        </p:nvCxnSpPr>
        <p:spPr>
          <a:xfrm>
            <a:off x="373606" y="7306064"/>
            <a:ext cx="1590634" cy="0"/>
          </a:xfrm>
          <a:prstGeom prst="line">
            <a:avLst/>
          </a:prstGeom>
          <a:ln w="1016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D695731-30B6-474A-893D-D960E2F39AF9}"/>
              </a:ext>
            </a:extLst>
          </p:cNvPr>
          <p:cNvCxnSpPr>
            <a:cxnSpLocks/>
          </p:cNvCxnSpPr>
          <p:nvPr/>
        </p:nvCxnSpPr>
        <p:spPr>
          <a:xfrm flipV="1">
            <a:off x="2010803" y="1087104"/>
            <a:ext cx="0" cy="5770896"/>
          </a:xfrm>
          <a:prstGeom prst="line">
            <a:avLst/>
          </a:prstGeom>
          <a:ln w="1016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7B643F8-EB47-4FC1-9012-98B0A03D9591}"/>
                  </a:ext>
                </a:extLst>
              </p:cNvPr>
              <p:cNvSpPr txBox="1"/>
              <p:nvPr/>
            </p:nvSpPr>
            <p:spPr>
              <a:xfrm>
                <a:off x="2146146" y="3751264"/>
                <a:ext cx="88434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𝑂𝑡h𝑒𝑟</m:t>
                          </m:r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𝑇𝑒𝑎𝑚</m:t>
                          </m:r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𝑊𝑖𝑛𝑠</m:t>
                          </m:r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𝑌𝑜𝑢</m:t>
                          </m:r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𝐷𝑜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𝐹𝑜𝑢𝑙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=0.2×0.5=0.1</m:t>
                      </m:r>
                    </m:oMath>
                  </m:oMathPara>
                </a14:m>
                <a:endParaRPr lang="en-US" sz="24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7B643F8-EB47-4FC1-9012-98B0A03D95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6146" y="3751264"/>
                <a:ext cx="8843458" cy="461665"/>
              </a:xfrm>
              <a:prstGeom prst="rect">
                <a:avLst/>
              </a:prstGeom>
              <a:blipFill>
                <a:blip r:embed="rId6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19D98DC-4D7E-472C-9C03-0290F2DC3A01}"/>
                  </a:ext>
                </a:extLst>
              </p:cNvPr>
              <p:cNvSpPr txBox="1"/>
              <p:nvPr/>
            </p:nvSpPr>
            <p:spPr>
              <a:xfrm>
                <a:off x="2251616" y="5053354"/>
                <a:ext cx="908492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𝑂𝑡h𝑒𝑟</m:t>
                          </m:r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𝑇𝑒𝑎𝑚</m:t>
                          </m:r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𝑊𝑖𝑛𝑠</m:t>
                          </m:r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𝑌𝑜𝑢</m:t>
                          </m:r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𝐹𝑜𝑢𝑙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=0.77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0.14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0.46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0.5</m:t>
                      </m:r>
                    </m:oMath>
                  </m:oMathPara>
                </a14:m>
                <a:endParaRPr lang="en-US" sz="2400" b="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19D98DC-4D7E-472C-9C03-0290F2DC3A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1616" y="5053354"/>
                <a:ext cx="9084921" cy="461665"/>
              </a:xfrm>
              <a:prstGeom prst="rect">
                <a:avLst/>
              </a:prstGeom>
              <a:blipFill>
                <a:blip r:embed="rId7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3FBEC8C-1C6C-46AB-9E75-9A68FE60F618}"/>
                  </a:ext>
                </a:extLst>
              </p:cNvPr>
              <p:cNvSpPr txBox="1"/>
              <p:nvPr/>
            </p:nvSpPr>
            <p:spPr>
              <a:xfrm>
                <a:off x="3207220" y="5431758"/>
                <a:ext cx="908492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=0.025</m:t>
                      </m:r>
                    </m:oMath>
                  </m:oMathPara>
                </a14:m>
                <a:endParaRPr lang="en-US" sz="24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3FBEC8C-1C6C-46AB-9E75-9A68FE60F6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7220" y="5431758"/>
                <a:ext cx="9084921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D11BC47-2092-D325-F23C-B896053064E5}"/>
                  </a:ext>
                </a:extLst>
              </p:cNvPr>
              <p:cNvSpPr txBox="1"/>
              <p:nvPr/>
            </p:nvSpPr>
            <p:spPr>
              <a:xfrm>
                <a:off x="2213219" y="6286705"/>
                <a:ext cx="908492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𝑂𝑡h𝑒𝑟</m:t>
                          </m:r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𝑇𝑒𝑎𝑚</m:t>
                          </m:r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𝑊𝑖𝑛𝑠</m:t>
                          </m:r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𝑌𝑜𝑢</m:t>
                          </m:r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𝐹𝑜𝑢𝑙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=0.77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0.14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0.3=0.03</m:t>
                      </m:r>
                    </m:oMath>
                  </m:oMathPara>
                </a14:m>
                <a:endParaRPr lang="en-US" sz="24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D11BC47-2092-D325-F23C-B896053064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3219" y="6286705"/>
                <a:ext cx="9084921" cy="461665"/>
              </a:xfrm>
              <a:prstGeom prst="rect">
                <a:avLst/>
              </a:prstGeom>
              <a:blipFill>
                <a:blip r:embed="rId9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5977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55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raphic 22" descr="Basketball">
            <a:extLst>
              <a:ext uri="{FF2B5EF4-FFF2-40B4-BE49-F238E27FC236}">
                <a16:creationId xmlns:a16="http://schemas.microsoft.com/office/drawing/2014/main" id="{E9648A1B-FAF4-4D5E-A5FA-056876B6D1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4683" y="-47773"/>
            <a:ext cx="1236707" cy="12367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DA33D13-A6DD-4F70-90E0-B2FBF766C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6146" y="288168"/>
            <a:ext cx="9746927" cy="77200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Selawik Semibold" panose="020B0702040204020203" pitchFamily="34" charset="0"/>
              </a:rPr>
              <a:t>End-Game Strategy</a:t>
            </a:r>
          </a:p>
        </p:txBody>
      </p:sp>
      <p:pic>
        <p:nvPicPr>
          <p:cNvPr id="27" name="Picture 26" descr="A close up of a toy&#10;&#10;Description automatically generated">
            <a:extLst>
              <a:ext uri="{FF2B5EF4-FFF2-40B4-BE49-F238E27FC236}">
                <a16:creationId xmlns:a16="http://schemas.microsoft.com/office/drawing/2014/main" id="{F3F65D40-5045-4F6A-881C-5E044D5BEB7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05" r="-2" b="25800"/>
          <a:stretch/>
        </p:blipFill>
        <p:spPr>
          <a:xfrm>
            <a:off x="455571" y="3932600"/>
            <a:ext cx="1598646" cy="1115388"/>
          </a:xfrm>
          <a:prstGeom prst="rect">
            <a:avLst/>
          </a:prstGeom>
        </p:spPr>
      </p:pic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52313B83-B214-43D7-AC39-182CE4FA3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1467" y="1275565"/>
            <a:ext cx="9270603" cy="5541546"/>
          </a:xfrm>
        </p:spPr>
        <p:txBody>
          <a:bodyPr>
            <a:normAutofit/>
          </a:bodyPr>
          <a:lstStyle/>
          <a:p>
            <a:pPr>
              <a:buSzPct val="100000"/>
            </a:pPr>
            <a:r>
              <a:rPr lang="en-US" sz="2400" dirty="0">
                <a:solidFill>
                  <a:schemeClr val="bg1"/>
                </a:solidFill>
                <a:latin typeface="Selawik Semibold" panose="020B0702040204020203" pitchFamily="34" charset="0"/>
              </a:rPr>
              <a:t>Decision Making for Situation 2</a:t>
            </a:r>
          </a:p>
          <a:p>
            <a:pPr lvl="1">
              <a:buSzPct val="100000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32 Games where Team Trailed by 3 Points and Leading Team Fouled</a:t>
            </a:r>
          </a:p>
          <a:p>
            <a:pPr lvl="1">
              <a:buSzPct val="100000"/>
            </a:pP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lvl="1">
              <a:buSzPct val="100000"/>
            </a:pPr>
            <a:endParaRPr lang="en-US" sz="8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lvl="1">
              <a:buSzPct val="100000"/>
            </a:pP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lvl="1">
              <a:buSzPct val="100000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Bad Assumption Because Multiple Possessions Possible</a:t>
            </a:r>
          </a:p>
          <a:p>
            <a:pPr lvl="1">
              <a:buSzPct val="100000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Historical Aggregation Shows Probability of Winning Higher if Leading Team Doesn’t Foul (2005-2008)</a:t>
            </a:r>
            <a:endParaRPr lang="en-US" sz="18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lvl="2">
              <a:buSzPct val="100000"/>
            </a:pPr>
            <a:endParaRPr lang="en-US" sz="18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lvl="2">
              <a:buSzPct val="100000"/>
            </a:pPr>
            <a:endParaRPr lang="en-US" sz="18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lvl="2">
              <a:buSzPct val="100000"/>
            </a:pPr>
            <a:endParaRPr lang="en-US" sz="18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lvl="1">
              <a:buSzPct val="100000"/>
            </a:pP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lvl="1">
              <a:buSzPct val="100000"/>
            </a:pP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164AB91-DF9B-4348-85B4-B3DBD68D0AB8}"/>
              </a:ext>
            </a:extLst>
          </p:cNvPr>
          <p:cNvCxnSpPr>
            <a:cxnSpLocks/>
          </p:cNvCxnSpPr>
          <p:nvPr/>
        </p:nvCxnSpPr>
        <p:spPr>
          <a:xfrm flipV="1">
            <a:off x="1808388" y="1087104"/>
            <a:ext cx="9513948" cy="40889"/>
          </a:xfrm>
          <a:prstGeom prst="line">
            <a:avLst/>
          </a:prstGeom>
          <a:ln w="1016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34" descr="A picture containing clipart&#10;&#10;Description automatically generated">
            <a:extLst>
              <a:ext uri="{FF2B5EF4-FFF2-40B4-BE49-F238E27FC236}">
                <a16:creationId xmlns:a16="http://schemas.microsoft.com/office/drawing/2014/main" id="{36A4252C-FA56-4DE4-B601-DA4D32813E5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32" r="8033" b="-1"/>
          <a:stretch/>
        </p:blipFill>
        <p:spPr>
          <a:xfrm>
            <a:off x="450297" y="2817212"/>
            <a:ext cx="1598904" cy="1115388"/>
          </a:xfrm>
          <a:prstGeom prst="rect">
            <a:avLst/>
          </a:prstGeom>
        </p:spPr>
      </p:pic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AC0AF4A-02B5-401B-9183-DFBDCAC17CB5}"/>
              </a:ext>
            </a:extLst>
          </p:cNvPr>
          <p:cNvCxnSpPr>
            <a:cxnSpLocks/>
          </p:cNvCxnSpPr>
          <p:nvPr/>
        </p:nvCxnSpPr>
        <p:spPr>
          <a:xfrm flipV="1">
            <a:off x="1443448" y="1087104"/>
            <a:ext cx="364940" cy="567192"/>
          </a:xfrm>
          <a:prstGeom prst="line">
            <a:avLst/>
          </a:prstGeom>
          <a:ln w="1016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C0D842E-CE3C-450F-A5A5-11DDD6118C09}"/>
              </a:ext>
            </a:extLst>
          </p:cNvPr>
          <p:cNvCxnSpPr>
            <a:cxnSpLocks/>
          </p:cNvCxnSpPr>
          <p:nvPr/>
        </p:nvCxnSpPr>
        <p:spPr>
          <a:xfrm>
            <a:off x="443317" y="-93164"/>
            <a:ext cx="1000131" cy="1802428"/>
          </a:xfrm>
          <a:prstGeom prst="line">
            <a:avLst/>
          </a:prstGeom>
          <a:ln w="1016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7D3C56B-D516-4628-8E26-F56918CF8C92}"/>
              </a:ext>
            </a:extLst>
          </p:cNvPr>
          <p:cNvCxnSpPr>
            <a:cxnSpLocks/>
          </p:cNvCxnSpPr>
          <p:nvPr/>
        </p:nvCxnSpPr>
        <p:spPr>
          <a:xfrm>
            <a:off x="369948" y="3889614"/>
            <a:ext cx="1590634" cy="0"/>
          </a:xfrm>
          <a:prstGeom prst="line">
            <a:avLst/>
          </a:prstGeom>
          <a:ln w="101600">
            <a:solidFill>
              <a:srgbClr val="A6A1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290DB4C-815D-42FC-98C1-898CC129644A}"/>
              </a:ext>
            </a:extLst>
          </p:cNvPr>
          <p:cNvCxnSpPr>
            <a:cxnSpLocks/>
          </p:cNvCxnSpPr>
          <p:nvPr/>
        </p:nvCxnSpPr>
        <p:spPr>
          <a:xfrm>
            <a:off x="373606" y="2789797"/>
            <a:ext cx="1590634" cy="0"/>
          </a:xfrm>
          <a:prstGeom prst="line">
            <a:avLst/>
          </a:prstGeom>
          <a:ln w="101600">
            <a:solidFill>
              <a:srgbClr val="A6A1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7FDB3DF-10DC-4872-BCF3-6F2CC6DD0F1C}"/>
              </a:ext>
            </a:extLst>
          </p:cNvPr>
          <p:cNvCxnSpPr>
            <a:cxnSpLocks/>
          </p:cNvCxnSpPr>
          <p:nvPr/>
        </p:nvCxnSpPr>
        <p:spPr>
          <a:xfrm>
            <a:off x="373606" y="5047988"/>
            <a:ext cx="1590634" cy="0"/>
          </a:xfrm>
          <a:prstGeom prst="line">
            <a:avLst/>
          </a:prstGeom>
          <a:ln w="1016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Picture 60" descr="A close up of a toy&#10;&#10;Description automatically generated">
            <a:extLst>
              <a:ext uri="{FF2B5EF4-FFF2-40B4-BE49-F238E27FC236}">
                <a16:creationId xmlns:a16="http://schemas.microsoft.com/office/drawing/2014/main" id="{96AE0023-E4EA-4D16-8B99-96DA8E83150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05" r="-2" b="25800"/>
          <a:stretch/>
        </p:blipFill>
        <p:spPr>
          <a:xfrm>
            <a:off x="455571" y="6190676"/>
            <a:ext cx="1598646" cy="1115388"/>
          </a:xfrm>
          <a:prstGeom prst="rect">
            <a:avLst/>
          </a:prstGeom>
        </p:spPr>
      </p:pic>
      <p:pic>
        <p:nvPicPr>
          <p:cNvPr id="62" name="Picture 61" descr="A picture containing clipart&#10;&#10;Description automatically generated">
            <a:extLst>
              <a:ext uri="{FF2B5EF4-FFF2-40B4-BE49-F238E27FC236}">
                <a16:creationId xmlns:a16="http://schemas.microsoft.com/office/drawing/2014/main" id="{569B3D08-70E8-4C8B-A239-7C18FB492C6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32" r="8033" b="-1"/>
          <a:stretch/>
        </p:blipFill>
        <p:spPr>
          <a:xfrm>
            <a:off x="450297" y="5075288"/>
            <a:ext cx="1598904" cy="1115388"/>
          </a:xfrm>
          <a:prstGeom prst="rect">
            <a:avLst/>
          </a:prstGeom>
        </p:spPr>
      </p:pic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20DB3758-374A-4C64-B771-E4915100FBBC}"/>
              </a:ext>
            </a:extLst>
          </p:cNvPr>
          <p:cNvCxnSpPr>
            <a:cxnSpLocks/>
          </p:cNvCxnSpPr>
          <p:nvPr/>
        </p:nvCxnSpPr>
        <p:spPr>
          <a:xfrm>
            <a:off x="369948" y="6147690"/>
            <a:ext cx="1590634" cy="0"/>
          </a:xfrm>
          <a:prstGeom prst="line">
            <a:avLst/>
          </a:prstGeom>
          <a:ln w="101600">
            <a:solidFill>
              <a:srgbClr val="A6A1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3BDADCEE-4407-4364-B613-6D0D45453CB7}"/>
              </a:ext>
            </a:extLst>
          </p:cNvPr>
          <p:cNvCxnSpPr>
            <a:cxnSpLocks/>
          </p:cNvCxnSpPr>
          <p:nvPr/>
        </p:nvCxnSpPr>
        <p:spPr>
          <a:xfrm>
            <a:off x="373606" y="5047873"/>
            <a:ext cx="1590634" cy="0"/>
          </a:xfrm>
          <a:prstGeom prst="line">
            <a:avLst/>
          </a:prstGeom>
          <a:ln w="101600">
            <a:solidFill>
              <a:srgbClr val="A6A1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DFF830B1-81C0-4325-8FC2-FD52D52FBC55}"/>
              </a:ext>
            </a:extLst>
          </p:cNvPr>
          <p:cNvCxnSpPr>
            <a:cxnSpLocks/>
          </p:cNvCxnSpPr>
          <p:nvPr/>
        </p:nvCxnSpPr>
        <p:spPr>
          <a:xfrm>
            <a:off x="373606" y="7306064"/>
            <a:ext cx="1590634" cy="0"/>
          </a:xfrm>
          <a:prstGeom prst="line">
            <a:avLst/>
          </a:prstGeom>
          <a:ln w="1016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D695731-30B6-474A-893D-D960E2F39AF9}"/>
              </a:ext>
            </a:extLst>
          </p:cNvPr>
          <p:cNvCxnSpPr>
            <a:cxnSpLocks/>
          </p:cNvCxnSpPr>
          <p:nvPr/>
        </p:nvCxnSpPr>
        <p:spPr>
          <a:xfrm flipV="1">
            <a:off x="2010803" y="1087104"/>
            <a:ext cx="0" cy="5770896"/>
          </a:xfrm>
          <a:prstGeom prst="line">
            <a:avLst/>
          </a:prstGeom>
          <a:ln w="1016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715C76E-46F1-4920-B7F7-597892F02BB6}"/>
                  </a:ext>
                </a:extLst>
              </p:cNvPr>
              <p:cNvSpPr txBox="1"/>
              <p:nvPr/>
            </p:nvSpPr>
            <p:spPr>
              <a:xfrm>
                <a:off x="4057267" y="6004473"/>
                <a:ext cx="8843458" cy="843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0" dirty="0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95% Confidence Interval for Proportion:        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±2</m:t>
                    </m:r>
                    <m:rad>
                      <m:radPr>
                        <m:degHide m:val="on"/>
                        <m:ctrlP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̂"/>
                                <m:ctrlPr>
                                  <a:rPr 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acc>
                              <m:accPr>
                                <m:chr m:val="̂"/>
                                <m:ctrlPr>
                                  <a:rPr 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rad>
                  </m:oMath>
                </a14:m>
                <a:endParaRPr lang="en-US" sz="24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715C76E-46F1-4920-B7F7-597892F02B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7267" y="6004473"/>
                <a:ext cx="8843458" cy="843885"/>
              </a:xfrm>
              <a:prstGeom prst="rect">
                <a:avLst/>
              </a:prstGeom>
              <a:blipFill>
                <a:blip r:embed="rId6"/>
                <a:stretch>
                  <a:fillRect l="-7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B902470B-EEDC-4E75-B99E-F51E3CAA3A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1416226"/>
              </p:ext>
            </p:extLst>
          </p:nvPr>
        </p:nvGraphicFramePr>
        <p:xfrm>
          <a:off x="2616556" y="3932600"/>
          <a:ext cx="7870893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9055">
                  <a:extLst>
                    <a:ext uri="{9D8B030D-6E8A-4147-A177-3AD203B41FA5}">
                      <a16:colId xmlns:a16="http://schemas.microsoft.com/office/drawing/2014/main" val="713213291"/>
                    </a:ext>
                  </a:extLst>
                </a:gridCol>
                <a:gridCol w="1006998">
                  <a:extLst>
                    <a:ext uri="{9D8B030D-6E8A-4147-A177-3AD203B41FA5}">
                      <a16:colId xmlns:a16="http://schemas.microsoft.com/office/drawing/2014/main" val="591389572"/>
                    </a:ext>
                  </a:extLst>
                </a:gridCol>
                <a:gridCol w="2268638">
                  <a:extLst>
                    <a:ext uri="{9D8B030D-6E8A-4147-A177-3AD203B41FA5}">
                      <a16:colId xmlns:a16="http://schemas.microsoft.com/office/drawing/2014/main" val="3755391052"/>
                    </a:ext>
                  </a:extLst>
                </a:gridCol>
                <a:gridCol w="1736202">
                  <a:extLst>
                    <a:ext uri="{9D8B030D-6E8A-4147-A177-3AD203B41FA5}">
                      <a16:colId xmlns:a16="http://schemas.microsoft.com/office/drawing/2014/main" val="33533919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Scenario</a:t>
                      </a:r>
                    </a:p>
                  </a:txBody>
                  <a:tcPr anchor="ctr"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Sample Size</a:t>
                      </a:r>
                    </a:p>
                  </a:txBody>
                  <a:tcPr anchor="ctr"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Probability </a:t>
                      </a:r>
                      <a:r>
                        <a:rPr lang="en-US" sz="200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Leading Team Wins</a:t>
                      </a:r>
                      <a:endParaRPr lang="en-US" sz="20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95% CI</a:t>
                      </a:r>
                    </a:p>
                  </a:txBody>
                  <a:tcPr anchor="ctr">
                    <a:solidFill>
                      <a:srgbClr val="D348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4803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Close Game Where Leading Team Didn’t Foul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91.9%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(88.5%, 95.2%)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7336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Close Game Where Leading Team Did Foul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88.9%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(76.8%, 100%)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07176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ECA69D5-B8EF-480D-A7DD-1130509CEAF8}"/>
                  </a:ext>
                </a:extLst>
              </p:cNvPr>
              <p:cNvSpPr txBox="1"/>
              <p:nvPr/>
            </p:nvSpPr>
            <p:spPr>
              <a:xfrm>
                <a:off x="170771" y="2002536"/>
                <a:ext cx="8843458" cy="7944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7 </m:t>
                          </m:r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𝑇𝑖𝑒𝑠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32 </m:t>
                          </m:r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𝐺𝑎𝑚𝑒𝑠</m:t>
                          </m:r>
                        </m:den>
                      </m:f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=21.9% (±14.6%)</m:t>
                      </m:r>
                    </m:oMath>
                  </m:oMathPara>
                </a14:m>
                <a:endParaRPr lang="en-US" sz="24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ECA69D5-B8EF-480D-A7DD-1130509CEA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771" y="2002536"/>
                <a:ext cx="8843458" cy="79444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4433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55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indoor&#10;&#10;Description automatically generated">
            <a:extLst>
              <a:ext uri="{FF2B5EF4-FFF2-40B4-BE49-F238E27FC236}">
                <a16:creationId xmlns:a16="http://schemas.microsoft.com/office/drawing/2014/main" id="{48589EA3-03B9-4D42-8282-8AC52D63CBF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05" r="19804" b="-1"/>
          <a:stretch/>
        </p:blipFill>
        <p:spPr>
          <a:xfrm>
            <a:off x="450320" y="0"/>
            <a:ext cx="6024144" cy="685800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ln w="28575">
            <a:noFill/>
          </a:ln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0B9C460C-DD3D-4F1C-9FEE-8EC7228DF8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30235" y="890427"/>
            <a:ext cx="4577335" cy="1264588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sz="6000" dirty="0">
                <a:latin typeface="Selawik Semibold" panose="020B0702040204020203" pitchFamily="34" charset="0"/>
              </a:rPr>
              <a:t>Final </a:t>
            </a:r>
            <a:br>
              <a:rPr lang="en-US" sz="6000" dirty="0">
                <a:latin typeface="Selawik Semibold" panose="020B0702040204020203" pitchFamily="34" charset="0"/>
              </a:rPr>
            </a:br>
            <a:r>
              <a:rPr lang="en-US" sz="6000" dirty="0">
                <a:latin typeface="Selawik Semibold" panose="020B0702040204020203" pitchFamily="34" charset="0"/>
              </a:rPr>
              <a:t>Inspiration</a:t>
            </a:r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EFC1D832-5298-413A-ACCB-93C0C72C636D}"/>
              </a:ext>
            </a:extLst>
          </p:cNvPr>
          <p:cNvSpPr txBox="1">
            <a:spLocks/>
          </p:cNvSpPr>
          <p:nvPr/>
        </p:nvSpPr>
        <p:spPr>
          <a:xfrm>
            <a:off x="5478102" y="4344069"/>
            <a:ext cx="5729468" cy="3247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800" dirty="0">
                <a:latin typeface="Selawik Semibold" panose="020B0702040204020203" pitchFamily="34" charset="0"/>
              </a:rPr>
              <a:t>I cannot dunk a basketball, </a:t>
            </a:r>
          </a:p>
          <a:p>
            <a:pPr algn="r"/>
            <a:r>
              <a:rPr lang="en-US" sz="2800" dirty="0">
                <a:latin typeface="Selawik Semibold" panose="020B0702040204020203" pitchFamily="34" charset="0"/>
              </a:rPr>
              <a:t>but I can Dunkin’ Donuts.</a:t>
            </a:r>
          </a:p>
          <a:p>
            <a:pPr algn="r"/>
            <a:endParaRPr lang="en-US" sz="2800" dirty="0">
              <a:latin typeface="Selawik Semibold" panose="020B0702040204020203" pitchFamily="34" charset="0"/>
            </a:endParaRPr>
          </a:p>
          <a:p>
            <a:pPr algn="r"/>
            <a:r>
              <a:rPr lang="en-US" sz="2800" dirty="0">
                <a:latin typeface="Selawik Semibold" panose="020B0702040204020203" pitchFamily="34" charset="0"/>
              </a:rPr>
              <a:t>- Mahatma Mario </a:t>
            </a:r>
          </a:p>
          <a:p>
            <a:pPr lvl="2" algn="r"/>
            <a:endParaRPr lang="en-US" sz="2800" dirty="0">
              <a:latin typeface="Selawik Semibold" panose="020B0702040204020203" pitchFamily="34" charset="0"/>
            </a:endParaRPr>
          </a:p>
          <a:p>
            <a:pPr lvl="2" algn="r"/>
            <a:endParaRPr lang="en-US" sz="2800" dirty="0">
              <a:latin typeface="Selawik Semibold" panose="020B0702040204020203" pitchFamily="34" charset="0"/>
            </a:endParaRPr>
          </a:p>
          <a:p>
            <a:pPr lvl="2" algn="r"/>
            <a:endParaRPr lang="en-US" sz="2800" dirty="0">
              <a:latin typeface="Selawik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34750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View">
  <a:themeElements>
    <a:clrScheme name="View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3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7B713C7F-58B7-4AE9-B361-B13EB9EC4C0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2766</TotalTime>
  <Words>648</Words>
  <Application>Microsoft Office PowerPoint</Application>
  <PresentationFormat>Widescreen</PresentationFormat>
  <Paragraphs>174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Cambria Math</vt:lpstr>
      <vt:lpstr>Century Schoolbook</vt:lpstr>
      <vt:lpstr>Selawik Semibold</vt:lpstr>
      <vt:lpstr>Wingdings 2</vt:lpstr>
      <vt:lpstr>View</vt:lpstr>
      <vt:lpstr>Basketball VI</vt:lpstr>
      <vt:lpstr>End-Game Strategy</vt:lpstr>
      <vt:lpstr>End-Game Strategy</vt:lpstr>
      <vt:lpstr>End-Game Strategy</vt:lpstr>
      <vt:lpstr>End-Game Strategy</vt:lpstr>
      <vt:lpstr>End-Game Strategy</vt:lpstr>
      <vt:lpstr>End-Game Strategy</vt:lpstr>
      <vt:lpstr>End-Game Strategy</vt:lpstr>
      <vt:lpstr>Final  Inspiration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Basketball I</dc:title>
  <dc:creator>Super Mario</dc:creator>
  <cp:lastModifiedBy>Giacomazzo, Mario Sy John</cp:lastModifiedBy>
  <cp:revision>156</cp:revision>
  <dcterms:created xsi:type="dcterms:W3CDTF">2019-09-22T23:34:01Z</dcterms:created>
  <dcterms:modified xsi:type="dcterms:W3CDTF">2026-04-01T15:07:31Z</dcterms:modified>
</cp:coreProperties>
</file>