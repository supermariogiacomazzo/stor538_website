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notesMasterIdLst>
    <p:notesMasterId r:id="rId13"/>
  </p:notesMasterIdLst>
  <p:sldIdLst>
    <p:sldId id="298" r:id="rId2"/>
    <p:sldId id="306" r:id="rId3"/>
    <p:sldId id="307" r:id="rId4"/>
    <p:sldId id="308" r:id="rId5"/>
    <p:sldId id="310" r:id="rId6"/>
    <p:sldId id="311" r:id="rId7"/>
    <p:sldId id="315" r:id="rId8"/>
    <p:sldId id="312" r:id="rId9"/>
    <p:sldId id="314" r:id="rId10"/>
    <p:sldId id="313" r:id="rId11"/>
    <p:sldId id="28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per Mario" initials="SM" lastIdx="1" clrIdx="0">
    <p:extLst>
      <p:ext uri="{19B8F6BF-5375-455C-9EA6-DF929625EA0E}">
        <p15:presenceInfo xmlns:p15="http://schemas.microsoft.com/office/powerpoint/2012/main" userId="00ac6b547670034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4817"/>
    <a:srgbClr val="A6A1A1"/>
    <a:srgbClr val="663300"/>
    <a:srgbClr val="395583"/>
    <a:srgbClr val="F76464"/>
    <a:srgbClr val="882E2E"/>
    <a:srgbClr val="DB5B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04" autoAdjust="0"/>
    <p:restoredTop sz="95871" autoAdjust="0"/>
  </p:normalViewPr>
  <p:slideViewPr>
    <p:cSldViewPr snapToGrid="0">
      <p:cViewPr varScale="1">
        <p:scale>
          <a:sx n="129" d="100"/>
          <a:sy n="129" d="100"/>
        </p:scale>
        <p:origin x="47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E5E84-956F-4423-97B3-5936A6D8EEE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D9EF6-5B6D-4923-9412-628692DCC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0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44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62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41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65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92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42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42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57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79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53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36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965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05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792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26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47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C039-66A3-4640-815B-3B5A8B7D868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9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881C039-66A3-4640-815B-3B5A8B7D868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68EBC32-F1AB-4BBF-A78B-0246EAD75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178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3t6hM5tRlfA?feature=oembed" TargetMode="External"/><Relationship Id="rId6" Type="http://schemas.openxmlformats.org/officeDocument/2006/relationships/image" Target="../media/image7.sv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sv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7.sv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41856743-89BA-4675-AC94-48F5144804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66" b="23593"/>
          <a:stretch/>
        </p:blipFill>
        <p:spPr>
          <a:xfrm>
            <a:off x="-4364946" y="-83127"/>
            <a:ext cx="12424206" cy="69886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B5445C-8F3E-4F4B-B272-8D9F0BC49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2744" y="2131894"/>
            <a:ext cx="7574604" cy="1828801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Football 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C54F8-420D-42C9-AB41-8EA29A411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8093" y="6274528"/>
            <a:ext cx="6903907" cy="392189"/>
          </a:xfrm>
        </p:spPr>
        <p:txBody>
          <a:bodyPr>
            <a:normAutofit lnSpcReduction="10000"/>
          </a:bodyPr>
          <a:lstStyle/>
          <a:p>
            <a:r>
              <a:rPr lang="en-US" dirty="0">
                <a:ln>
                  <a:noFill/>
                </a:ln>
                <a:solidFill>
                  <a:srgbClr val="D34817"/>
                </a:solidFill>
                <a:effectLst/>
                <a:latin typeface="Selawik Semibold" panose="020B0702040204020203" pitchFamily="34" charset="0"/>
              </a:rPr>
              <a:t>Produced by Dr. Mario | UNC </a:t>
            </a:r>
            <a:r>
              <a:rPr lang="en-US">
                <a:ln>
                  <a:noFill/>
                </a:ln>
                <a:solidFill>
                  <a:srgbClr val="D34817"/>
                </a:solidFill>
                <a:effectLst/>
                <a:latin typeface="Selawik Semibold" panose="020B0702040204020203" pitchFamily="34" charset="0"/>
              </a:rPr>
              <a:t>STOR 538</a:t>
            </a:r>
            <a:endParaRPr lang="en-US" dirty="0">
              <a:ln>
                <a:noFill/>
              </a:ln>
              <a:solidFill>
                <a:srgbClr val="D34817"/>
              </a:solidFill>
              <a:effectLst/>
              <a:latin typeface="Selawik Semibold" panose="020B0702040204020203" pitchFamily="34" charset="0"/>
            </a:endParaRPr>
          </a:p>
        </p:txBody>
      </p:sp>
      <p:pic>
        <p:nvPicPr>
          <p:cNvPr id="9" name="Graphic 8" descr="Football">
            <a:extLst>
              <a:ext uri="{FF2B5EF4-FFF2-40B4-BE49-F238E27FC236}">
                <a16:creationId xmlns:a16="http://schemas.microsoft.com/office/drawing/2014/main" id="{8458BA3F-0AF8-4D6D-8A76-77009396C2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182294">
            <a:off x="9207524" y="-67270"/>
            <a:ext cx="3049289" cy="304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93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Overview of Football</a:t>
            </a:r>
          </a:p>
        </p:txBody>
      </p:sp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  <p:pic>
        <p:nvPicPr>
          <p:cNvPr id="20" name="Online Media 19" title="A Beginner's Guide to American Football | NFL">
            <a:hlinkClick r:id="" action="ppaction://media"/>
            <a:extLst>
              <a:ext uri="{FF2B5EF4-FFF2-40B4-BE49-F238E27FC236}">
                <a16:creationId xmlns:a16="http://schemas.microsoft.com/office/drawing/2014/main" id="{B5AD5B40-A411-43EC-909A-025A3322CE2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7"/>
          <a:stretch>
            <a:fillRect/>
          </a:stretch>
        </p:blipFill>
        <p:spPr>
          <a:xfrm>
            <a:off x="2876120" y="1656057"/>
            <a:ext cx="7952301" cy="4473169"/>
          </a:xfrm>
          <a:prstGeom prst="rect">
            <a:avLst/>
          </a:prstGeom>
          <a:ln w="38100">
            <a:solidFill>
              <a:srgbClr val="D34817"/>
            </a:solidFill>
          </a:ln>
        </p:spPr>
      </p:pic>
    </p:spTree>
    <p:extLst>
      <p:ext uri="{BB962C8B-B14F-4D97-AF65-F5344CB8AC3E}">
        <p14:creationId xmlns:p14="http://schemas.microsoft.com/office/powerpoint/2010/main" val="288986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What Makes Teams Win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3155" y="1490925"/>
            <a:ext cx="7729850" cy="4838569"/>
          </a:xfrm>
        </p:spPr>
        <p:txBody>
          <a:bodyPr numCol="1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Two Ways Offense Gains Yards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Passing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Rushing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Analysis by Bud Goode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Statistician from the 1960s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Passing YDS and Rushing YDS Not Effective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Showed YDS/ATT Good Predictors of Success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Measures of Efficiency are Better Than Counts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Both Passing and Rushing Attempts Use a Down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Downs in Football are Important Resources</a:t>
            </a:r>
            <a:endParaRPr lang="en-US" sz="2400" dirty="0">
              <a:effectLst/>
              <a:latin typeface="Selawik Semibold" panose="020B0702040204020203" pitchFamily="34" charset="0"/>
            </a:endParaRPr>
          </a:p>
        </p:txBody>
      </p:sp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2D564FE-449E-4C0E-B4F0-C0D47CAF5C6D}"/>
              </a:ext>
            </a:extLst>
          </p:cNvPr>
          <p:cNvSpPr/>
          <p:nvPr/>
        </p:nvSpPr>
        <p:spPr>
          <a:xfrm>
            <a:off x="10013005" y="1660888"/>
            <a:ext cx="2178994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7CD2B-FB33-4F66-8615-D0702FC8CBCF}"/>
              </a:ext>
            </a:extLst>
          </p:cNvPr>
          <p:cNvSpPr txBox="1"/>
          <p:nvPr/>
        </p:nvSpPr>
        <p:spPr>
          <a:xfrm>
            <a:off x="10013005" y="1760270"/>
            <a:ext cx="2322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YDS = Yards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 = Attempt</a:t>
            </a:r>
          </a:p>
        </p:txBody>
      </p:sp>
    </p:spTree>
    <p:extLst>
      <p:ext uri="{BB962C8B-B14F-4D97-AF65-F5344CB8AC3E}">
        <p14:creationId xmlns:p14="http://schemas.microsoft.com/office/powerpoint/2010/main" val="1870106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What Makes Teams Win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3155" y="1490925"/>
            <a:ext cx="7729850" cy="4838569"/>
          </a:xfrm>
        </p:spPr>
        <p:txBody>
          <a:bodyPr numCol="1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Scoring Margin for a Team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Related to the Spread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Formula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Positive Margin = Team Won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Negative Margin = Team Lost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Offensive Predictors of the </a:t>
            </a:r>
            <a:r>
              <a:rPr lang="en-US" sz="240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Scoring Margin </a:t>
            </a:r>
            <a:endParaRPr lang="en-US" sz="24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Passing YDS/ATT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Rushing YDS/ATT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TOs Committed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000" dirty="0">
              <a:effectLst/>
              <a:latin typeface="Selawik Semibold" panose="020B0702040204020203" pitchFamily="34" charset="0"/>
            </a:endParaRPr>
          </a:p>
        </p:txBody>
      </p:sp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2D564FE-449E-4C0E-B4F0-C0D47CAF5C6D}"/>
              </a:ext>
            </a:extLst>
          </p:cNvPr>
          <p:cNvSpPr/>
          <p:nvPr/>
        </p:nvSpPr>
        <p:spPr>
          <a:xfrm>
            <a:off x="10013005" y="1660887"/>
            <a:ext cx="2178994" cy="12997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7CD2B-FB33-4F66-8615-D0702FC8CBCF}"/>
              </a:ext>
            </a:extLst>
          </p:cNvPr>
          <p:cNvSpPr txBox="1"/>
          <p:nvPr/>
        </p:nvSpPr>
        <p:spPr>
          <a:xfrm>
            <a:off x="10013005" y="1760270"/>
            <a:ext cx="23226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PTS = Points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YDS = Yards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 = Attempt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= Turnover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4965AB-5951-43A7-8C89-34A3B85C84C7}"/>
                  </a:ext>
                </a:extLst>
              </p:cNvPr>
              <p:cNvSpPr txBox="1"/>
              <p:nvPr/>
            </p:nvSpPr>
            <p:spPr>
              <a:xfrm>
                <a:off x="2419111" y="2601264"/>
                <a:ext cx="568316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𝑆𝑐𝑜𝑟𝑖𝑛𝑔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𝑀𝑎𝑟𝑔𝑖𝑛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𝑃𝑇𝑆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𝑃𝑇𝑆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𝐴𝑔𝑎𝑖𝑛𝑠𝑡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4965AB-5951-43A7-8C89-34A3B85C8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111" y="2601264"/>
                <a:ext cx="5683168" cy="307777"/>
              </a:xfrm>
              <a:prstGeom prst="rect">
                <a:avLst/>
              </a:prstGeom>
              <a:blipFill>
                <a:blip r:embed="rId7"/>
                <a:stretch>
                  <a:fillRect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1479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What Makes Teams Win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3155" y="1490925"/>
            <a:ext cx="7729850" cy="4838569"/>
          </a:xfrm>
        </p:spPr>
        <p:txBody>
          <a:bodyPr numCol="1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Defensive Predictors of the Scoring Margin 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Passing YDS/ATT Allowed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Rushing YDS/ATT Allowed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Defensive TOs Caused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Differential Predictors of the Scoring Margin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Difference Between PEN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Difference Between Return TDs  (Off Fumbles,   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    Interceptions, Kickoffs, and Punts)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000" dirty="0">
              <a:effectLst/>
              <a:latin typeface="Selawik Semibold" panose="020B0702040204020203" pitchFamily="34" charset="0"/>
            </a:endParaRPr>
          </a:p>
        </p:txBody>
      </p:sp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2D564FE-449E-4C0E-B4F0-C0D47CAF5C6D}"/>
              </a:ext>
            </a:extLst>
          </p:cNvPr>
          <p:cNvSpPr/>
          <p:nvPr/>
        </p:nvSpPr>
        <p:spPr>
          <a:xfrm>
            <a:off x="10013005" y="1660886"/>
            <a:ext cx="2178994" cy="1576711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7CD2B-FB33-4F66-8615-D0702FC8CBCF}"/>
              </a:ext>
            </a:extLst>
          </p:cNvPr>
          <p:cNvSpPr txBox="1"/>
          <p:nvPr/>
        </p:nvSpPr>
        <p:spPr>
          <a:xfrm>
            <a:off x="10013005" y="1760270"/>
            <a:ext cx="23226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YDS = Yards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 = Attempts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= Turnover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 = Penalty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TD = Touchdown</a:t>
            </a:r>
          </a:p>
        </p:txBody>
      </p:sp>
    </p:spTree>
    <p:extLst>
      <p:ext uri="{BB962C8B-B14F-4D97-AF65-F5344CB8AC3E}">
        <p14:creationId xmlns:p14="http://schemas.microsoft.com/office/powerpoint/2010/main" val="3730916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What Makes Teams Win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3155" y="1490925"/>
            <a:ext cx="7729850" cy="4838569"/>
          </a:xfrm>
        </p:spPr>
        <p:txBody>
          <a:bodyPr numCol="1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Regression on the Team Level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Covers 2014 – 2017 Seasons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All Predictors are Significant Except Penalty Difference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RSQ of 0.79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Standard Error of 44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Approximately 95% of the Time, the True Scoring Margin 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   Would Be Within 88 Points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Interesting Insight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Coefficients for Passing Efficiency Triple Coefficients for 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    Defensive Efficiency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Extra Passing YDS/ATT Worth 69.04 PTS (+4.3 PTS/G)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Extra Rushing YDS/ATT Worth 23.24PTS (+1.45 PTS/G)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What is the Problem with This Interpretation?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000" dirty="0">
              <a:effectLst/>
              <a:latin typeface="Selawik Semibold" panose="020B0702040204020203" pitchFamily="34" charset="0"/>
            </a:endParaRPr>
          </a:p>
        </p:txBody>
      </p:sp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5037E27-FDE1-4148-81CE-0ACCDE2E5417}"/>
              </a:ext>
            </a:extLst>
          </p:cNvPr>
          <p:cNvSpPr/>
          <p:nvPr/>
        </p:nvSpPr>
        <p:spPr>
          <a:xfrm>
            <a:off x="10013005" y="1660887"/>
            <a:ext cx="2178994" cy="12997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8D25F1-F36E-4FA8-A3AD-4F39D8D78426}"/>
              </a:ext>
            </a:extLst>
          </p:cNvPr>
          <p:cNvSpPr txBox="1"/>
          <p:nvPr/>
        </p:nvSpPr>
        <p:spPr>
          <a:xfrm>
            <a:off x="10013005" y="1760270"/>
            <a:ext cx="23226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PTS = Points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YDS = Yards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 = Attempts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 = Games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114774-60F8-4C47-B64E-B62ACE72A3C5}"/>
              </a:ext>
            </a:extLst>
          </p:cNvPr>
          <p:cNvCxnSpPr>
            <a:cxnSpLocks/>
          </p:cNvCxnSpPr>
          <p:nvPr/>
        </p:nvCxnSpPr>
        <p:spPr>
          <a:xfrm flipH="1">
            <a:off x="9583839" y="5243332"/>
            <a:ext cx="740199" cy="0"/>
          </a:xfrm>
          <a:prstGeom prst="straightConnector1">
            <a:avLst/>
          </a:prstGeom>
          <a:ln w="38100">
            <a:solidFill>
              <a:srgbClr val="D348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7762D8-85C8-4596-ABDD-7CEA4F1D87A5}"/>
              </a:ext>
            </a:extLst>
          </p:cNvPr>
          <p:cNvSpPr txBox="1"/>
          <p:nvPr/>
        </p:nvSpPr>
        <p:spPr>
          <a:xfrm>
            <a:off x="9879813" y="4920166"/>
            <a:ext cx="2445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 on 16 </a:t>
            </a:r>
          </a:p>
          <a:p>
            <a:pPr marL="0"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Game Season</a:t>
            </a:r>
          </a:p>
        </p:txBody>
      </p:sp>
    </p:spTree>
    <p:extLst>
      <p:ext uri="{BB962C8B-B14F-4D97-AF65-F5344CB8AC3E}">
        <p14:creationId xmlns:p14="http://schemas.microsoft.com/office/powerpoint/2010/main" val="1992004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What Makes Teams Win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3155" y="1490925"/>
            <a:ext cx="7729850" cy="4838569"/>
          </a:xfrm>
        </p:spPr>
        <p:txBody>
          <a:bodyPr numCol="1" anchor="t">
            <a:noAutofit/>
          </a:bodyPr>
          <a:lstStyle/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000" dirty="0">
              <a:effectLst/>
              <a:latin typeface="Selawik Semibold" panose="020B0702040204020203" pitchFamily="34" charset="0"/>
            </a:endParaRPr>
          </a:p>
        </p:txBody>
      </p:sp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78D86D-A8F4-233D-5539-E0C65FABAD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05" y="1787040"/>
            <a:ext cx="11689190" cy="3258004"/>
          </a:xfrm>
          <a:prstGeom prst="rect">
            <a:avLst/>
          </a:prstGeom>
          <a:ln w="38100">
            <a:solidFill>
              <a:srgbClr val="D34817"/>
            </a:solidFill>
          </a:ln>
        </p:spPr>
      </p:pic>
    </p:spTree>
    <p:extLst>
      <p:ext uri="{BB962C8B-B14F-4D97-AF65-F5344CB8AC3E}">
        <p14:creationId xmlns:p14="http://schemas.microsoft.com/office/powerpoint/2010/main" val="1458007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What Makes Teams Win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3155" y="1490925"/>
            <a:ext cx="7729850" cy="4838569"/>
          </a:xfrm>
        </p:spPr>
        <p:txBody>
          <a:bodyPr numCol="1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Modified Regressions for Scoring Margin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Regression Based ONLY on Passing Info (RSQ = 0.63)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Regression Based ONLY on Rushing Info (RSQ = 0.17)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Impact of Turnovers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Offensive TOs Costs 4.99 Points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Defensive TOs Worth 2.01 Points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Overall, TO Worth Approximately 3.5 Points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000" dirty="0">
              <a:effectLst/>
              <a:latin typeface="Selawik Semibold" panose="020B0702040204020203" pitchFamily="34" charset="0"/>
            </a:endParaRPr>
          </a:p>
        </p:txBody>
      </p:sp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5037E27-FDE1-4148-81CE-0ACCDE2E5417}"/>
              </a:ext>
            </a:extLst>
          </p:cNvPr>
          <p:cNvSpPr/>
          <p:nvPr/>
        </p:nvSpPr>
        <p:spPr>
          <a:xfrm>
            <a:off x="10013005" y="1660887"/>
            <a:ext cx="2178994" cy="468715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8D25F1-F36E-4FA8-A3AD-4F39D8D78426}"/>
              </a:ext>
            </a:extLst>
          </p:cNvPr>
          <p:cNvSpPr txBox="1"/>
          <p:nvPr/>
        </p:nvSpPr>
        <p:spPr>
          <a:xfrm>
            <a:off x="10013005" y="1760270"/>
            <a:ext cx="2322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= Turnover</a:t>
            </a:r>
          </a:p>
        </p:txBody>
      </p:sp>
    </p:spTree>
    <p:extLst>
      <p:ext uri="{BB962C8B-B14F-4D97-AF65-F5344CB8AC3E}">
        <p14:creationId xmlns:p14="http://schemas.microsoft.com/office/powerpoint/2010/main" val="91364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What Makes Teams Win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3154" y="1490925"/>
            <a:ext cx="7815497" cy="4838569"/>
          </a:xfrm>
        </p:spPr>
        <p:txBody>
          <a:bodyPr numCol="1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Relationship Between Passing and Rushing Stats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Correlation of 0.12 Between Passing YDS/ATT and  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    Rushing YDS/ATT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Many Believe Rushing Improves the Passing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Contradicts the Actual Seasonal Data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Why Low Correlation? </a:t>
            </a: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000" dirty="0">
              <a:effectLst/>
              <a:latin typeface="Selawik Semibold" panose="020B0702040204020203" pitchFamily="34" charset="0"/>
            </a:endParaRPr>
          </a:p>
        </p:txBody>
      </p:sp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9464DB7-7D4B-44D1-958B-6431A6DCD7B6}"/>
              </a:ext>
            </a:extLst>
          </p:cNvPr>
          <p:cNvSpPr/>
          <p:nvPr/>
        </p:nvSpPr>
        <p:spPr>
          <a:xfrm>
            <a:off x="10013005" y="1660888"/>
            <a:ext cx="2178994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D16587-0E62-4915-9DF6-167AC9FED700}"/>
              </a:ext>
            </a:extLst>
          </p:cNvPr>
          <p:cNvSpPr txBox="1"/>
          <p:nvPr/>
        </p:nvSpPr>
        <p:spPr>
          <a:xfrm>
            <a:off x="10013005" y="1760270"/>
            <a:ext cx="2322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YDS = Yards</a:t>
            </a:r>
          </a:p>
          <a:p>
            <a:pPr marL="0"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</a:pPr>
            <a:r>
              <a:rPr lang="en-US" sz="2000" dirty="0">
                <a:solidFill>
                  <a:schemeClr val="bg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 = Attempt</a:t>
            </a:r>
          </a:p>
        </p:txBody>
      </p:sp>
    </p:spTree>
    <p:extLst>
      <p:ext uri="{BB962C8B-B14F-4D97-AF65-F5344CB8AC3E}">
        <p14:creationId xmlns:p14="http://schemas.microsoft.com/office/powerpoint/2010/main" val="2542508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clothing, person, headdress, baseball&#10;&#10;Description automatically generated">
            <a:extLst>
              <a:ext uri="{FF2B5EF4-FFF2-40B4-BE49-F238E27FC236}">
                <a16:creationId xmlns:a16="http://schemas.microsoft.com/office/drawing/2014/main" id="{68BA132B-EA3B-4DFB-BEF2-04F4ACB3B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151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" b="7624"/>
          <a:stretch/>
        </p:blipFill>
        <p:spPr>
          <a:xfrm>
            <a:off x="-1051136" y="3119615"/>
            <a:ext cx="4065464" cy="3258005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BDB8227-827C-484D-95AA-05C24716BEB4}"/>
              </a:ext>
            </a:extLst>
          </p:cNvPr>
          <p:cNvSpPr/>
          <p:nvPr/>
        </p:nvSpPr>
        <p:spPr>
          <a:xfrm>
            <a:off x="1911020" y="528506"/>
            <a:ext cx="692817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A1A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C2FBC-B0EB-45C1-9469-C4F6741E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20" y="428653"/>
            <a:ext cx="6928179" cy="970450"/>
          </a:xfrm>
          <a:effectLst>
            <a:outerShdw blurRad="25400" dir="17880000">
              <a:srgbClr val="000000">
                <a:alpha val="70000"/>
              </a:srgb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sz="3600" dirty="0">
                <a:ln>
                  <a:noFill/>
                </a:ln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What Makes Teams Win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2313B83-B214-43D7-AC39-182CE4FA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3155" y="1490925"/>
            <a:ext cx="7729850" cy="4838569"/>
          </a:xfrm>
        </p:spPr>
        <p:txBody>
          <a:bodyPr numCol="1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latin typeface="Selawik Semibold" panose="020B0702040204020203" pitchFamily="34" charset="0"/>
              </a:rPr>
              <a:t>Correlation Matrix of Predictors</a:t>
            </a:r>
            <a:endParaRPr lang="en-US" sz="20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None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200" dirty="0">
              <a:solidFill>
                <a:schemeClr val="bg2">
                  <a:lumMod val="10000"/>
                  <a:lumOff val="90000"/>
                </a:schemeClr>
              </a:solidFill>
              <a:effectLst/>
              <a:latin typeface="Selawik Semibold" panose="020B0702040204020203" pitchFamily="34" charset="0"/>
            </a:endParaRPr>
          </a:p>
          <a:p>
            <a:pPr marL="377100" lvl="1" indent="0">
              <a:spcBef>
                <a:spcPts val="0"/>
              </a:spcBef>
              <a:spcAft>
                <a:spcPts val="0"/>
              </a:spcAft>
              <a:buClr>
                <a:srgbClr val="D34817"/>
              </a:buClr>
              <a:buSzPct val="100000"/>
              <a:buFont typeface="Wingdings" panose="05000000000000000000" pitchFamily="2" charset="2"/>
              <a:buChar char="v"/>
            </a:pPr>
            <a:endParaRPr lang="en-US" sz="2000" dirty="0">
              <a:effectLst/>
              <a:latin typeface="Selawik Semibold" panose="020B0702040204020203" pitchFamily="34" charset="0"/>
            </a:endParaRPr>
          </a:p>
        </p:txBody>
      </p:sp>
      <p:pic>
        <p:nvPicPr>
          <p:cNvPr id="40" name="Graphic 39" descr="Football">
            <a:extLst>
              <a:ext uri="{FF2B5EF4-FFF2-40B4-BE49-F238E27FC236}">
                <a16:creationId xmlns:a16="http://schemas.microsoft.com/office/drawing/2014/main" id="{43103FBA-298C-4A8C-8E68-C9DFEB1CFA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7272" y="232079"/>
            <a:ext cx="1406766" cy="1406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020441A-C920-4B5D-B423-02BDA4A265D5}"/>
              </a:ext>
            </a:extLst>
          </p:cNvPr>
          <p:cNvSpPr/>
          <p:nvPr/>
        </p:nvSpPr>
        <p:spPr>
          <a:xfrm>
            <a:off x="0" y="6363870"/>
            <a:ext cx="12192000" cy="280807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A0A4F6-DDDF-466F-B88A-4EAD2319B32D}"/>
              </a:ext>
            </a:extLst>
          </p:cNvPr>
          <p:cNvSpPr/>
          <p:nvPr/>
        </p:nvSpPr>
        <p:spPr>
          <a:xfrm>
            <a:off x="10402110" y="528506"/>
            <a:ext cx="1789889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668F5-2350-4974-AA4D-876D0CD42EDD}"/>
              </a:ext>
            </a:extLst>
          </p:cNvPr>
          <p:cNvSpPr/>
          <p:nvPr/>
        </p:nvSpPr>
        <p:spPr>
          <a:xfrm>
            <a:off x="-112743" y="528506"/>
            <a:ext cx="470541" cy="813912"/>
          </a:xfrm>
          <a:prstGeom prst="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Football">
            <a:extLst>
              <a:ext uri="{FF2B5EF4-FFF2-40B4-BE49-F238E27FC236}">
                <a16:creationId xmlns:a16="http://schemas.microsoft.com/office/drawing/2014/main" id="{BBBD34EB-97F5-4783-BE1A-4ADD4D05EB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182" y="210495"/>
            <a:ext cx="1406766" cy="14067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FCDC1F-FAA3-6E9A-20A9-D830103F7D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142" y="2324506"/>
            <a:ext cx="11346396" cy="2596315"/>
          </a:xfrm>
          <a:prstGeom prst="rect">
            <a:avLst/>
          </a:prstGeom>
          <a:ln w="38100">
            <a:solidFill>
              <a:srgbClr val="D34817"/>
            </a:solidFill>
          </a:ln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11EFEB5-9280-4891-A4BF-E89FEF9B37CB}"/>
              </a:ext>
            </a:extLst>
          </p:cNvPr>
          <p:cNvSpPr/>
          <p:nvPr/>
        </p:nvSpPr>
        <p:spPr>
          <a:xfrm>
            <a:off x="4214917" y="3450817"/>
            <a:ext cx="1421954" cy="461426"/>
          </a:xfrm>
          <a:prstGeom prst="ellipse">
            <a:avLst/>
          </a:prstGeom>
          <a:noFill/>
          <a:ln w="38100">
            <a:solidFill>
              <a:srgbClr val="D348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9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&#10;&#10;Description automatically generated">
            <a:extLst>
              <a:ext uri="{FF2B5EF4-FFF2-40B4-BE49-F238E27FC236}">
                <a16:creationId xmlns:a16="http://schemas.microsoft.com/office/drawing/2014/main" id="{48589EA3-03B9-4D42-8282-8AC52D63CB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05" r="19804" b="-1"/>
          <a:stretch/>
        </p:blipFill>
        <p:spPr>
          <a:xfrm>
            <a:off x="0" y="0"/>
            <a:ext cx="602414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ln w="28575">
            <a:noFill/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B9C460C-DD3D-4F1C-9FEE-8EC7228DF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0235" y="890427"/>
            <a:ext cx="4577335" cy="1264588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6000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Final </a:t>
            </a:r>
            <a:br>
              <a:rPr lang="en-US" sz="6000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</a:br>
            <a:r>
              <a:rPr lang="en-US" sz="6000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Inspiration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EFC1D832-5298-413A-ACCB-93C0C72C636D}"/>
              </a:ext>
            </a:extLst>
          </p:cNvPr>
          <p:cNvSpPr txBox="1">
            <a:spLocks/>
          </p:cNvSpPr>
          <p:nvPr/>
        </p:nvSpPr>
        <p:spPr>
          <a:xfrm>
            <a:off x="5307645" y="4702986"/>
            <a:ext cx="6639939" cy="3247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800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If you don’t remember if you played football, you probably played football.</a:t>
            </a:r>
          </a:p>
          <a:p>
            <a:pPr algn="r"/>
            <a:endParaRPr lang="en-US" sz="2800" dirty="0">
              <a:solidFill>
                <a:schemeClr val="bg2">
                  <a:lumMod val="10000"/>
                  <a:lumOff val="90000"/>
                </a:schemeClr>
              </a:solidFill>
              <a:latin typeface="Selawik Semibold" panose="020B0702040204020203" pitchFamily="34" charset="0"/>
            </a:endParaRPr>
          </a:p>
          <a:p>
            <a:pPr algn="r"/>
            <a:r>
              <a:rPr lang="en-US" sz="2800" dirty="0">
                <a:solidFill>
                  <a:schemeClr val="bg2">
                    <a:lumMod val="10000"/>
                    <a:lumOff val="90000"/>
                  </a:schemeClr>
                </a:solidFill>
                <a:latin typeface="Selawik Semibold" panose="020B0702040204020203" pitchFamily="34" charset="0"/>
              </a:rPr>
              <a:t>- Mahatma Mario </a:t>
            </a:r>
          </a:p>
          <a:p>
            <a:pPr lvl="2" algn="r"/>
            <a:endParaRPr lang="en-US" sz="2800" dirty="0">
              <a:solidFill>
                <a:schemeClr val="tx1">
                  <a:lumMod val="85000"/>
                </a:schemeClr>
              </a:solidFill>
              <a:latin typeface="Selawik Semibold" panose="020B0702040204020203" pitchFamily="34" charset="0"/>
            </a:endParaRPr>
          </a:p>
          <a:p>
            <a:pPr lvl="2" algn="r"/>
            <a:endParaRPr lang="en-US" sz="2800" dirty="0">
              <a:solidFill>
                <a:schemeClr val="tx1">
                  <a:lumMod val="85000"/>
                </a:schemeClr>
              </a:solidFill>
              <a:latin typeface="Selawik Semibold" panose="020B0702040204020203" pitchFamily="34" charset="0"/>
            </a:endParaRPr>
          </a:p>
          <a:p>
            <a:pPr lvl="2" algn="r"/>
            <a:endParaRPr lang="en-US" sz="2800" dirty="0">
              <a:solidFill>
                <a:schemeClr val="tx1">
                  <a:lumMod val="85000"/>
                </a:schemeClr>
              </a:solidFill>
              <a:latin typeface="Selawik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4750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1399</TotalTime>
  <Words>438</Words>
  <Application>Microsoft Office PowerPoint</Application>
  <PresentationFormat>Widescreen</PresentationFormat>
  <Paragraphs>104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Calisto MT</vt:lpstr>
      <vt:lpstr>Cambria Math</vt:lpstr>
      <vt:lpstr>Selawik Semibold</vt:lpstr>
      <vt:lpstr>Wingdings</vt:lpstr>
      <vt:lpstr>Wingdings 2</vt:lpstr>
      <vt:lpstr>Slate</vt:lpstr>
      <vt:lpstr>Football I</vt:lpstr>
      <vt:lpstr>Overview of Football</vt:lpstr>
      <vt:lpstr>What Makes Teams Win</vt:lpstr>
      <vt:lpstr>What Makes Teams Win</vt:lpstr>
      <vt:lpstr>What Makes Teams Win</vt:lpstr>
      <vt:lpstr>What Makes Teams Win</vt:lpstr>
      <vt:lpstr>What Makes Teams Win</vt:lpstr>
      <vt:lpstr>What Makes Teams Win</vt:lpstr>
      <vt:lpstr>What Makes Teams Win</vt:lpstr>
      <vt:lpstr>What Makes Teams Win</vt:lpstr>
      <vt:lpstr>Final  Inspiration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 I</dc:title>
  <dc:creator>Super Mario</dc:creator>
  <cp:lastModifiedBy>Giacomazzo, Mario Sy John</cp:lastModifiedBy>
  <cp:revision>32</cp:revision>
  <dcterms:created xsi:type="dcterms:W3CDTF">2019-10-09T02:19:47Z</dcterms:created>
  <dcterms:modified xsi:type="dcterms:W3CDTF">2026-04-10T17:24:29Z</dcterms:modified>
</cp:coreProperties>
</file>