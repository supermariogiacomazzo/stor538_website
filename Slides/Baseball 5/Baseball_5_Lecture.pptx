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98" r:id="rId2"/>
    <p:sldId id="332" r:id="rId3"/>
    <p:sldId id="337" r:id="rId4"/>
    <p:sldId id="338" r:id="rId5"/>
    <p:sldId id="333" r:id="rId6"/>
    <p:sldId id="334" r:id="rId7"/>
    <p:sldId id="335" r:id="rId8"/>
    <p:sldId id="339" r:id="rId9"/>
    <p:sldId id="340" r:id="rId10"/>
    <p:sldId id="336" r:id="rId11"/>
    <p:sldId id="341" r:id="rId12"/>
    <p:sldId id="342" r:id="rId13"/>
    <p:sldId id="343" r:id="rId14"/>
    <p:sldId id="281"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95583"/>
    <a:srgbClr val="FF0000"/>
    <a:srgbClr val="F76464"/>
    <a:srgbClr val="882E2E"/>
    <a:srgbClr val="DB5B5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20" autoAdjust="0"/>
    <p:restoredTop sz="94991" autoAdjust="0"/>
  </p:normalViewPr>
  <p:slideViewPr>
    <p:cSldViewPr snapToGrid="0">
      <p:cViewPr varScale="1">
        <p:scale>
          <a:sx n="96" d="100"/>
          <a:sy n="96" d="100"/>
        </p:scale>
        <p:origin x="-32" y="80"/>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4E5E84-956F-4423-97B3-5936A6D8EEEE}" type="datetimeFigureOut">
              <a:rPr lang="en-US" smtClean="0"/>
              <a:t>2/20/2026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3D9EF6-5B6D-4923-9412-628692DCC0E7}" type="slidenum">
              <a:rPr lang="en-US" smtClean="0"/>
              <a:t>‹#›</a:t>
            </a:fld>
            <a:endParaRPr lang="en-US"/>
          </a:p>
        </p:txBody>
      </p:sp>
    </p:spTree>
    <p:extLst>
      <p:ext uri="{BB962C8B-B14F-4D97-AF65-F5344CB8AC3E}">
        <p14:creationId xmlns:p14="http://schemas.microsoft.com/office/powerpoint/2010/main" val="3069903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EFD90-18A5-461A-97B5-BF5D964D241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AF3264F-69B9-437C-A766-FC30EF0FB9BF}"/>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BA968FE-277D-4FAE-A16D-32913B016159}"/>
              </a:ext>
            </a:extLst>
          </p:cNvPr>
          <p:cNvSpPr>
            <a:spLocks noGrp="1"/>
          </p:cNvSpPr>
          <p:nvPr>
            <p:ph type="dt" sz="half" idx="10"/>
          </p:nvPr>
        </p:nvSpPr>
        <p:spPr/>
        <p:txBody>
          <a:bodyPr/>
          <a:lstStyle/>
          <a:p>
            <a:fld id="{3881C039-66A3-4640-815B-3B5A8B7D868D}" type="datetimeFigureOut">
              <a:rPr lang="en-US" smtClean="0"/>
              <a:t>2/20/2026</a:t>
            </a:fld>
            <a:endParaRPr lang="en-US"/>
          </a:p>
        </p:txBody>
      </p:sp>
      <p:sp>
        <p:nvSpPr>
          <p:cNvPr id="5" name="Footer Placeholder 4">
            <a:extLst>
              <a:ext uri="{FF2B5EF4-FFF2-40B4-BE49-F238E27FC236}">
                <a16:creationId xmlns:a16="http://schemas.microsoft.com/office/drawing/2014/main" id="{FF0A93C4-52E7-4696-B94F-37CFF7B9A7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F3EB5F3-DE9E-4FD6-B37A-94BE3D410252}"/>
              </a:ext>
            </a:extLst>
          </p:cNvPr>
          <p:cNvSpPr>
            <a:spLocks noGrp="1"/>
          </p:cNvSpPr>
          <p:nvPr>
            <p:ph type="sldNum" sz="quarter" idx="12"/>
          </p:nvPr>
        </p:nvSpPr>
        <p:spPr/>
        <p:txBody>
          <a:bodyPr/>
          <a:lstStyle/>
          <a:p>
            <a:fld id="{168EBC32-F1AB-4BBF-A78B-0246EAD7515F}" type="slidenum">
              <a:rPr lang="en-US" smtClean="0"/>
              <a:t>‹#›</a:t>
            </a:fld>
            <a:endParaRPr lang="en-US"/>
          </a:p>
        </p:txBody>
      </p:sp>
    </p:spTree>
    <p:extLst>
      <p:ext uri="{BB962C8B-B14F-4D97-AF65-F5344CB8AC3E}">
        <p14:creationId xmlns:p14="http://schemas.microsoft.com/office/powerpoint/2010/main" val="12155917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CEA10-8D81-465C-81FF-EA62D730A38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CE3FD49-B406-49EC-8015-D32BF2193D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B6DA73-9FF6-4552-830B-36445060495E}"/>
              </a:ext>
            </a:extLst>
          </p:cNvPr>
          <p:cNvSpPr>
            <a:spLocks noGrp="1"/>
          </p:cNvSpPr>
          <p:nvPr>
            <p:ph type="dt" sz="half" idx="10"/>
          </p:nvPr>
        </p:nvSpPr>
        <p:spPr/>
        <p:txBody>
          <a:bodyPr/>
          <a:lstStyle/>
          <a:p>
            <a:fld id="{3881C039-66A3-4640-815B-3B5A8B7D868D}" type="datetimeFigureOut">
              <a:rPr lang="en-US" smtClean="0"/>
              <a:t>2/20/2026</a:t>
            </a:fld>
            <a:endParaRPr lang="en-US"/>
          </a:p>
        </p:txBody>
      </p:sp>
      <p:sp>
        <p:nvSpPr>
          <p:cNvPr id="5" name="Footer Placeholder 4">
            <a:extLst>
              <a:ext uri="{FF2B5EF4-FFF2-40B4-BE49-F238E27FC236}">
                <a16:creationId xmlns:a16="http://schemas.microsoft.com/office/drawing/2014/main" id="{25584263-C145-4184-9AB8-C0184BF6D7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4AD532-E280-4728-A9EE-56C0B5124D79}"/>
              </a:ext>
            </a:extLst>
          </p:cNvPr>
          <p:cNvSpPr>
            <a:spLocks noGrp="1"/>
          </p:cNvSpPr>
          <p:nvPr>
            <p:ph type="sldNum" sz="quarter" idx="12"/>
          </p:nvPr>
        </p:nvSpPr>
        <p:spPr/>
        <p:txBody>
          <a:bodyPr/>
          <a:lstStyle/>
          <a:p>
            <a:fld id="{168EBC32-F1AB-4BBF-A78B-0246EAD7515F}" type="slidenum">
              <a:rPr lang="en-US" smtClean="0"/>
              <a:t>‹#›</a:t>
            </a:fld>
            <a:endParaRPr lang="en-US"/>
          </a:p>
        </p:txBody>
      </p:sp>
    </p:spTree>
    <p:extLst>
      <p:ext uri="{BB962C8B-B14F-4D97-AF65-F5344CB8AC3E}">
        <p14:creationId xmlns:p14="http://schemas.microsoft.com/office/powerpoint/2010/main" val="489644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CD4AA-A53E-4146-9CDB-2F0A94CD3BB2}"/>
              </a:ext>
            </a:extLst>
          </p:cNvPr>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9A2CE9F-D854-4A48-8BE9-C34C23BB5CDA}"/>
              </a:ext>
            </a:extLst>
          </p:cNvPr>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3F39BC-7DAB-4116-847E-1920F11F97EB}"/>
              </a:ext>
            </a:extLst>
          </p:cNvPr>
          <p:cNvSpPr>
            <a:spLocks noGrp="1"/>
          </p:cNvSpPr>
          <p:nvPr>
            <p:ph type="dt" sz="half" idx="10"/>
          </p:nvPr>
        </p:nvSpPr>
        <p:spPr/>
        <p:txBody>
          <a:bodyPr/>
          <a:lstStyle/>
          <a:p>
            <a:fld id="{3881C039-66A3-4640-815B-3B5A8B7D868D}" type="datetimeFigureOut">
              <a:rPr lang="en-US" smtClean="0"/>
              <a:t>2/20/2026</a:t>
            </a:fld>
            <a:endParaRPr lang="en-US"/>
          </a:p>
        </p:txBody>
      </p:sp>
      <p:sp>
        <p:nvSpPr>
          <p:cNvPr id="5" name="Footer Placeholder 4">
            <a:extLst>
              <a:ext uri="{FF2B5EF4-FFF2-40B4-BE49-F238E27FC236}">
                <a16:creationId xmlns:a16="http://schemas.microsoft.com/office/drawing/2014/main" id="{FA1FE6BE-067B-4573-98ED-6E55CD1B6B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6B43CF-83B4-43C4-AB95-4DB39B461DD2}"/>
              </a:ext>
            </a:extLst>
          </p:cNvPr>
          <p:cNvSpPr>
            <a:spLocks noGrp="1"/>
          </p:cNvSpPr>
          <p:nvPr>
            <p:ph type="sldNum" sz="quarter" idx="12"/>
          </p:nvPr>
        </p:nvSpPr>
        <p:spPr/>
        <p:txBody>
          <a:bodyPr/>
          <a:lstStyle/>
          <a:p>
            <a:fld id="{168EBC32-F1AB-4BBF-A78B-0246EAD7515F}" type="slidenum">
              <a:rPr lang="en-US" smtClean="0"/>
              <a:t>‹#›</a:t>
            </a:fld>
            <a:endParaRPr lang="en-US"/>
          </a:p>
        </p:txBody>
      </p:sp>
    </p:spTree>
    <p:extLst>
      <p:ext uri="{BB962C8B-B14F-4D97-AF65-F5344CB8AC3E}">
        <p14:creationId xmlns:p14="http://schemas.microsoft.com/office/powerpoint/2010/main" val="32122059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B937E-605B-4EAD-A5F0-E4BE629609B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88AECCE-AF5E-48A1-92E9-086187BFA4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D40F2E-CBC6-4A0E-943C-CC4C0CE7910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E68192-586B-4EC7-8DA5-137D4E3B4082}"/>
              </a:ext>
            </a:extLst>
          </p:cNvPr>
          <p:cNvSpPr>
            <a:spLocks noGrp="1"/>
          </p:cNvSpPr>
          <p:nvPr>
            <p:ph type="dt" sz="half" idx="10"/>
          </p:nvPr>
        </p:nvSpPr>
        <p:spPr/>
        <p:txBody>
          <a:bodyPr/>
          <a:lstStyle/>
          <a:p>
            <a:fld id="{3881C039-66A3-4640-815B-3B5A8B7D868D}" type="datetimeFigureOut">
              <a:rPr lang="en-US" smtClean="0"/>
              <a:t>2/20/2026</a:t>
            </a:fld>
            <a:endParaRPr lang="en-US"/>
          </a:p>
        </p:txBody>
      </p:sp>
      <p:sp>
        <p:nvSpPr>
          <p:cNvPr id="6" name="Footer Placeholder 5">
            <a:extLst>
              <a:ext uri="{FF2B5EF4-FFF2-40B4-BE49-F238E27FC236}">
                <a16:creationId xmlns:a16="http://schemas.microsoft.com/office/drawing/2014/main" id="{1AD5F421-F128-432A-86E5-27970BF4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E0C05C-066A-4700-BD42-A159CD70D2DC}"/>
              </a:ext>
            </a:extLst>
          </p:cNvPr>
          <p:cNvSpPr>
            <a:spLocks noGrp="1"/>
          </p:cNvSpPr>
          <p:nvPr>
            <p:ph type="sldNum" sz="quarter" idx="12"/>
          </p:nvPr>
        </p:nvSpPr>
        <p:spPr/>
        <p:txBody>
          <a:bodyPr/>
          <a:lstStyle/>
          <a:p>
            <a:fld id="{168EBC32-F1AB-4BBF-A78B-0246EAD7515F}" type="slidenum">
              <a:rPr lang="en-US" smtClean="0"/>
              <a:t>‹#›</a:t>
            </a:fld>
            <a:endParaRPr lang="en-US"/>
          </a:p>
        </p:txBody>
      </p:sp>
    </p:spTree>
    <p:extLst>
      <p:ext uri="{BB962C8B-B14F-4D97-AF65-F5344CB8AC3E}">
        <p14:creationId xmlns:p14="http://schemas.microsoft.com/office/powerpoint/2010/main" val="11440000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AA41D-7EC3-449B-851E-0F77B8336CD8}"/>
              </a:ext>
            </a:extLst>
          </p:cNvPr>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D0C785B-10A6-4B50-B1BC-1A17305F31F9}"/>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FCAF710-8ED1-4FE8-9EE1-B574629CAC1A}"/>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4C2A21A-3F2A-4824-BCE2-9A7772A8C210}"/>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67A615-D4BC-4095-9C20-CD4F9BF98446}"/>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CCCACE0-B120-48AC-AF25-A247F93B62FB}"/>
              </a:ext>
            </a:extLst>
          </p:cNvPr>
          <p:cNvSpPr>
            <a:spLocks noGrp="1"/>
          </p:cNvSpPr>
          <p:nvPr>
            <p:ph type="dt" sz="half" idx="10"/>
          </p:nvPr>
        </p:nvSpPr>
        <p:spPr/>
        <p:txBody>
          <a:bodyPr/>
          <a:lstStyle/>
          <a:p>
            <a:fld id="{3881C039-66A3-4640-815B-3B5A8B7D868D}" type="datetimeFigureOut">
              <a:rPr lang="en-US" smtClean="0"/>
              <a:t>2/20/2026</a:t>
            </a:fld>
            <a:endParaRPr lang="en-US"/>
          </a:p>
        </p:txBody>
      </p:sp>
      <p:sp>
        <p:nvSpPr>
          <p:cNvPr id="8" name="Footer Placeholder 7">
            <a:extLst>
              <a:ext uri="{FF2B5EF4-FFF2-40B4-BE49-F238E27FC236}">
                <a16:creationId xmlns:a16="http://schemas.microsoft.com/office/drawing/2014/main" id="{DB8BC188-04E8-4C76-968E-6726720F3AB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CD8CCCD-71D1-4F3F-A403-6224E3F85047}"/>
              </a:ext>
            </a:extLst>
          </p:cNvPr>
          <p:cNvSpPr>
            <a:spLocks noGrp="1"/>
          </p:cNvSpPr>
          <p:nvPr>
            <p:ph type="sldNum" sz="quarter" idx="12"/>
          </p:nvPr>
        </p:nvSpPr>
        <p:spPr/>
        <p:txBody>
          <a:bodyPr/>
          <a:lstStyle/>
          <a:p>
            <a:fld id="{168EBC32-F1AB-4BBF-A78B-0246EAD7515F}" type="slidenum">
              <a:rPr lang="en-US" smtClean="0"/>
              <a:t>‹#›</a:t>
            </a:fld>
            <a:endParaRPr lang="en-US"/>
          </a:p>
        </p:txBody>
      </p:sp>
    </p:spTree>
    <p:extLst>
      <p:ext uri="{BB962C8B-B14F-4D97-AF65-F5344CB8AC3E}">
        <p14:creationId xmlns:p14="http://schemas.microsoft.com/office/powerpoint/2010/main" val="26084466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9B1AC-EC2A-4BD4-91CC-AFB7D17F812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C65E60F-4C44-4CAF-AB05-25729A2AB186}"/>
              </a:ext>
            </a:extLst>
          </p:cNvPr>
          <p:cNvSpPr>
            <a:spLocks noGrp="1"/>
          </p:cNvSpPr>
          <p:nvPr>
            <p:ph type="dt" sz="half" idx="10"/>
          </p:nvPr>
        </p:nvSpPr>
        <p:spPr/>
        <p:txBody>
          <a:bodyPr/>
          <a:lstStyle/>
          <a:p>
            <a:fld id="{3881C039-66A3-4640-815B-3B5A8B7D868D}" type="datetimeFigureOut">
              <a:rPr lang="en-US" smtClean="0"/>
              <a:t>2/20/2026</a:t>
            </a:fld>
            <a:endParaRPr lang="en-US"/>
          </a:p>
        </p:txBody>
      </p:sp>
      <p:sp>
        <p:nvSpPr>
          <p:cNvPr id="4" name="Footer Placeholder 3">
            <a:extLst>
              <a:ext uri="{FF2B5EF4-FFF2-40B4-BE49-F238E27FC236}">
                <a16:creationId xmlns:a16="http://schemas.microsoft.com/office/drawing/2014/main" id="{843677B5-CBF4-4458-93AE-155D078C4CF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BE60569-84C5-4DF4-A2BF-DCB0FEF49987}"/>
              </a:ext>
            </a:extLst>
          </p:cNvPr>
          <p:cNvSpPr>
            <a:spLocks noGrp="1"/>
          </p:cNvSpPr>
          <p:nvPr>
            <p:ph type="sldNum" sz="quarter" idx="12"/>
          </p:nvPr>
        </p:nvSpPr>
        <p:spPr/>
        <p:txBody>
          <a:bodyPr/>
          <a:lstStyle/>
          <a:p>
            <a:fld id="{168EBC32-F1AB-4BBF-A78B-0246EAD7515F}" type="slidenum">
              <a:rPr lang="en-US" smtClean="0"/>
              <a:t>‹#›</a:t>
            </a:fld>
            <a:endParaRPr lang="en-US"/>
          </a:p>
        </p:txBody>
      </p:sp>
    </p:spTree>
    <p:extLst>
      <p:ext uri="{BB962C8B-B14F-4D97-AF65-F5344CB8AC3E}">
        <p14:creationId xmlns:p14="http://schemas.microsoft.com/office/powerpoint/2010/main" val="40836249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3ED8FF8-0842-405C-9C34-FB6F4841C5E7}"/>
              </a:ext>
            </a:extLst>
          </p:cNvPr>
          <p:cNvSpPr>
            <a:spLocks noGrp="1"/>
          </p:cNvSpPr>
          <p:nvPr>
            <p:ph type="dt" sz="half" idx="10"/>
          </p:nvPr>
        </p:nvSpPr>
        <p:spPr/>
        <p:txBody>
          <a:bodyPr/>
          <a:lstStyle/>
          <a:p>
            <a:fld id="{3881C039-66A3-4640-815B-3B5A8B7D868D}" type="datetimeFigureOut">
              <a:rPr lang="en-US" smtClean="0"/>
              <a:t>2/20/2026</a:t>
            </a:fld>
            <a:endParaRPr lang="en-US"/>
          </a:p>
        </p:txBody>
      </p:sp>
      <p:sp>
        <p:nvSpPr>
          <p:cNvPr id="3" name="Footer Placeholder 2">
            <a:extLst>
              <a:ext uri="{FF2B5EF4-FFF2-40B4-BE49-F238E27FC236}">
                <a16:creationId xmlns:a16="http://schemas.microsoft.com/office/drawing/2014/main" id="{01E4E9F5-EE5B-46BE-BE67-A4A9E1FDCFA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5B2951-4B33-4835-9113-9811879263EA}"/>
              </a:ext>
            </a:extLst>
          </p:cNvPr>
          <p:cNvSpPr>
            <a:spLocks noGrp="1"/>
          </p:cNvSpPr>
          <p:nvPr>
            <p:ph type="sldNum" sz="quarter" idx="12"/>
          </p:nvPr>
        </p:nvSpPr>
        <p:spPr/>
        <p:txBody>
          <a:bodyPr/>
          <a:lstStyle/>
          <a:p>
            <a:fld id="{168EBC32-F1AB-4BBF-A78B-0246EAD7515F}" type="slidenum">
              <a:rPr lang="en-US" smtClean="0"/>
              <a:t>‹#›</a:t>
            </a:fld>
            <a:endParaRPr lang="en-US"/>
          </a:p>
        </p:txBody>
      </p:sp>
    </p:spTree>
    <p:extLst>
      <p:ext uri="{BB962C8B-B14F-4D97-AF65-F5344CB8AC3E}">
        <p14:creationId xmlns:p14="http://schemas.microsoft.com/office/powerpoint/2010/main" val="36241583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2DF96-69DF-4F06-A7B9-F6AEDE53E7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B0C669-C0D6-43D8-BDC1-428B0BFDB357}"/>
              </a:ext>
            </a:extLst>
          </p:cNvPr>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2557871-B9A5-4AF1-8C22-5EFAB20D0611}"/>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480336-9845-4157-B43A-2DA162111C1E}"/>
              </a:ext>
            </a:extLst>
          </p:cNvPr>
          <p:cNvSpPr>
            <a:spLocks noGrp="1"/>
          </p:cNvSpPr>
          <p:nvPr>
            <p:ph type="dt" sz="half" idx="10"/>
          </p:nvPr>
        </p:nvSpPr>
        <p:spPr/>
        <p:txBody>
          <a:bodyPr/>
          <a:lstStyle/>
          <a:p>
            <a:fld id="{3881C039-66A3-4640-815B-3B5A8B7D868D}" type="datetimeFigureOut">
              <a:rPr lang="en-US" smtClean="0"/>
              <a:t>2/20/2026</a:t>
            </a:fld>
            <a:endParaRPr lang="en-US"/>
          </a:p>
        </p:txBody>
      </p:sp>
      <p:sp>
        <p:nvSpPr>
          <p:cNvPr id="6" name="Footer Placeholder 5">
            <a:extLst>
              <a:ext uri="{FF2B5EF4-FFF2-40B4-BE49-F238E27FC236}">
                <a16:creationId xmlns:a16="http://schemas.microsoft.com/office/drawing/2014/main" id="{6D1BBC2E-00D4-4B98-A70F-8B43C65407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F0F678-C6B2-4319-AFF1-E313FB2D315B}"/>
              </a:ext>
            </a:extLst>
          </p:cNvPr>
          <p:cNvSpPr>
            <a:spLocks noGrp="1"/>
          </p:cNvSpPr>
          <p:nvPr>
            <p:ph type="sldNum" sz="quarter" idx="12"/>
          </p:nvPr>
        </p:nvSpPr>
        <p:spPr/>
        <p:txBody>
          <a:bodyPr/>
          <a:lstStyle/>
          <a:p>
            <a:fld id="{168EBC32-F1AB-4BBF-A78B-0246EAD7515F}" type="slidenum">
              <a:rPr lang="en-US" smtClean="0"/>
              <a:t>‹#›</a:t>
            </a:fld>
            <a:endParaRPr lang="en-US"/>
          </a:p>
        </p:txBody>
      </p:sp>
    </p:spTree>
    <p:extLst>
      <p:ext uri="{BB962C8B-B14F-4D97-AF65-F5344CB8AC3E}">
        <p14:creationId xmlns:p14="http://schemas.microsoft.com/office/powerpoint/2010/main" val="16450187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38E65-2B5B-449C-9BD6-052C2D705BE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0A7755-3ABB-4B90-9CA8-8F1C1DE30FD2}"/>
              </a:ext>
            </a:extLst>
          </p:cNvPr>
          <p:cNvSpPr>
            <a:spLocks noGrp="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a:extLst>
              <a:ext uri="{FF2B5EF4-FFF2-40B4-BE49-F238E27FC236}">
                <a16:creationId xmlns:a16="http://schemas.microsoft.com/office/drawing/2014/main" id="{472AF249-C3B4-48AC-8A9B-0AE4691673A5}"/>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E72F56-0F14-4C38-A91D-F297CE545EED}"/>
              </a:ext>
            </a:extLst>
          </p:cNvPr>
          <p:cNvSpPr>
            <a:spLocks noGrp="1"/>
          </p:cNvSpPr>
          <p:nvPr>
            <p:ph type="dt" sz="half" idx="10"/>
          </p:nvPr>
        </p:nvSpPr>
        <p:spPr/>
        <p:txBody>
          <a:bodyPr/>
          <a:lstStyle/>
          <a:p>
            <a:fld id="{3881C039-66A3-4640-815B-3B5A8B7D868D}" type="datetimeFigureOut">
              <a:rPr lang="en-US" smtClean="0"/>
              <a:t>2/20/2026</a:t>
            </a:fld>
            <a:endParaRPr lang="en-US"/>
          </a:p>
        </p:txBody>
      </p:sp>
      <p:sp>
        <p:nvSpPr>
          <p:cNvPr id="6" name="Footer Placeholder 5">
            <a:extLst>
              <a:ext uri="{FF2B5EF4-FFF2-40B4-BE49-F238E27FC236}">
                <a16:creationId xmlns:a16="http://schemas.microsoft.com/office/drawing/2014/main" id="{C3CEE1E0-7248-4931-83D5-B20FBF601B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7E2062-542F-4254-A653-03548B1A2A17}"/>
              </a:ext>
            </a:extLst>
          </p:cNvPr>
          <p:cNvSpPr>
            <a:spLocks noGrp="1"/>
          </p:cNvSpPr>
          <p:nvPr>
            <p:ph type="sldNum" sz="quarter" idx="12"/>
          </p:nvPr>
        </p:nvSpPr>
        <p:spPr/>
        <p:txBody>
          <a:bodyPr/>
          <a:lstStyle/>
          <a:p>
            <a:fld id="{168EBC32-F1AB-4BBF-A78B-0246EAD7515F}" type="slidenum">
              <a:rPr lang="en-US" smtClean="0"/>
              <a:t>‹#›</a:t>
            </a:fld>
            <a:endParaRPr lang="en-US"/>
          </a:p>
        </p:txBody>
      </p:sp>
    </p:spTree>
    <p:extLst>
      <p:ext uri="{BB962C8B-B14F-4D97-AF65-F5344CB8AC3E}">
        <p14:creationId xmlns:p14="http://schemas.microsoft.com/office/powerpoint/2010/main" val="27206468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3CD8C-6E53-4F40-8380-A92F3B9949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C38C0C9-02DA-4CEC-85ED-72230B05439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6F42F39-2249-4A7F-A3D2-6D10985A264F}"/>
              </a:ext>
            </a:extLst>
          </p:cNvPr>
          <p:cNvSpPr>
            <a:spLocks noGrp="1"/>
          </p:cNvSpPr>
          <p:nvPr>
            <p:ph type="dt" sz="half" idx="10"/>
          </p:nvPr>
        </p:nvSpPr>
        <p:spPr/>
        <p:txBody>
          <a:bodyPr/>
          <a:lstStyle/>
          <a:p>
            <a:fld id="{3881C039-66A3-4640-815B-3B5A8B7D868D}" type="datetimeFigureOut">
              <a:rPr lang="en-US" smtClean="0"/>
              <a:t>2/20/2026</a:t>
            </a:fld>
            <a:endParaRPr lang="en-US"/>
          </a:p>
        </p:txBody>
      </p:sp>
      <p:sp>
        <p:nvSpPr>
          <p:cNvPr id="5" name="Footer Placeholder 4">
            <a:extLst>
              <a:ext uri="{FF2B5EF4-FFF2-40B4-BE49-F238E27FC236}">
                <a16:creationId xmlns:a16="http://schemas.microsoft.com/office/drawing/2014/main" id="{77F54834-23F0-4572-9180-C7FD815223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199F3B-3D9B-4B75-96D1-264C43EE847B}"/>
              </a:ext>
            </a:extLst>
          </p:cNvPr>
          <p:cNvSpPr>
            <a:spLocks noGrp="1"/>
          </p:cNvSpPr>
          <p:nvPr>
            <p:ph type="sldNum" sz="quarter" idx="12"/>
          </p:nvPr>
        </p:nvSpPr>
        <p:spPr/>
        <p:txBody>
          <a:bodyPr/>
          <a:lstStyle/>
          <a:p>
            <a:fld id="{168EBC32-F1AB-4BBF-A78B-0246EAD7515F}" type="slidenum">
              <a:rPr lang="en-US" smtClean="0"/>
              <a:t>‹#›</a:t>
            </a:fld>
            <a:endParaRPr lang="en-US"/>
          </a:p>
        </p:txBody>
      </p:sp>
    </p:spTree>
    <p:extLst>
      <p:ext uri="{BB962C8B-B14F-4D97-AF65-F5344CB8AC3E}">
        <p14:creationId xmlns:p14="http://schemas.microsoft.com/office/powerpoint/2010/main" val="4055199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D029F3-D01E-4258-B9B7-98C4FCF705DC}"/>
              </a:ext>
            </a:extLst>
          </p:cNvPr>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A111006-B6E1-4AAD-84CD-B296071D5DE6}"/>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DFB41D-AAC0-41AD-B89E-2A54D14EBAB0}"/>
              </a:ext>
            </a:extLst>
          </p:cNvPr>
          <p:cNvSpPr>
            <a:spLocks noGrp="1"/>
          </p:cNvSpPr>
          <p:nvPr>
            <p:ph type="dt" sz="half" idx="10"/>
          </p:nvPr>
        </p:nvSpPr>
        <p:spPr/>
        <p:txBody>
          <a:bodyPr/>
          <a:lstStyle/>
          <a:p>
            <a:fld id="{3881C039-66A3-4640-815B-3B5A8B7D868D}" type="datetimeFigureOut">
              <a:rPr lang="en-US" smtClean="0"/>
              <a:t>2/20/2026</a:t>
            </a:fld>
            <a:endParaRPr lang="en-US"/>
          </a:p>
        </p:txBody>
      </p:sp>
      <p:sp>
        <p:nvSpPr>
          <p:cNvPr id="5" name="Footer Placeholder 4">
            <a:extLst>
              <a:ext uri="{FF2B5EF4-FFF2-40B4-BE49-F238E27FC236}">
                <a16:creationId xmlns:a16="http://schemas.microsoft.com/office/drawing/2014/main" id="{CDF6A8BA-9134-45A5-B9C2-7F06ACC05F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6D21FB-D40F-4086-B1EF-D48D15BEEE3B}"/>
              </a:ext>
            </a:extLst>
          </p:cNvPr>
          <p:cNvSpPr>
            <a:spLocks noGrp="1"/>
          </p:cNvSpPr>
          <p:nvPr>
            <p:ph type="sldNum" sz="quarter" idx="12"/>
          </p:nvPr>
        </p:nvSpPr>
        <p:spPr/>
        <p:txBody>
          <a:bodyPr/>
          <a:lstStyle/>
          <a:p>
            <a:fld id="{168EBC32-F1AB-4BBF-A78B-0246EAD7515F}" type="slidenum">
              <a:rPr lang="en-US" smtClean="0"/>
              <a:t>‹#›</a:t>
            </a:fld>
            <a:endParaRPr lang="en-US"/>
          </a:p>
        </p:txBody>
      </p:sp>
    </p:spTree>
    <p:extLst>
      <p:ext uri="{BB962C8B-B14F-4D97-AF65-F5344CB8AC3E}">
        <p14:creationId xmlns:p14="http://schemas.microsoft.com/office/powerpoint/2010/main" val="34429257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A398F0C-B37D-42DC-A26E-3F2DE9A084CA}"/>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A023FA3-1FB5-45B6-AED5-AA46BE35C4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060C43-94CF-49C0-969C-E320D7A0FA95}"/>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881C039-66A3-4640-815B-3B5A8B7D868D}" type="datetimeFigureOut">
              <a:rPr lang="en-US" smtClean="0"/>
              <a:t>2/20/2026</a:t>
            </a:fld>
            <a:endParaRPr lang="en-US"/>
          </a:p>
        </p:txBody>
      </p:sp>
      <p:sp>
        <p:nvSpPr>
          <p:cNvPr id="5" name="Footer Placeholder 4">
            <a:extLst>
              <a:ext uri="{FF2B5EF4-FFF2-40B4-BE49-F238E27FC236}">
                <a16:creationId xmlns:a16="http://schemas.microsoft.com/office/drawing/2014/main" id="{C8BB117C-3B02-46C9-8C04-D8B212580E57}"/>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6344BE7-C0B5-4B71-9B7D-446B8E2D9C81}"/>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8EBC32-F1AB-4BBF-A78B-0246EAD7515F}" type="slidenum">
              <a:rPr lang="en-US" smtClean="0"/>
              <a:t>‹#›</a:t>
            </a:fld>
            <a:endParaRPr lang="en-US"/>
          </a:p>
        </p:txBody>
      </p:sp>
    </p:spTree>
    <p:extLst>
      <p:ext uri="{BB962C8B-B14F-4D97-AF65-F5344CB8AC3E}">
        <p14:creationId xmlns:p14="http://schemas.microsoft.com/office/powerpoint/2010/main" val="37401777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jp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image" Target="../media/image80.png"/><Relationship Id="rId4" Type="http://schemas.openxmlformats.org/officeDocument/2006/relationships/image" Target="../media/image70.png"/></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4619768" y="0"/>
            <a:ext cx="7572232" cy="6858000"/>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EB5445C-8F3E-4F4B-B272-8D9F0BC492E8}"/>
              </a:ext>
            </a:extLst>
          </p:cNvPr>
          <p:cNvSpPr>
            <a:spLocks noGrp="1"/>
          </p:cNvSpPr>
          <p:nvPr>
            <p:ph type="ctrTitle"/>
          </p:nvPr>
        </p:nvSpPr>
        <p:spPr>
          <a:xfrm>
            <a:off x="4710659" y="839086"/>
            <a:ext cx="7572232" cy="930447"/>
          </a:xfrm>
        </p:spPr>
        <p:txBody>
          <a:bodyPr>
            <a:noAutofit/>
          </a:bodyPr>
          <a:lstStyle/>
          <a:p>
            <a:r>
              <a:rPr lang="en-US" sz="8000" dirty="0">
                <a:solidFill>
                  <a:srgbClr val="FFFFFF"/>
                </a:solidFill>
                <a:latin typeface="Selawik Semibold" panose="020B0702040204020203" pitchFamily="34" charset="0"/>
              </a:rPr>
              <a:t>Baseball V</a:t>
            </a:r>
          </a:p>
        </p:txBody>
      </p:sp>
      <p:sp>
        <p:nvSpPr>
          <p:cNvPr id="3" name="Subtitle 2">
            <a:extLst>
              <a:ext uri="{FF2B5EF4-FFF2-40B4-BE49-F238E27FC236}">
                <a16:creationId xmlns:a16="http://schemas.microsoft.com/office/drawing/2014/main" id="{FACC54F8-420D-42C9-AB41-8EA29A41128E}"/>
              </a:ext>
            </a:extLst>
          </p:cNvPr>
          <p:cNvSpPr>
            <a:spLocks noGrp="1"/>
          </p:cNvSpPr>
          <p:nvPr>
            <p:ph type="subTitle" idx="1"/>
          </p:nvPr>
        </p:nvSpPr>
        <p:spPr>
          <a:xfrm>
            <a:off x="4710659" y="6322061"/>
            <a:ext cx="7572232" cy="420001"/>
          </a:xfrm>
        </p:spPr>
        <p:txBody>
          <a:bodyPr>
            <a:noAutofit/>
          </a:bodyPr>
          <a:lstStyle/>
          <a:p>
            <a:r>
              <a:rPr lang="en-US" dirty="0">
                <a:solidFill>
                  <a:schemeClr val="bg1"/>
                </a:solidFill>
                <a:latin typeface="Selawik Semibold" panose="020B0702040204020203" pitchFamily="34" charset="0"/>
              </a:rPr>
              <a:t>Produced by Dr. Mario | UNC </a:t>
            </a:r>
            <a:r>
              <a:rPr lang="en-US">
                <a:solidFill>
                  <a:schemeClr val="bg1"/>
                </a:solidFill>
                <a:latin typeface="Selawik Semibold" panose="020B0702040204020203" pitchFamily="34" charset="0"/>
              </a:rPr>
              <a:t>STOR 538</a:t>
            </a:r>
            <a:endParaRPr lang="en-US" dirty="0">
              <a:solidFill>
                <a:schemeClr val="bg1"/>
              </a:solidFill>
              <a:latin typeface="Selawik Semibold" panose="020B0702040204020203" pitchFamily="34" charset="0"/>
            </a:endParaRPr>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87960" y="-104313"/>
            <a:ext cx="4707728" cy="6962313"/>
          </a:xfrm>
          <a:prstGeom prst="rect">
            <a:avLst/>
          </a:prstGeom>
        </p:spPr>
      </p:pic>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49547" y="2553611"/>
            <a:ext cx="2684015" cy="2684015"/>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3" name="Rectangle 32">
            <a:extLst>
              <a:ext uri="{FF2B5EF4-FFF2-40B4-BE49-F238E27FC236}">
                <a16:creationId xmlns:a16="http://schemas.microsoft.com/office/drawing/2014/main" id="{6F93929A-DE1C-47C4-AF97-F99DB104E96F}"/>
              </a:ext>
            </a:extLst>
          </p:cNvPr>
          <p:cNvSpPr/>
          <p:nvPr/>
        </p:nvSpPr>
        <p:spPr>
          <a:xfrm rot="16200000">
            <a:off x="1278981" y="3345873"/>
            <a:ext cx="6858000"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DB5B5C"/>
              </a:solidFill>
            </a:endParaRPr>
          </a:p>
        </p:txBody>
      </p:sp>
    </p:spTree>
    <p:extLst>
      <p:ext uri="{BB962C8B-B14F-4D97-AF65-F5344CB8AC3E}">
        <p14:creationId xmlns:p14="http://schemas.microsoft.com/office/powerpoint/2010/main" val="36723936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0" y="-52157"/>
            <a:ext cx="12192000"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080083" y="1520792"/>
            <a:ext cx="5982895" cy="5139869"/>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Manager Decisions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Situation 1: Man on First and No Outs. Should We Bunt?</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Situation 2: Man on First and One Out. Should We Steal?</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Most Decisions  in Baseball are Trade-Offs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All Decisions Have the Probability of Error</a:t>
            </a: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States of Baseball</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24 Unique States in an Inning</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Represented by 4 Numbers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Best State = 0111</a:t>
            </a:r>
          </a:p>
          <a:p>
            <a:pPr lvl="1"/>
            <a:endParaRPr lang="en-US" sz="2000" dirty="0">
              <a:solidFill>
                <a:schemeClr val="bg1"/>
              </a:solidFill>
              <a:latin typeface="Selawik Semibold" panose="020B0702040204020203" pitchFamily="34" charset="0"/>
            </a:endParaRPr>
          </a:p>
          <a:p>
            <a:pPr lvl="1"/>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Worst State = 2000</a:t>
            </a: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p:txBody>
      </p:sp>
      <p:pic>
        <p:nvPicPr>
          <p:cNvPr id="2" name="Picture 1" descr="Table showing possible states during a baseball inning with columns for state code, outs, and runner positions on first, second, and third bases. It lists specific states with zero to two outs and indicates whether runners are present on bases, highlighting scenarios with no runners and runners only on third base.">
            <a:extLst>
              <a:ext uri="{FF2B5EF4-FFF2-40B4-BE49-F238E27FC236}">
                <a16:creationId xmlns:a16="http://schemas.microsoft.com/office/drawing/2014/main" id="{985060E5-2DD8-438C-B7FD-3BF32081529D}"/>
              </a:ext>
            </a:extLst>
          </p:cNvPr>
          <p:cNvPicPr>
            <a:picLocks noChangeAspect="1"/>
          </p:cNvPicPr>
          <p:nvPr/>
        </p:nvPicPr>
        <p:blipFill>
          <a:blip r:embed="rId4"/>
          <a:stretch>
            <a:fillRect/>
          </a:stretch>
        </p:blipFill>
        <p:spPr>
          <a:xfrm>
            <a:off x="7736232" y="3935651"/>
            <a:ext cx="4298543" cy="2803116"/>
          </a:xfrm>
          <a:prstGeom prst="rect">
            <a:avLst/>
          </a:prstGeom>
          <a:ln w="38100">
            <a:solidFill>
              <a:schemeClr val="tx1"/>
            </a:solidFill>
          </a:ln>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035B009-93CD-4FFC-865D-7213CB4F1FAB}"/>
                  </a:ext>
                </a:extLst>
              </p:cNvPr>
              <p:cNvSpPr txBox="1"/>
              <p:nvPr/>
            </p:nvSpPr>
            <p:spPr>
              <a:xfrm>
                <a:off x="1685872" y="5431264"/>
                <a:ext cx="7214761"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smtClean="0">
                          <a:solidFill>
                            <a:schemeClr val="bg1"/>
                          </a:solidFill>
                          <a:latin typeface="Cambria Math" panose="02040503050406030204" pitchFamily="18" charset="0"/>
                        </a:rPr>
                        <m:t>𝑬</m:t>
                      </m:r>
                      <m:d>
                        <m:dPr>
                          <m:begChr m:val="["/>
                          <m:endChr m:val="]"/>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𝑹𝒖𝒏𝒔</m:t>
                          </m:r>
                        </m:e>
                        <m:e>
                          <m:r>
                            <a:rPr lang="en-US" sz="2000" b="1" i="1">
                              <a:solidFill>
                                <a:schemeClr val="bg1"/>
                              </a:solidFill>
                              <a:latin typeface="Cambria Math" panose="02040503050406030204" pitchFamily="18" charset="0"/>
                            </a:rPr>
                            <m:t>𝟎𝟏𝟏𝟏</m:t>
                          </m:r>
                        </m:e>
                      </m:d>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𝟐</m:t>
                      </m:r>
                      <m:r>
                        <a:rPr lang="en-US" sz="2000" b="1" i="1" smtClean="0">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𝟐𝟕𝟏𝟓</m:t>
                      </m:r>
                    </m:oMath>
                  </m:oMathPara>
                </a14:m>
                <a:endParaRPr lang="en-US" sz="2000" b="1" dirty="0">
                  <a:solidFill>
                    <a:schemeClr val="bg1"/>
                  </a:solidFill>
                </a:endParaRPr>
              </a:p>
            </p:txBody>
          </p:sp>
        </mc:Choice>
        <mc:Fallback xmlns="">
          <p:sp>
            <p:nvSpPr>
              <p:cNvPr id="11" name="TextBox 10">
                <a:extLst>
                  <a:ext uri="{FF2B5EF4-FFF2-40B4-BE49-F238E27FC236}">
                    <a16:creationId xmlns:a16="http://schemas.microsoft.com/office/drawing/2014/main" id="{C035B009-93CD-4FFC-865D-7213CB4F1FAB}"/>
                  </a:ext>
                </a:extLst>
              </p:cNvPr>
              <p:cNvSpPr txBox="1">
                <a:spLocks noRot="1" noChangeAspect="1" noMove="1" noResize="1" noEditPoints="1" noAdjustHandles="1" noChangeArrowheads="1" noChangeShapeType="1" noTextEdit="1"/>
              </p:cNvSpPr>
              <p:nvPr/>
            </p:nvSpPr>
            <p:spPr>
              <a:xfrm>
                <a:off x="1685872" y="5431264"/>
                <a:ext cx="7214761" cy="4001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DA58D7-1233-4C12-8BF3-B0D72ECE5AFA}"/>
                  </a:ext>
                </a:extLst>
              </p:cNvPr>
              <p:cNvSpPr txBox="1"/>
              <p:nvPr/>
            </p:nvSpPr>
            <p:spPr>
              <a:xfrm>
                <a:off x="1685870" y="6299604"/>
                <a:ext cx="7214761"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smtClean="0">
                          <a:solidFill>
                            <a:schemeClr val="bg1"/>
                          </a:solidFill>
                          <a:latin typeface="Cambria Math" panose="02040503050406030204" pitchFamily="18" charset="0"/>
                        </a:rPr>
                        <m:t>𝑬</m:t>
                      </m:r>
                      <m:d>
                        <m:dPr>
                          <m:begChr m:val="["/>
                          <m:endChr m:val="]"/>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𝑹𝒖𝒏𝒔</m:t>
                          </m:r>
                        </m:e>
                        <m:e>
                          <m:r>
                            <a:rPr lang="en-US" sz="2000" b="1" i="1" smtClean="0">
                              <a:solidFill>
                                <a:schemeClr val="bg1"/>
                              </a:solidFill>
                              <a:latin typeface="Cambria Math" panose="02040503050406030204" pitchFamily="18" charset="0"/>
                            </a:rPr>
                            <m:t>𝟐𝟎𝟎𝟎</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𝟏𝟎𝟐𝟖</m:t>
                      </m:r>
                    </m:oMath>
                  </m:oMathPara>
                </a14:m>
                <a:endParaRPr lang="en-US" sz="2000" b="1" dirty="0">
                  <a:solidFill>
                    <a:schemeClr val="bg1"/>
                  </a:solidFill>
                </a:endParaRPr>
              </a:p>
            </p:txBody>
          </p:sp>
        </mc:Choice>
        <mc:Fallback xmlns="">
          <p:sp>
            <p:nvSpPr>
              <p:cNvPr id="12" name="TextBox 11">
                <a:extLst>
                  <a:ext uri="{FF2B5EF4-FFF2-40B4-BE49-F238E27FC236}">
                    <a16:creationId xmlns:a16="http://schemas.microsoft.com/office/drawing/2014/main" id="{0EDA58D7-1233-4C12-8BF3-B0D72ECE5AFA}"/>
                  </a:ext>
                </a:extLst>
              </p:cNvPr>
              <p:cNvSpPr txBox="1">
                <a:spLocks noRot="1" noChangeAspect="1" noMove="1" noResize="1" noEditPoints="1" noAdjustHandles="1" noChangeArrowheads="1" noChangeShapeType="1" noTextEdit="1"/>
              </p:cNvSpPr>
              <p:nvPr/>
            </p:nvSpPr>
            <p:spPr>
              <a:xfrm>
                <a:off x="1685870" y="6299604"/>
                <a:ext cx="7214761" cy="400110"/>
              </a:xfrm>
              <a:prstGeom prst="rect">
                <a:avLst/>
              </a:prstGeom>
              <a:blipFill>
                <a:blip r:embed="rId6"/>
                <a:stretch>
                  <a:fillRect/>
                </a:stretch>
              </a:blipFill>
            </p:spPr>
            <p:txBody>
              <a:bodyPr/>
              <a:lstStyle/>
              <a:p>
                <a:r>
                  <a:rPr lang="en-US">
                    <a:noFill/>
                  </a:rPr>
                  <a:t> </a:t>
                </a:r>
              </a:p>
            </p:txBody>
          </p:sp>
        </mc:Fallback>
      </mc:AlternateContent>
      <p:pic>
        <p:nvPicPr>
          <p:cNvPr id="3" name="Picture 2" descr="Photograph of a baseball field focusing on the infield area, including home plate, pitcher's mound, and bases. The field features neatly mowed grass with alternating light and dark green stripes and clearly marked white baselines and batter's boxes.">
            <a:extLst>
              <a:ext uri="{FF2B5EF4-FFF2-40B4-BE49-F238E27FC236}">
                <a16:creationId xmlns:a16="http://schemas.microsoft.com/office/drawing/2014/main" id="{52B24F19-81A0-E60C-8953-654D2E67D5A1}"/>
              </a:ext>
            </a:extLst>
          </p:cNvPr>
          <p:cNvPicPr>
            <a:picLocks noChangeAspect="1"/>
          </p:cNvPicPr>
          <p:nvPr/>
        </p:nvPicPr>
        <p:blipFill>
          <a:blip r:embed="rId7">
            <a:alphaModFix amt="45000"/>
          </a:blip>
          <a:stretch>
            <a:fillRect/>
          </a:stretch>
        </p:blipFill>
        <p:spPr>
          <a:xfrm>
            <a:off x="9135570" y="1029771"/>
            <a:ext cx="2684015" cy="2684015"/>
          </a:xfrm>
          <a:prstGeom prst="rect">
            <a:avLst/>
          </a:prstGeom>
          <a:solidFill>
            <a:schemeClr val="tx1">
              <a:alpha val="0"/>
            </a:schemeClr>
          </a:solidFill>
        </p:spPr>
      </p:pic>
      <p:pic>
        <p:nvPicPr>
          <p:cNvPr id="4" name="Picture 3" descr="Black and white vector illustration of a baseball player running, wearing a helmet, gloves, and uniform. The image emphasizes motion and athleticism with dynamic posture and simplified shading.">
            <a:extLst>
              <a:ext uri="{FF2B5EF4-FFF2-40B4-BE49-F238E27FC236}">
                <a16:creationId xmlns:a16="http://schemas.microsoft.com/office/drawing/2014/main" id="{DC730092-779B-16DA-B37B-7C134F65601F}"/>
              </a:ext>
            </a:extLst>
          </p:cNvPr>
          <p:cNvPicPr>
            <a:picLocks noChangeAspect="1"/>
          </p:cNvPicPr>
          <p:nvPr/>
        </p:nvPicPr>
        <p:blipFill>
          <a:blip r:embed="rId8"/>
          <a:stretch>
            <a:fillRect/>
          </a:stretch>
        </p:blipFill>
        <p:spPr>
          <a:xfrm flipH="1">
            <a:off x="11182522" y="1822488"/>
            <a:ext cx="477182" cy="477182"/>
          </a:xfrm>
          <a:prstGeom prst="rect">
            <a:avLst/>
          </a:prstGeom>
        </p:spPr>
      </p:pic>
    </p:spTree>
    <p:extLst>
      <p:ext uri="{BB962C8B-B14F-4D97-AF65-F5344CB8AC3E}">
        <p14:creationId xmlns:p14="http://schemas.microsoft.com/office/powerpoint/2010/main" val="31783635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0" y="-52156"/>
            <a:ext cx="12192000"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080083" y="1520793"/>
            <a:ext cx="5982895" cy="1077218"/>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States of Baseball</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Average Number of Runs for Each State</a:t>
            </a: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p:txBody>
      </p:sp>
      <p:pic>
        <p:nvPicPr>
          <p:cNvPr id="4" name="Picture 3">
            <a:extLst>
              <a:ext uri="{FF2B5EF4-FFF2-40B4-BE49-F238E27FC236}">
                <a16:creationId xmlns:a16="http://schemas.microsoft.com/office/drawing/2014/main" id="{50A7CEE8-CC08-A1B6-B743-388F2208EFB0}"/>
              </a:ext>
            </a:extLst>
          </p:cNvPr>
          <p:cNvPicPr>
            <a:picLocks noChangeAspect="1"/>
          </p:cNvPicPr>
          <p:nvPr/>
        </p:nvPicPr>
        <p:blipFill>
          <a:blip r:embed="rId4"/>
          <a:stretch>
            <a:fillRect/>
          </a:stretch>
        </p:blipFill>
        <p:spPr>
          <a:xfrm>
            <a:off x="3375137" y="2446813"/>
            <a:ext cx="8282348" cy="3969420"/>
          </a:xfrm>
          <a:prstGeom prst="rect">
            <a:avLst/>
          </a:prstGeom>
          <a:ln w="25400">
            <a:solidFill>
              <a:srgbClr val="002060"/>
            </a:solidFill>
          </a:ln>
        </p:spPr>
      </p:pic>
    </p:spTree>
    <p:extLst>
      <p:ext uri="{BB962C8B-B14F-4D97-AF65-F5344CB8AC3E}">
        <p14:creationId xmlns:p14="http://schemas.microsoft.com/office/powerpoint/2010/main" val="4488376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0" y="-52156"/>
            <a:ext cx="12192000"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080084" y="1520792"/>
            <a:ext cx="7302409" cy="1908215"/>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States of Baseball</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Example: Pitching States of Plate Appearances</a:t>
            </a:r>
          </a:p>
          <a:p>
            <a:pPr marL="1257269" lvl="2" indent="-342891">
              <a:buFont typeface="Arial" panose="020B0604020202020204" pitchFamily="34" charset="0"/>
              <a:buChar char="•"/>
            </a:pPr>
            <a:r>
              <a:rPr lang="en-US" dirty="0">
                <a:solidFill>
                  <a:schemeClr val="bg1"/>
                </a:solidFill>
                <a:latin typeface="Selawik Semibold" panose="020B0702040204020203" pitchFamily="34" charset="0"/>
              </a:rPr>
              <a:t>1 = Strike &amp; 0 = Ball</a:t>
            </a:r>
          </a:p>
          <a:p>
            <a:pPr marL="1257269" lvl="2" indent="-342891">
              <a:buFont typeface="Arial" panose="020B0604020202020204" pitchFamily="34" charset="0"/>
              <a:buChar char="•"/>
            </a:pPr>
            <a:r>
              <a:rPr lang="en-US" dirty="0">
                <a:solidFill>
                  <a:schemeClr val="bg1"/>
                </a:solidFill>
                <a:latin typeface="Selawik Semibold" panose="020B0702040204020203" pitchFamily="34" charset="0"/>
              </a:rPr>
              <a:t>Situation: Strike, Ball, Ball, Ball, Strike, Strike = 100011</a:t>
            </a:r>
          </a:p>
          <a:p>
            <a:pPr marL="1257269" lvl="2" indent="-342891">
              <a:buFont typeface="Arial" panose="020B0604020202020204" pitchFamily="34" charset="0"/>
              <a:buChar char="•"/>
            </a:pPr>
            <a:endParaRPr lang="en-US" dirty="0">
              <a:solidFill>
                <a:schemeClr val="bg1"/>
              </a:solidFill>
              <a:latin typeface="Selawik Semibold" panose="020B0702040204020203" pitchFamily="34" charset="0"/>
            </a:endParaRP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p:txBody>
      </p:sp>
      <p:graphicFrame>
        <p:nvGraphicFramePr>
          <p:cNvPr id="11" name="Table 2">
            <a:extLst>
              <a:ext uri="{FF2B5EF4-FFF2-40B4-BE49-F238E27FC236}">
                <a16:creationId xmlns:a16="http://schemas.microsoft.com/office/drawing/2014/main" id="{A531FBEA-01CE-42F4-8BE1-54DEE532DC94}"/>
              </a:ext>
            </a:extLst>
          </p:cNvPr>
          <p:cNvGraphicFramePr>
            <a:graphicFrameLocks noGrp="1"/>
          </p:cNvGraphicFramePr>
          <p:nvPr>
            <p:extLst>
              <p:ext uri="{D42A27DB-BD31-4B8C-83A1-F6EECF244321}">
                <p14:modId xmlns:p14="http://schemas.microsoft.com/office/powerpoint/2010/main" val="3331565035"/>
              </p:ext>
            </p:extLst>
          </p:nvPr>
        </p:nvGraphicFramePr>
        <p:xfrm>
          <a:off x="4430357" y="2950387"/>
          <a:ext cx="2280107" cy="3566160"/>
        </p:xfrm>
        <a:graphic>
          <a:graphicData uri="http://schemas.openxmlformats.org/drawingml/2006/table">
            <a:tbl>
              <a:tblPr firstRow="1" bandRow="1">
                <a:tableStyleId>{073A0DAA-6AF3-43AB-8588-CEC1D06C72B9}</a:tableStyleId>
              </a:tblPr>
              <a:tblGrid>
                <a:gridCol w="2280107">
                  <a:extLst>
                    <a:ext uri="{9D8B030D-6E8A-4147-A177-3AD203B41FA5}">
                      <a16:colId xmlns:a16="http://schemas.microsoft.com/office/drawing/2014/main" val="2677213698"/>
                    </a:ext>
                  </a:extLst>
                </a:gridCol>
              </a:tblGrid>
              <a:tr h="822960">
                <a:tc>
                  <a:txBody>
                    <a:bodyPr/>
                    <a:lstStyle/>
                    <a:p>
                      <a:pPr algn="ctr"/>
                      <a:r>
                        <a:rPr lang="en-US" sz="2400" dirty="0"/>
                        <a:t>States For Strikeouts</a:t>
                      </a:r>
                    </a:p>
                  </a:txBody>
                  <a:tcPr anchor="ctr"/>
                </a:tc>
                <a:extLst>
                  <a:ext uri="{0D108BD9-81ED-4DB2-BD59-A6C34878D82A}">
                    <a16:rowId xmlns:a16="http://schemas.microsoft.com/office/drawing/2014/main" val="166656366"/>
                  </a:ext>
                </a:extLst>
              </a:tr>
              <a:tr h="457200">
                <a:tc>
                  <a:txBody>
                    <a:bodyPr/>
                    <a:lstStyle/>
                    <a:p>
                      <a:pPr algn="ctr"/>
                      <a:r>
                        <a:rPr lang="en-US" sz="2400" dirty="0"/>
                        <a:t>111</a:t>
                      </a:r>
                    </a:p>
                  </a:txBody>
                  <a:tcPr anchor="ctr"/>
                </a:tc>
                <a:extLst>
                  <a:ext uri="{0D108BD9-81ED-4DB2-BD59-A6C34878D82A}">
                    <a16:rowId xmlns:a16="http://schemas.microsoft.com/office/drawing/2014/main" val="1239199008"/>
                  </a:ext>
                </a:extLst>
              </a:tr>
              <a:tr h="457200">
                <a:tc>
                  <a:txBody>
                    <a:bodyPr/>
                    <a:lstStyle/>
                    <a:p>
                      <a:pPr algn="ctr"/>
                      <a:r>
                        <a:rPr lang="en-US" sz="2400" dirty="0"/>
                        <a:t>1011</a:t>
                      </a:r>
                    </a:p>
                  </a:txBody>
                  <a:tcPr anchor="ctr"/>
                </a:tc>
                <a:extLst>
                  <a:ext uri="{0D108BD9-81ED-4DB2-BD59-A6C34878D82A}">
                    <a16:rowId xmlns:a16="http://schemas.microsoft.com/office/drawing/2014/main" val="2647085556"/>
                  </a:ext>
                </a:extLst>
              </a:tr>
              <a:tr h="457200">
                <a:tc>
                  <a:txBody>
                    <a:bodyPr/>
                    <a:lstStyle/>
                    <a:p>
                      <a:pPr algn="ctr"/>
                      <a:r>
                        <a:rPr lang="en-US" sz="2400" dirty="0"/>
                        <a:t>1101</a:t>
                      </a:r>
                    </a:p>
                  </a:txBody>
                  <a:tcPr anchor="ctr"/>
                </a:tc>
                <a:extLst>
                  <a:ext uri="{0D108BD9-81ED-4DB2-BD59-A6C34878D82A}">
                    <a16:rowId xmlns:a16="http://schemas.microsoft.com/office/drawing/2014/main" val="1786922875"/>
                  </a:ext>
                </a:extLst>
              </a:tr>
              <a:tr h="457200">
                <a:tc>
                  <a:txBody>
                    <a:bodyPr/>
                    <a:lstStyle/>
                    <a:p>
                      <a:pPr algn="ctr"/>
                      <a:r>
                        <a:rPr lang="en-US" sz="2400" dirty="0"/>
                        <a:t>0111</a:t>
                      </a:r>
                    </a:p>
                  </a:txBody>
                  <a:tcPr anchor="ctr"/>
                </a:tc>
                <a:extLst>
                  <a:ext uri="{0D108BD9-81ED-4DB2-BD59-A6C34878D82A}">
                    <a16:rowId xmlns:a16="http://schemas.microsoft.com/office/drawing/2014/main" val="908465038"/>
                  </a:ext>
                </a:extLst>
              </a:tr>
              <a:tr h="457200">
                <a:tc>
                  <a:txBody>
                    <a:bodyPr/>
                    <a:lstStyle/>
                    <a:p>
                      <a:pPr algn="ctr"/>
                      <a:r>
                        <a:rPr lang="en-US" sz="2400" dirty="0"/>
                        <a:t>11001</a:t>
                      </a:r>
                    </a:p>
                  </a:txBody>
                  <a:tcPr anchor="ctr"/>
                </a:tc>
                <a:extLst>
                  <a:ext uri="{0D108BD9-81ED-4DB2-BD59-A6C34878D82A}">
                    <a16:rowId xmlns:a16="http://schemas.microsoft.com/office/drawing/2014/main" val="2694422848"/>
                  </a:ext>
                </a:extLst>
              </a:tr>
              <a:tr h="457200">
                <a:tc>
                  <a:txBody>
                    <a:bodyPr/>
                    <a:lstStyle/>
                    <a:p>
                      <a:pPr algn="ctr"/>
                      <a:r>
                        <a:rPr lang="en-US" sz="2400" dirty="0"/>
                        <a:t>Etc.</a:t>
                      </a:r>
                    </a:p>
                  </a:txBody>
                  <a:tcPr anchor="ctr"/>
                </a:tc>
                <a:extLst>
                  <a:ext uri="{0D108BD9-81ED-4DB2-BD59-A6C34878D82A}">
                    <a16:rowId xmlns:a16="http://schemas.microsoft.com/office/drawing/2014/main" val="1010986065"/>
                  </a:ext>
                </a:extLst>
              </a:tr>
            </a:tbl>
          </a:graphicData>
        </a:graphic>
      </p:graphicFrame>
      <p:graphicFrame>
        <p:nvGraphicFramePr>
          <p:cNvPr id="15" name="Table 2">
            <a:extLst>
              <a:ext uri="{FF2B5EF4-FFF2-40B4-BE49-F238E27FC236}">
                <a16:creationId xmlns:a16="http://schemas.microsoft.com/office/drawing/2014/main" id="{E99803B0-4465-4253-98E7-8127989EDB36}"/>
              </a:ext>
            </a:extLst>
          </p:cNvPr>
          <p:cNvGraphicFramePr>
            <a:graphicFrameLocks noGrp="1"/>
          </p:cNvGraphicFramePr>
          <p:nvPr>
            <p:extLst>
              <p:ext uri="{D42A27DB-BD31-4B8C-83A1-F6EECF244321}">
                <p14:modId xmlns:p14="http://schemas.microsoft.com/office/powerpoint/2010/main" val="1027536173"/>
              </p:ext>
            </p:extLst>
          </p:nvPr>
        </p:nvGraphicFramePr>
        <p:xfrm>
          <a:off x="6943705" y="2950387"/>
          <a:ext cx="2280107" cy="3566160"/>
        </p:xfrm>
        <a:graphic>
          <a:graphicData uri="http://schemas.openxmlformats.org/drawingml/2006/table">
            <a:tbl>
              <a:tblPr firstRow="1" bandRow="1">
                <a:tableStyleId>{073A0DAA-6AF3-43AB-8588-CEC1D06C72B9}</a:tableStyleId>
              </a:tblPr>
              <a:tblGrid>
                <a:gridCol w="2280107">
                  <a:extLst>
                    <a:ext uri="{9D8B030D-6E8A-4147-A177-3AD203B41FA5}">
                      <a16:colId xmlns:a16="http://schemas.microsoft.com/office/drawing/2014/main" val="2677213698"/>
                    </a:ext>
                  </a:extLst>
                </a:gridCol>
              </a:tblGrid>
              <a:tr h="822960">
                <a:tc>
                  <a:txBody>
                    <a:bodyPr/>
                    <a:lstStyle/>
                    <a:p>
                      <a:pPr algn="ctr"/>
                      <a:r>
                        <a:rPr lang="en-US" sz="2400" dirty="0"/>
                        <a:t>States For </a:t>
                      </a:r>
                    </a:p>
                    <a:p>
                      <a:pPr algn="ctr"/>
                      <a:r>
                        <a:rPr lang="en-US" sz="2400" dirty="0"/>
                        <a:t>Walks</a:t>
                      </a:r>
                    </a:p>
                  </a:txBody>
                  <a:tcPr anchor="ctr"/>
                </a:tc>
                <a:extLst>
                  <a:ext uri="{0D108BD9-81ED-4DB2-BD59-A6C34878D82A}">
                    <a16:rowId xmlns:a16="http://schemas.microsoft.com/office/drawing/2014/main" val="166656366"/>
                  </a:ext>
                </a:extLst>
              </a:tr>
              <a:tr h="457200">
                <a:tc>
                  <a:txBody>
                    <a:bodyPr/>
                    <a:lstStyle/>
                    <a:p>
                      <a:pPr algn="ctr"/>
                      <a:r>
                        <a:rPr lang="en-US" sz="2400" dirty="0"/>
                        <a:t>0000</a:t>
                      </a:r>
                    </a:p>
                  </a:txBody>
                  <a:tcPr anchor="ctr"/>
                </a:tc>
                <a:extLst>
                  <a:ext uri="{0D108BD9-81ED-4DB2-BD59-A6C34878D82A}">
                    <a16:rowId xmlns:a16="http://schemas.microsoft.com/office/drawing/2014/main" val="1239199008"/>
                  </a:ext>
                </a:extLst>
              </a:tr>
              <a:tr h="457200">
                <a:tc>
                  <a:txBody>
                    <a:bodyPr/>
                    <a:lstStyle/>
                    <a:p>
                      <a:pPr algn="ctr"/>
                      <a:r>
                        <a:rPr lang="en-US" sz="2400" dirty="0"/>
                        <a:t>10000</a:t>
                      </a:r>
                    </a:p>
                  </a:txBody>
                  <a:tcPr anchor="ctr"/>
                </a:tc>
                <a:extLst>
                  <a:ext uri="{0D108BD9-81ED-4DB2-BD59-A6C34878D82A}">
                    <a16:rowId xmlns:a16="http://schemas.microsoft.com/office/drawing/2014/main" val="2647085556"/>
                  </a:ext>
                </a:extLst>
              </a:tr>
              <a:tr h="457200">
                <a:tc>
                  <a:txBody>
                    <a:bodyPr/>
                    <a:lstStyle/>
                    <a:p>
                      <a:pPr algn="ctr"/>
                      <a:r>
                        <a:rPr lang="en-US" sz="2400" dirty="0"/>
                        <a:t>01000</a:t>
                      </a:r>
                    </a:p>
                  </a:txBody>
                  <a:tcPr anchor="ctr"/>
                </a:tc>
                <a:extLst>
                  <a:ext uri="{0D108BD9-81ED-4DB2-BD59-A6C34878D82A}">
                    <a16:rowId xmlns:a16="http://schemas.microsoft.com/office/drawing/2014/main" val="1786922875"/>
                  </a:ext>
                </a:extLst>
              </a:tr>
              <a:tr h="457200">
                <a:tc>
                  <a:txBody>
                    <a:bodyPr/>
                    <a:lstStyle/>
                    <a:p>
                      <a:pPr algn="ctr"/>
                      <a:r>
                        <a:rPr lang="en-US" sz="2400" dirty="0"/>
                        <a:t>00010</a:t>
                      </a:r>
                    </a:p>
                  </a:txBody>
                  <a:tcPr anchor="ctr"/>
                </a:tc>
                <a:extLst>
                  <a:ext uri="{0D108BD9-81ED-4DB2-BD59-A6C34878D82A}">
                    <a16:rowId xmlns:a16="http://schemas.microsoft.com/office/drawing/2014/main" val="908465038"/>
                  </a:ext>
                </a:extLst>
              </a:tr>
              <a:tr h="457200">
                <a:tc>
                  <a:txBody>
                    <a:bodyPr/>
                    <a:lstStyle/>
                    <a:p>
                      <a:pPr algn="ctr"/>
                      <a:r>
                        <a:rPr lang="en-US" sz="2400" dirty="0"/>
                        <a:t>110000</a:t>
                      </a:r>
                    </a:p>
                  </a:txBody>
                  <a:tcPr anchor="ctr"/>
                </a:tc>
                <a:extLst>
                  <a:ext uri="{0D108BD9-81ED-4DB2-BD59-A6C34878D82A}">
                    <a16:rowId xmlns:a16="http://schemas.microsoft.com/office/drawing/2014/main" val="2694422848"/>
                  </a:ext>
                </a:extLst>
              </a:tr>
              <a:tr h="457200">
                <a:tc>
                  <a:txBody>
                    <a:bodyPr/>
                    <a:lstStyle/>
                    <a:p>
                      <a:pPr algn="ctr"/>
                      <a:r>
                        <a:rPr lang="en-US" sz="2400" dirty="0"/>
                        <a:t>Etc.</a:t>
                      </a:r>
                    </a:p>
                  </a:txBody>
                  <a:tcPr anchor="ctr"/>
                </a:tc>
                <a:extLst>
                  <a:ext uri="{0D108BD9-81ED-4DB2-BD59-A6C34878D82A}">
                    <a16:rowId xmlns:a16="http://schemas.microsoft.com/office/drawing/2014/main" val="1010986065"/>
                  </a:ext>
                </a:extLst>
              </a:tr>
            </a:tbl>
          </a:graphicData>
        </a:graphic>
      </p:graphicFrame>
      <p:graphicFrame>
        <p:nvGraphicFramePr>
          <p:cNvPr id="18" name="Table 2">
            <a:extLst>
              <a:ext uri="{FF2B5EF4-FFF2-40B4-BE49-F238E27FC236}">
                <a16:creationId xmlns:a16="http://schemas.microsoft.com/office/drawing/2014/main" id="{D23EC0FB-CD46-4D26-9194-9CEBA575229B}"/>
              </a:ext>
            </a:extLst>
          </p:cNvPr>
          <p:cNvGraphicFramePr>
            <a:graphicFrameLocks noGrp="1"/>
          </p:cNvGraphicFramePr>
          <p:nvPr>
            <p:extLst>
              <p:ext uri="{D42A27DB-BD31-4B8C-83A1-F6EECF244321}">
                <p14:modId xmlns:p14="http://schemas.microsoft.com/office/powerpoint/2010/main" val="494977777"/>
              </p:ext>
            </p:extLst>
          </p:nvPr>
        </p:nvGraphicFramePr>
        <p:xfrm>
          <a:off x="9452660" y="2950387"/>
          <a:ext cx="2280107" cy="3566160"/>
        </p:xfrm>
        <a:graphic>
          <a:graphicData uri="http://schemas.openxmlformats.org/drawingml/2006/table">
            <a:tbl>
              <a:tblPr firstRow="1" bandRow="1">
                <a:tableStyleId>{073A0DAA-6AF3-43AB-8588-CEC1D06C72B9}</a:tableStyleId>
              </a:tblPr>
              <a:tblGrid>
                <a:gridCol w="2280107">
                  <a:extLst>
                    <a:ext uri="{9D8B030D-6E8A-4147-A177-3AD203B41FA5}">
                      <a16:colId xmlns:a16="http://schemas.microsoft.com/office/drawing/2014/main" val="2677213698"/>
                    </a:ext>
                  </a:extLst>
                </a:gridCol>
              </a:tblGrid>
              <a:tr h="822960">
                <a:tc>
                  <a:txBody>
                    <a:bodyPr/>
                    <a:lstStyle/>
                    <a:p>
                      <a:pPr algn="ctr"/>
                      <a:r>
                        <a:rPr lang="en-US" sz="2400" dirty="0"/>
                        <a:t>States For </a:t>
                      </a:r>
                    </a:p>
                    <a:p>
                      <a:pPr algn="ctr"/>
                      <a:r>
                        <a:rPr lang="en-US" sz="2400" dirty="0"/>
                        <a:t>Hits</a:t>
                      </a:r>
                    </a:p>
                  </a:txBody>
                  <a:tcPr anchor="ctr"/>
                </a:tc>
                <a:extLst>
                  <a:ext uri="{0D108BD9-81ED-4DB2-BD59-A6C34878D82A}">
                    <a16:rowId xmlns:a16="http://schemas.microsoft.com/office/drawing/2014/main" val="166656366"/>
                  </a:ext>
                </a:extLst>
              </a:tr>
              <a:tr h="457200">
                <a:tc>
                  <a:txBody>
                    <a:bodyPr/>
                    <a:lstStyle/>
                    <a:p>
                      <a:pPr algn="ctr"/>
                      <a:r>
                        <a:rPr lang="en-US" sz="2400" dirty="0"/>
                        <a:t>1</a:t>
                      </a:r>
                    </a:p>
                  </a:txBody>
                  <a:tcPr anchor="ctr"/>
                </a:tc>
                <a:extLst>
                  <a:ext uri="{0D108BD9-81ED-4DB2-BD59-A6C34878D82A}">
                    <a16:rowId xmlns:a16="http://schemas.microsoft.com/office/drawing/2014/main" val="1239199008"/>
                  </a:ext>
                </a:extLst>
              </a:tr>
              <a:tr h="457200">
                <a:tc>
                  <a:txBody>
                    <a:bodyPr/>
                    <a:lstStyle/>
                    <a:p>
                      <a:pPr algn="ctr"/>
                      <a:r>
                        <a:rPr lang="en-US" sz="2400" dirty="0"/>
                        <a:t>0</a:t>
                      </a:r>
                    </a:p>
                  </a:txBody>
                  <a:tcPr anchor="ctr"/>
                </a:tc>
                <a:extLst>
                  <a:ext uri="{0D108BD9-81ED-4DB2-BD59-A6C34878D82A}">
                    <a16:rowId xmlns:a16="http://schemas.microsoft.com/office/drawing/2014/main" val="2647085556"/>
                  </a:ext>
                </a:extLst>
              </a:tr>
              <a:tr h="457200">
                <a:tc>
                  <a:txBody>
                    <a:bodyPr/>
                    <a:lstStyle/>
                    <a:p>
                      <a:pPr algn="ctr"/>
                      <a:r>
                        <a:rPr lang="en-US" sz="2400" dirty="0"/>
                        <a:t>10</a:t>
                      </a:r>
                    </a:p>
                  </a:txBody>
                  <a:tcPr anchor="ctr"/>
                </a:tc>
                <a:extLst>
                  <a:ext uri="{0D108BD9-81ED-4DB2-BD59-A6C34878D82A}">
                    <a16:rowId xmlns:a16="http://schemas.microsoft.com/office/drawing/2014/main" val="1786922875"/>
                  </a:ext>
                </a:extLst>
              </a:tr>
              <a:tr h="457200">
                <a:tc>
                  <a:txBody>
                    <a:bodyPr/>
                    <a:lstStyle/>
                    <a:p>
                      <a:pPr algn="ctr"/>
                      <a:r>
                        <a:rPr lang="en-US" sz="2400" dirty="0"/>
                        <a:t>01</a:t>
                      </a:r>
                    </a:p>
                  </a:txBody>
                  <a:tcPr anchor="ctr"/>
                </a:tc>
                <a:extLst>
                  <a:ext uri="{0D108BD9-81ED-4DB2-BD59-A6C34878D82A}">
                    <a16:rowId xmlns:a16="http://schemas.microsoft.com/office/drawing/2014/main" val="908465038"/>
                  </a:ext>
                </a:extLst>
              </a:tr>
              <a:tr h="457200">
                <a:tc>
                  <a:txBody>
                    <a:bodyPr/>
                    <a:lstStyle/>
                    <a:p>
                      <a:pPr algn="ctr"/>
                      <a:r>
                        <a:rPr lang="en-US" sz="2400" dirty="0"/>
                        <a:t>00</a:t>
                      </a:r>
                    </a:p>
                  </a:txBody>
                  <a:tcPr anchor="ctr"/>
                </a:tc>
                <a:extLst>
                  <a:ext uri="{0D108BD9-81ED-4DB2-BD59-A6C34878D82A}">
                    <a16:rowId xmlns:a16="http://schemas.microsoft.com/office/drawing/2014/main" val="2694422848"/>
                  </a:ext>
                </a:extLst>
              </a:tr>
              <a:tr h="457200">
                <a:tc>
                  <a:txBody>
                    <a:bodyPr/>
                    <a:lstStyle/>
                    <a:p>
                      <a:pPr algn="ctr"/>
                      <a:r>
                        <a:rPr lang="en-US" sz="2400" dirty="0"/>
                        <a:t>Etc.</a:t>
                      </a:r>
                    </a:p>
                  </a:txBody>
                  <a:tcPr anchor="ctr"/>
                </a:tc>
                <a:extLst>
                  <a:ext uri="{0D108BD9-81ED-4DB2-BD59-A6C34878D82A}">
                    <a16:rowId xmlns:a16="http://schemas.microsoft.com/office/drawing/2014/main" val="1010986065"/>
                  </a:ext>
                </a:extLst>
              </a:tr>
            </a:tbl>
          </a:graphicData>
        </a:graphic>
      </p:graphicFrame>
    </p:spTree>
    <p:extLst>
      <p:ext uri="{BB962C8B-B14F-4D97-AF65-F5344CB8AC3E}">
        <p14:creationId xmlns:p14="http://schemas.microsoft.com/office/powerpoint/2010/main" val="1165871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2" y="-52157"/>
            <a:ext cx="12192000"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080083" y="1520793"/>
            <a:ext cx="8081658" cy="4216539"/>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Experiment</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Any Situation where Outcome is Uncertain</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Typically, Set of Outcomes (O) is Finite and Can Be Listed </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Example: Pitcher Throws a Pitch </a:t>
            </a: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Random Variable</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Associated with Experiments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Typically Involves Numeric Outcome Based on Observation</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Usually Notated with Capital Letter (X)</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Sample Space (S) Represents Possible Values Involving Subsets of Set of Outcomes (O)</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Example: X = Number of Balls in a Plate Appearance</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BCFD641-5AFC-4889-9E0D-92BB462064AB}"/>
                  </a:ext>
                </a:extLst>
              </p:cNvPr>
              <p:cNvSpPr txBox="1"/>
              <p:nvPr/>
            </p:nvSpPr>
            <p:spPr>
              <a:xfrm>
                <a:off x="2684014" y="2892744"/>
                <a:ext cx="7646868"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a:solidFill>
                            <a:schemeClr val="bg1"/>
                          </a:solidFill>
                          <a:latin typeface="Cambria Math" panose="02040503050406030204" pitchFamily="18" charset="0"/>
                        </a:rPr>
                        <m:t>𝑶</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𝑺𝒕𝒓𝒊𝒌𝒆</m:t>
                      </m:r>
                      <m:r>
                        <a:rPr lang="en-US" sz="2000" b="1" i="1">
                          <a:solidFill>
                            <a:schemeClr val="bg1"/>
                          </a:solidFill>
                          <a:latin typeface="Cambria Math" panose="02040503050406030204" pitchFamily="18" charset="0"/>
                        </a:rPr>
                        <m:t>, </m:t>
                      </m:r>
                      <m:r>
                        <a:rPr lang="en-US" sz="2000" b="1" i="1">
                          <a:solidFill>
                            <a:schemeClr val="bg1"/>
                          </a:solidFill>
                          <a:latin typeface="Cambria Math" panose="02040503050406030204" pitchFamily="18" charset="0"/>
                        </a:rPr>
                        <m:t>𝑩𝒂𝒍𝒍</m:t>
                      </m:r>
                      <m:r>
                        <a:rPr lang="en-US" sz="2000" b="1" i="1">
                          <a:solidFill>
                            <a:schemeClr val="bg1"/>
                          </a:solidFill>
                          <a:latin typeface="Cambria Math" panose="02040503050406030204" pitchFamily="18" charset="0"/>
                        </a:rPr>
                        <m:t>, </m:t>
                      </m:r>
                      <m:r>
                        <a:rPr lang="en-US" sz="2000" b="1" i="1">
                          <a:solidFill>
                            <a:schemeClr val="bg1"/>
                          </a:solidFill>
                          <a:latin typeface="Cambria Math" panose="02040503050406030204" pitchFamily="18" charset="0"/>
                        </a:rPr>
                        <m:t>𝑯𝒊𝒕𝒔</m:t>
                      </m:r>
                      <m:r>
                        <a:rPr lang="en-US" sz="2000" b="1" i="1">
                          <a:solidFill>
                            <a:schemeClr val="bg1"/>
                          </a:solidFill>
                          <a:latin typeface="Cambria Math" panose="02040503050406030204" pitchFamily="18" charset="0"/>
                        </a:rPr>
                        <m:t> </m:t>
                      </m:r>
                      <m:r>
                        <a:rPr lang="en-US" sz="2000" b="1" i="1">
                          <a:solidFill>
                            <a:schemeClr val="bg1"/>
                          </a:solidFill>
                          <a:latin typeface="Cambria Math" panose="02040503050406030204" pitchFamily="18" charset="0"/>
                        </a:rPr>
                        <m:t>𝑩𝒂𝒕𝒕𝒆𝒓</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𝑯𝒊𝒕</m:t>
                      </m:r>
                      <m:r>
                        <a:rPr lang="en-US" sz="2000" b="1" i="1">
                          <a:solidFill>
                            <a:schemeClr val="bg1"/>
                          </a:solidFill>
                          <a:latin typeface="Cambria Math" panose="02040503050406030204" pitchFamily="18" charset="0"/>
                        </a:rPr>
                        <m:t> </m:t>
                      </m:r>
                      <m:r>
                        <a:rPr lang="en-US" sz="2000" b="1" i="1">
                          <a:solidFill>
                            <a:schemeClr val="bg1"/>
                          </a:solidFill>
                          <a:latin typeface="Cambria Math" panose="02040503050406030204" pitchFamily="18" charset="0"/>
                        </a:rPr>
                        <m:t>𝒊𝒏</m:t>
                      </m:r>
                      <m:r>
                        <a:rPr lang="en-US" sz="2000" b="1" i="1">
                          <a:solidFill>
                            <a:schemeClr val="bg1"/>
                          </a:solidFill>
                          <a:latin typeface="Cambria Math" panose="02040503050406030204" pitchFamily="18" charset="0"/>
                        </a:rPr>
                        <m:t> </m:t>
                      </m:r>
                      <m:r>
                        <a:rPr lang="en-US" sz="2000" b="1" i="1">
                          <a:solidFill>
                            <a:schemeClr val="bg1"/>
                          </a:solidFill>
                          <a:latin typeface="Cambria Math" panose="02040503050406030204" pitchFamily="18" charset="0"/>
                        </a:rPr>
                        <m:t>𝑷𝒍𝒂𝒚</m:t>
                      </m:r>
                      <m:r>
                        <a:rPr lang="en-US" sz="2000" b="1" i="1">
                          <a:solidFill>
                            <a:schemeClr val="bg1"/>
                          </a:solidFill>
                          <a:latin typeface="Cambria Math" panose="02040503050406030204" pitchFamily="18" charset="0"/>
                        </a:rPr>
                        <m:t>}</m:t>
                      </m:r>
                    </m:oMath>
                  </m:oMathPara>
                </a14:m>
                <a:endParaRPr lang="en-US" sz="2000" b="1" dirty="0">
                  <a:solidFill>
                    <a:schemeClr val="bg1"/>
                  </a:solidFill>
                </a:endParaRPr>
              </a:p>
            </p:txBody>
          </p:sp>
        </mc:Choice>
        <mc:Fallback xmlns="">
          <p:sp>
            <p:nvSpPr>
              <p:cNvPr id="13" name="TextBox 12">
                <a:extLst>
                  <a:ext uri="{FF2B5EF4-FFF2-40B4-BE49-F238E27FC236}">
                    <a16:creationId xmlns:a16="http://schemas.microsoft.com/office/drawing/2014/main" id="{9BCFD641-5AFC-4889-9E0D-92BB462064AB}"/>
                  </a:ext>
                </a:extLst>
              </p:cNvPr>
              <p:cNvSpPr txBox="1">
                <a:spLocks noRot="1" noChangeAspect="1" noMove="1" noResize="1" noEditPoints="1" noAdjustHandles="1" noChangeArrowheads="1" noChangeShapeType="1" noTextEdit="1"/>
              </p:cNvSpPr>
              <p:nvPr/>
            </p:nvSpPr>
            <p:spPr>
              <a:xfrm>
                <a:off x="2684014" y="2892744"/>
                <a:ext cx="7646868" cy="400110"/>
              </a:xfrm>
              <a:prstGeom prst="rect">
                <a:avLst/>
              </a:prstGeom>
              <a:blipFill>
                <a:blip r:embed="rId4"/>
                <a:stretch>
                  <a:fillRect b="-15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FCB25CD-1CD9-4929-8FCE-52CC28DFC2DD}"/>
                  </a:ext>
                </a:extLst>
              </p:cNvPr>
              <p:cNvSpPr txBox="1"/>
              <p:nvPr/>
            </p:nvSpPr>
            <p:spPr>
              <a:xfrm>
                <a:off x="1030259" y="5704987"/>
                <a:ext cx="7646868"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a:solidFill>
                            <a:schemeClr val="bg1"/>
                          </a:solidFill>
                          <a:latin typeface="Cambria Math" panose="02040503050406030204" pitchFamily="18" charset="0"/>
                        </a:rPr>
                        <m:t>𝑺</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𝟐</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𝟑</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𝟒</m:t>
                      </m:r>
                      <m:r>
                        <a:rPr lang="en-US" sz="2000" b="1" i="1">
                          <a:solidFill>
                            <a:schemeClr val="bg1"/>
                          </a:solidFill>
                          <a:latin typeface="Cambria Math" panose="02040503050406030204" pitchFamily="18" charset="0"/>
                        </a:rPr>
                        <m:t>}</m:t>
                      </m:r>
                    </m:oMath>
                  </m:oMathPara>
                </a14:m>
                <a:endParaRPr lang="en-US" sz="2000" b="1" dirty="0">
                  <a:solidFill>
                    <a:schemeClr val="bg1"/>
                  </a:solidFill>
                </a:endParaRPr>
              </a:p>
            </p:txBody>
          </p:sp>
        </mc:Choice>
        <mc:Fallback xmlns="">
          <p:sp>
            <p:nvSpPr>
              <p:cNvPr id="14" name="TextBox 13">
                <a:extLst>
                  <a:ext uri="{FF2B5EF4-FFF2-40B4-BE49-F238E27FC236}">
                    <a16:creationId xmlns:a16="http://schemas.microsoft.com/office/drawing/2014/main" id="{0FCB25CD-1CD9-4929-8FCE-52CC28DFC2DD}"/>
                  </a:ext>
                </a:extLst>
              </p:cNvPr>
              <p:cNvSpPr txBox="1">
                <a:spLocks noRot="1" noChangeAspect="1" noMove="1" noResize="1" noEditPoints="1" noAdjustHandles="1" noChangeArrowheads="1" noChangeShapeType="1" noTextEdit="1"/>
              </p:cNvSpPr>
              <p:nvPr/>
            </p:nvSpPr>
            <p:spPr>
              <a:xfrm>
                <a:off x="1030259" y="5704987"/>
                <a:ext cx="7646868" cy="400110"/>
              </a:xfrm>
              <a:prstGeom prst="rect">
                <a:avLst/>
              </a:prstGeom>
              <a:blipFill>
                <a:blip r:embed="rId5"/>
                <a:stretch>
                  <a:fillRect b="-15385"/>
                </a:stretch>
              </a:blipFill>
            </p:spPr>
            <p:txBody>
              <a:bodyPr/>
              <a:lstStyle/>
              <a:p>
                <a:r>
                  <a:rPr lang="en-US">
                    <a:noFill/>
                  </a:rPr>
                  <a:t> </a:t>
                </a:r>
              </a:p>
            </p:txBody>
          </p:sp>
        </mc:Fallback>
      </mc:AlternateContent>
    </p:spTree>
    <p:extLst>
      <p:ext uri="{BB962C8B-B14F-4D97-AF65-F5344CB8AC3E}">
        <p14:creationId xmlns:p14="http://schemas.microsoft.com/office/powerpoint/2010/main" val="16608572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2" y="0"/>
            <a:ext cx="12192000"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080083" y="1520792"/>
            <a:ext cx="7834845" cy="3539430"/>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Expected Value</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Average Value of a Random Variable if Experiment Repeated Infinite Number of Times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Formula for Expected Value</a:t>
            </a: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Example: X = Number of Balls in Plate Appearance</a:t>
            </a: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Formula Based on Law of Conditional Expectations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4CA7926-1336-47EF-A121-000E1240C32A}"/>
                  </a:ext>
                </a:extLst>
              </p:cNvPr>
              <p:cNvSpPr txBox="1"/>
              <p:nvPr/>
            </p:nvSpPr>
            <p:spPr>
              <a:xfrm>
                <a:off x="1645788" y="2873316"/>
                <a:ext cx="7214761" cy="83907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a:solidFill>
                            <a:schemeClr val="bg1"/>
                          </a:solidFill>
                          <a:latin typeface="Cambria Math" panose="02040503050406030204" pitchFamily="18" charset="0"/>
                        </a:rPr>
                        <m:t>𝑬</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𝑿</m:t>
                      </m:r>
                      <m:r>
                        <a:rPr lang="en-US" sz="2000" b="1" i="1">
                          <a:solidFill>
                            <a:schemeClr val="bg1"/>
                          </a:solidFill>
                          <a:latin typeface="Cambria Math" panose="02040503050406030204" pitchFamily="18" charset="0"/>
                        </a:rPr>
                        <m:t>]=</m:t>
                      </m:r>
                      <m:nary>
                        <m:naryPr>
                          <m:chr m:val="∑"/>
                          <m:supHide m:val="on"/>
                          <m:ctrlPr>
                            <a:rPr lang="en-US" sz="2000" b="1" i="1">
                              <a:solidFill>
                                <a:schemeClr val="bg1"/>
                              </a:solidFill>
                              <a:latin typeface="Cambria Math" panose="02040503050406030204" pitchFamily="18" charset="0"/>
                            </a:rPr>
                          </m:ctrlPr>
                        </m:naryPr>
                        <m:sub>
                          <m:r>
                            <a:rPr lang="en-US" sz="2000" b="1" i="1">
                              <a:solidFill>
                                <a:schemeClr val="bg1"/>
                              </a:solidFill>
                              <a:latin typeface="Cambria Math" panose="02040503050406030204" pitchFamily="18" charset="0"/>
                            </a:rPr>
                            <m:t>𝒙</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𝑺</m:t>
                          </m:r>
                        </m:sub>
                        <m:sup/>
                        <m:e>
                          <m:r>
                            <a:rPr lang="en-US" sz="2000" b="1" i="1">
                              <a:solidFill>
                                <a:schemeClr val="bg1"/>
                              </a:solidFill>
                              <a:latin typeface="Cambria Math" panose="02040503050406030204" pitchFamily="18" charset="0"/>
                            </a:rPr>
                            <m:t>𝒙𝑷</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𝑿</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𝒙</m:t>
                          </m:r>
                          <m:r>
                            <a:rPr lang="en-US" sz="2000" b="1" i="1">
                              <a:solidFill>
                                <a:schemeClr val="bg1"/>
                              </a:solidFill>
                              <a:latin typeface="Cambria Math" panose="02040503050406030204" pitchFamily="18" charset="0"/>
                            </a:rPr>
                            <m:t>)</m:t>
                          </m:r>
                        </m:e>
                      </m:nary>
                    </m:oMath>
                  </m:oMathPara>
                </a14:m>
                <a:endParaRPr lang="en-US" sz="2000" b="1" dirty="0">
                  <a:solidFill>
                    <a:schemeClr val="bg1"/>
                  </a:solidFill>
                </a:endParaRPr>
              </a:p>
            </p:txBody>
          </p:sp>
        </mc:Choice>
        <mc:Fallback xmlns="">
          <p:sp>
            <p:nvSpPr>
              <p:cNvPr id="12" name="TextBox 11">
                <a:extLst>
                  <a:ext uri="{FF2B5EF4-FFF2-40B4-BE49-F238E27FC236}">
                    <a16:creationId xmlns:a16="http://schemas.microsoft.com/office/drawing/2014/main" id="{04CA7926-1336-47EF-A121-000E1240C32A}"/>
                  </a:ext>
                </a:extLst>
              </p:cNvPr>
              <p:cNvSpPr txBox="1">
                <a:spLocks noRot="1" noChangeAspect="1" noMove="1" noResize="1" noEditPoints="1" noAdjustHandles="1" noChangeArrowheads="1" noChangeShapeType="1" noTextEdit="1"/>
              </p:cNvSpPr>
              <p:nvPr/>
            </p:nvSpPr>
            <p:spPr>
              <a:xfrm>
                <a:off x="1645788" y="2873316"/>
                <a:ext cx="7214761" cy="839076"/>
              </a:xfrm>
              <a:prstGeom prst="rect">
                <a:avLst/>
              </a:prstGeom>
              <a:blipFill>
                <a:blip r:embed="rId4"/>
                <a:stretch>
                  <a:fillRect/>
                </a:stretch>
              </a:blipFill>
            </p:spPr>
            <p:txBody>
              <a:bodyPr/>
              <a:lstStyle/>
              <a:p>
                <a:r>
                  <a:rPr lang="en-US">
                    <a:noFill/>
                  </a:rPr>
                  <a:t> </a:t>
                </a:r>
              </a:p>
            </p:txBody>
          </p:sp>
        </mc:Fallback>
      </mc:AlternateContent>
      <p:graphicFrame>
        <p:nvGraphicFramePr>
          <p:cNvPr id="2" name="Table 2">
            <a:extLst>
              <a:ext uri="{FF2B5EF4-FFF2-40B4-BE49-F238E27FC236}">
                <a16:creationId xmlns:a16="http://schemas.microsoft.com/office/drawing/2014/main" id="{CD916BAB-45F9-4734-8349-15A468DD85C4}"/>
              </a:ext>
            </a:extLst>
          </p:cNvPr>
          <p:cNvGraphicFramePr>
            <a:graphicFrameLocks noGrp="1"/>
          </p:cNvGraphicFramePr>
          <p:nvPr>
            <p:extLst>
              <p:ext uri="{D42A27DB-BD31-4B8C-83A1-F6EECF244321}">
                <p14:modId xmlns:p14="http://schemas.microsoft.com/office/powerpoint/2010/main" val="1138767422"/>
              </p:ext>
            </p:extLst>
          </p:nvPr>
        </p:nvGraphicFramePr>
        <p:xfrm>
          <a:off x="10145048" y="4480560"/>
          <a:ext cx="1919720" cy="2377440"/>
        </p:xfrm>
        <a:graphic>
          <a:graphicData uri="http://schemas.openxmlformats.org/drawingml/2006/table">
            <a:tbl>
              <a:tblPr firstRow="1" bandRow="1">
                <a:tableStyleId>{073A0DAA-6AF3-43AB-8588-CEC1D06C72B9}</a:tableStyleId>
              </a:tblPr>
              <a:tblGrid>
                <a:gridCol w="730541">
                  <a:extLst>
                    <a:ext uri="{9D8B030D-6E8A-4147-A177-3AD203B41FA5}">
                      <a16:colId xmlns:a16="http://schemas.microsoft.com/office/drawing/2014/main" val="2677213698"/>
                    </a:ext>
                  </a:extLst>
                </a:gridCol>
                <a:gridCol w="1189179">
                  <a:extLst>
                    <a:ext uri="{9D8B030D-6E8A-4147-A177-3AD203B41FA5}">
                      <a16:colId xmlns:a16="http://schemas.microsoft.com/office/drawing/2014/main" val="3179823401"/>
                    </a:ext>
                  </a:extLst>
                </a:gridCol>
              </a:tblGrid>
              <a:tr h="356704">
                <a:tc>
                  <a:txBody>
                    <a:bodyPr/>
                    <a:lstStyle/>
                    <a:p>
                      <a:pPr algn="ctr"/>
                      <a:r>
                        <a:rPr lang="en-US" sz="2000" dirty="0"/>
                        <a:t>x</a:t>
                      </a:r>
                    </a:p>
                  </a:txBody>
                  <a:tcPr anchor="ctr"/>
                </a:tc>
                <a:tc>
                  <a:txBody>
                    <a:bodyPr/>
                    <a:lstStyle/>
                    <a:p>
                      <a:pPr algn="ctr"/>
                      <a:r>
                        <a:rPr lang="en-US" sz="2000" dirty="0"/>
                        <a:t>P(X=x)</a:t>
                      </a:r>
                    </a:p>
                  </a:txBody>
                  <a:tcPr anchor="ctr"/>
                </a:tc>
                <a:extLst>
                  <a:ext uri="{0D108BD9-81ED-4DB2-BD59-A6C34878D82A}">
                    <a16:rowId xmlns:a16="http://schemas.microsoft.com/office/drawing/2014/main" val="166656366"/>
                  </a:ext>
                </a:extLst>
              </a:tr>
              <a:tr h="356704">
                <a:tc>
                  <a:txBody>
                    <a:bodyPr/>
                    <a:lstStyle/>
                    <a:p>
                      <a:pPr algn="ctr"/>
                      <a:r>
                        <a:rPr lang="en-US" sz="2000" dirty="0"/>
                        <a:t>0</a:t>
                      </a:r>
                    </a:p>
                  </a:txBody>
                  <a:tcPr anchor="ctr"/>
                </a:tc>
                <a:tc>
                  <a:txBody>
                    <a:bodyPr/>
                    <a:lstStyle/>
                    <a:p>
                      <a:pPr algn="ctr"/>
                      <a:r>
                        <a:rPr lang="en-US" sz="2000" dirty="0"/>
                        <a:t>0.2</a:t>
                      </a:r>
                    </a:p>
                  </a:txBody>
                  <a:tcPr anchor="ctr"/>
                </a:tc>
                <a:extLst>
                  <a:ext uri="{0D108BD9-81ED-4DB2-BD59-A6C34878D82A}">
                    <a16:rowId xmlns:a16="http://schemas.microsoft.com/office/drawing/2014/main" val="1239199008"/>
                  </a:ext>
                </a:extLst>
              </a:tr>
              <a:tr h="356704">
                <a:tc>
                  <a:txBody>
                    <a:bodyPr/>
                    <a:lstStyle/>
                    <a:p>
                      <a:pPr algn="ctr"/>
                      <a:r>
                        <a:rPr lang="en-US" sz="2000" dirty="0"/>
                        <a:t>1</a:t>
                      </a:r>
                    </a:p>
                  </a:txBody>
                  <a:tcPr anchor="ctr"/>
                </a:tc>
                <a:tc>
                  <a:txBody>
                    <a:bodyPr/>
                    <a:lstStyle/>
                    <a:p>
                      <a:pPr algn="ctr"/>
                      <a:r>
                        <a:rPr lang="en-US" sz="2000" dirty="0"/>
                        <a:t>0.4</a:t>
                      </a:r>
                    </a:p>
                  </a:txBody>
                  <a:tcPr anchor="ctr"/>
                </a:tc>
                <a:extLst>
                  <a:ext uri="{0D108BD9-81ED-4DB2-BD59-A6C34878D82A}">
                    <a16:rowId xmlns:a16="http://schemas.microsoft.com/office/drawing/2014/main" val="2647085556"/>
                  </a:ext>
                </a:extLst>
              </a:tr>
              <a:tr h="356704">
                <a:tc>
                  <a:txBody>
                    <a:bodyPr/>
                    <a:lstStyle/>
                    <a:p>
                      <a:pPr algn="ctr"/>
                      <a:r>
                        <a:rPr lang="en-US" sz="2000" dirty="0"/>
                        <a:t>2</a:t>
                      </a:r>
                    </a:p>
                  </a:txBody>
                  <a:tcPr anchor="ctr"/>
                </a:tc>
                <a:tc>
                  <a:txBody>
                    <a:bodyPr/>
                    <a:lstStyle/>
                    <a:p>
                      <a:pPr algn="ctr"/>
                      <a:r>
                        <a:rPr lang="en-US" sz="2000" dirty="0"/>
                        <a:t>0.3</a:t>
                      </a:r>
                    </a:p>
                  </a:txBody>
                  <a:tcPr anchor="ctr"/>
                </a:tc>
                <a:extLst>
                  <a:ext uri="{0D108BD9-81ED-4DB2-BD59-A6C34878D82A}">
                    <a16:rowId xmlns:a16="http://schemas.microsoft.com/office/drawing/2014/main" val="1786922875"/>
                  </a:ext>
                </a:extLst>
              </a:tr>
              <a:tr h="356704">
                <a:tc>
                  <a:txBody>
                    <a:bodyPr/>
                    <a:lstStyle/>
                    <a:p>
                      <a:pPr algn="ctr"/>
                      <a:r>
                        <a:rPr lang="en-US" sz="2000" dirty="0"/>
                        <a:t>3</a:t>
                      </a:r>
                    </a:p>
                  </a:txBody>
                  <a:tcPr anchor="ctr"/>
                </a:tc>
                <a:tc>
                  <a:txBody>
                    <a:bodyPr/>
                    <a:lstStyle/>
                    <a:p>
                      <a:pPr algn="ctr"/>
                      <a:r>
                        <a:rPr lang="en-US" sz="2000" dirty="0"/>
                        <a:t>0.05</a:t>
                      </a:r>
                    </a:p>
                  </a:txBody>
                  <a:tcPr anchor="ctr"/>
                </a:tc>
                <a:extLst>
                  <a:ext uri="{0D108BD9-81ED-4DB2-BD59-A6C34878D82A}">
                    <a16:rowId xmlns:a16="http://schemas.microsoft.com/office/drawing/2014/main" val="908465038"/>
                  </a:ext>
                </a:extLst>
              </a:tr>
              <a:tr h="356704">
                <a:tc>
                  <a:txBody>
                    <a:bodyPr/>
                    <a:lstStyle/>
                    <a:p>
                      <a:pPr algn="ctr"/>
                      <a:r>
                        <a:rPr lang="en-US" sz="2000" dirty="0"/>
                        <a:t>4</a:t>
                      </a:r>
                    </a:p>
                  </a:txBody>
                  <a:tcPr anchor="ctr"/>
                </a:tc>
                <a:tc>
                  <a:txBody>
                    <a:bodyPr/>
                    <a:lstStyle/>
                    <a:p>
                      <a:pPr algn="ctr"/>
                      <a:r>
                        <a:rPr lang="en-US" sz="2000" dirty="0"/>
                        <a:t>0.05</a:t>
                      </a:r>
                    </a:p>
                  </a:txBody>
                  <a:tcPr anchor="ctr"/>
                </a:tc>
                <a:extLst>
                  <a:ext uri="{0D108BD9-81ED-4DB2-BD59-A6C34878D82A}">
                    <a16:rowId xmlns:a16="http://schemas.microsoft.com/office/drawing/2014/main" val="2694422848"/>
                  </a:ext>
                </a:extLst>
              </a:tr>
            </a:tbl>
          </a:graphicData>
        </a:graphic>
      </p:graphicFrame>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0D7E17E-70F4-40EE-A248-03DF86AA53F9}"/>
                  </a:ext>
                </a:extLst>
              </p:cNvPr>
              <p:cNvSpPr txBox="1"/>
              <p:nvPr/>
            </p:nvSpPr>
            <p:spPr>
              <a:xfrm>
                <a:off x="3839598" y="4080450"/>
                <a:ext cx="786236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a:solidFill>
                            <a:schemeClr val="bg1"/>
                          </a:solidFill>
                          <a:latin typeface="Cambria Math" panose="02040503050406030204" pitchFamily="18" charset="0"/>
                        </a:rPr>
                        <m:t>𝑬</m:t>
                      </m:r>
                      <m:d>
                        <m:dPr>
                          <m:begChr m:val="["/>
                          <m:endChr m:val="]"/>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𝑿</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𝟐</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𝟒</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𝟐</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𝟑</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𝟑</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𝟎𝟓</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𝟒</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𝟎𝟓</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𝟑𝟓</m:t>
                      </m:r>
                    </m:oMath>
                  </m:oMathPara>
                </a14:m>
                <a:endParaRPr lang="en-US" sz="2000" b="1" dirty="0">
                  <a:solidFill>
                    <a:schemeClr val="bg1"/>
                  </a:solidFill>
                </a:endParaRPr>
              </a:p>
            </p:txBody>
          </p:sp>
        </mc:Choice>
        <mc:Fallback xmlns="">
          <p:sp>
            <p:nvSpPr>
              <p:cNvPr id="13" name="TextBox 12">
                <a:extLst>
                  <a:ext uri="{FF2B5EF4-FFF2-40B4-BE49-F238E27FC236}">
                    <a16:creationId xmlns:a16="http://schemas.microsoft.com/office/drawing/2014/main" id="{80D7E17E-70F4-40EE-A248-03DF86AA53F9}"/>
                  </a:ext>
                </a:extLst>
              </p:cNvPr>
              <p:cNvSpPr txBox="1">
                <a:spLocks noRot="1" noChangeAspect="1" noMove="1" noResize="1" noEditPoints="1" noAdjustHandles="1" noChangeArrowheads="1" noChangeShapeType="1" noTextEdit="1"/>
              </p:cNvSpPr>
              <p:nvPr/>
            </p:nvSpPr>
            <p:spPr>
              <a:xfrm>
                <a:off x="3839598" y="4080450"/>
                <a:ext cx="7862367" cy="4001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9701863-9CFA-4F6A-B2BF-068122FC1DEC}"/>
                  </a:ext>
                </a:extLst>
              </p:cNvPr>
              <p:cNvSpPr txBox="1"/>
              <p:nvPr/>
            </p:nvSpPr>
            <p:spPr>
              <a:xfrm>
                <a:off x="2143250" y="5026293"/>
                <a:ext cx="7214761" cy="8775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a:solidFill>
                            <a:schemeClr val="bg1"/>
                          </a:solidFill>
                          <a:latin typeface="Cambria Math" panose="02040503050406030204" pitchFamily="18" charset="0"/>
                        </a:rPr>
                        <m:t>𝑬</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𝑿</m:t>
                      </m:r>
                      <m:r>
                        <a:rPr lang="en-US" sz="2000" b="1" i="1">
                          <a:solidFill>
                            <a:schemeClr val="bg1"/>
                          </a:solidFill>
                          <a:latin typeface="Cambria Math" panose="02040503050406030204" pitchFamily="18" charset="0"/>
                        </a:rPr>
                        <m:t>]=</m:t>
                      </m:r>
                      <m:nary>
                        <m:naryPr>
                          <m:chr m:val="∑"/>
                          <m:supHide m:val="on"/>
                          <m:ctrlPr>
                            <a:rPr lang="en-US" sz="2000" b="1" i="1">
                              <a:solidFill>
                                <a:schemeClr val="bg1"/>
                              </a:solidFill>
                              <a:latin typeface="Cambria Math" panose="02040503050406030204" pitchFamily="18" charset="0"/>
                            </a:rPr>
                          </m:ctrlPr>
                        </m:naryPr>
                        <m:sub>
                          <m:r>
                            <a:rPr lang="en-US" sz="2000" b="1" i="1">
                              <a:solidFill>
                                <a:schemeClr val="bg1"/>
                              </a:solidFill>
                              <a:latin typeface="Cambria Math" panose="02040503050406030204" pitchFamily="18" charset="0"/>
                            </a:rPr>
                            <m:t>𝒚</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𝑺</m:t>
                          </m:r>
                        </m:sub>
                        <m:sup/>
                        <m:e>
                          <m:r>
                            <a:rPr lang="en-US" sz="2000" b="1" i="1">
                              <a:solidFill>
                                <a:schemeClr val="bg1"/>
                              </a:solidFill>
                              <a:latin typeface="Cambria Math" panose="02040503050406030204" pitchFamily="18" charset="0"/>
                            </a:rPr>
                            <m:t>𝑬</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𝑿</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𝒀</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𝒚</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𝑷</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𝒀</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𝒚</m:t>
                          </m:r>
                          <m:r>
                            <a:rPr lang="en-US" sz="2000" b="1" i="1">
                              <a:solidFill>
                                <a:schemeClr val="bg1"/>
                              </a:solidFill>
                              <a:latin typeface="Cambria Math" panose="02040503050406030204" pitchFamily="18" charset="0"/>
                            </a:rPr>
                            <m:t>)</m:t>
                          </m:r>
                        </m:e>
                      </m:nary>
                    </m:oMath>
                  </m:oMathPara>
                </a14:m>
                <a:endParaRPr lang="en-US" sz="2000" b="1" dirty="0">
                  <a:solidFill>
                    <a:schemeClr val="bg1"/>
                  </a:solidFill>
                </a:endParaRPr>
              </a:p>
            </p:txBody>
          </p:sp>
        </mc:Choice>
        <mc:Fallback xmlns="">
          <p:sp>
            <p:nvSpPr>
              <p:cNvPr id="14" name="TextBox 13">
                <a:extLst>
                  <a:ext uri="{FF2B5EF4-FFF2-40B4-BE49-F238E27FC236}">
                    <a16:creationId xmlns:a16="http://schemas.microsoft.com/office/drawing/2014/main" id="{D9701863-9CFA-4F6A-B2BF-068122FC1DEC}"/>
                  </a:ext>
                </a:extLst>
              </p:cNvPr>
              <p:cNvSpPr txBox="1">
                <a:spLocks noRot="1" noChangeAspect="1" noMove="1" noResize="1" noEditPoints="1" noAdjustHandles="1" noChangeArrowheads="1" noChangeShapeType="1" noTextEdit="1"/>
              </p:cNvSpPr>
              <p:nvPr/>
            </p:nvSpPr>
            <p:spPr>
              <a:xfrm>
                <a:off x="2143250" y="5026293"/>
                <a:ext cx="7214761" cy="877548"/>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090894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2" y="-52156"/>
            <a:ext cx="12192000"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080083" y="1520793"/>
            <a:ext cx="7834845" cy="1877437"/>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Expected Value</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Example: </a:t>
            </a:r>
          </a:p>
          <a:p>
            <a:pPr marL="1257269" lvl="2" indent="-342891">
              <a:buFont typeface="Arial" panose="020B0604020202020204" pitchFamily="34" charset="0"/>
              <a:buChar char="•"/>
            </a:pPr>
            <a:r>
              <a:rPr lang="en-US" dirty="0">
                <a:solidFill>
                  <a:schemeClr val="bg1"/>
                </a:solidFill>
                <a:latin typeface="Selawik Semibold" panose="020B0702040204020203" pitchFamily="34" charset="0"/>
              </a:rPr>
              <a:t>X = Number of Balls in a Plate Appearance</a:t>
            </a:r>
          </a:p>
          <a:p>
            <a:pPr marL="1257269" lvl="2" indent="-342891">
              <a:buFont typeface="Arial" panose="020B0604020202020204" pitchFamily="34" charset="0"/>
              <a:buChar char="•"/>
            </a:pPr>
            <a:r>
              <a:rPr lang="en-US" dirty="0">
                <a:solidFill>
                  <a:schemeClr val="bg1"/>
                </a:solidFill>
                <a:latin typeface="Selawik Semibold" panose="020B0702040204020203" pitchFamily="34" charset="0"/>
              </a:rPr>
              <a:t>Y = First Pitch is a Strike (Yes = 1 &amp; No = 0) </a:t>
            </a:r>
          </a:p>
          <a:p>
            <a:pPr marL="1257269" lvl="2" indent="-342891">
              <a:buFont typeface="Arial" panose="020B0604020202020204" pitchFamily="34" charset="0"/>
              <a:buChar char="•"/>
            </a:pPr>
            <a:r>
              <a:rPr lang="en-US" dirty="0">
                <a:solidFill>
                  <a:schemeClr val="bg1"/>
                </a:solidFill>
                <a:latin typeface="Selawik Semibold" panose="020B0702040204020203" pitchFamily="34" charset="0"/>
              </a:rPr>
              <a:t>Average of 0.99 Balls When First Pitch is a Strike</a:t>
            </a:r>
          </a:p>
          <a:p>
            <a:pPr marL="1257269" lvl="2" indent="-342891">
              <a:buFont typeface="Arial" panose="020B0604020202020204" pitchFamily="34" charset="0"/>
              <a:buChar char="•"/>
            </a:pPr>
            <a:r>
              <a:rPr lang="en-US" dirty="0">
                <a:solidFill>
                  <a:schemeClr val="bg1"/>
                </a:solidFill>
                <a:latin typeface="Selawik Semibold" panose="020B0702040204020203" pitchFamily="34" charset="0"/>
              </a:rPr>
              <a:t>Average of 1.83 Balls When First Pitch is a Ball</a:t>
            </a:r>
          </a:p>
        </p:txBody>
      </p:sp>
      <p:graphicFrame>
        <p:nvGraphicFramePr>
          <p:cNvPr id="2" name="Table 2">
            <a:extLst>
              <a:ext uri="{FF2B5EF4-FFF2-40B4-BE49-F238E27FC236}">
                <a16:creationId xmlns:a16="http://schemas.microsoft.com/office/drawing/2014/main" id="{CD916BAB-45F9-4734-8349-15A468DD85C4}"/>
              </a:ext>
            </a:extLst>
          </p:cNvPr>
          <p:cNvGraphicFramePr>
            <a:graphicFrameLocks noGrp="1"/>
          </p:cNvGraphicFramePr>
          <p:nvPr>
            <p:extLst>
              <p:ext uri="{D42A27DB-BD31-4B8C-83A1-F6EECF244321}">
                <p14:modId xmlns:p14="http://schemas.microsoft.com/office/powerpoint/2010/main" val="725582902"/>
              </p:ext>
            </p:extLst>
          </p:nvPr>
        </p:nvGraphicFramePr>
        <p:xfrm>
          <a:off x="4435036" y="3961567"/>
          <a:ext cx="3573683" cy="1763164"/>
        </p:xfrm>
        <a:graphic>
          <a:graphicData uri="http://schemas.openxmlformats.org/drawingml/2006/table">
            <a:tbl>
              <a:tblPr firstRow="1" bandRow="1">
                <a:tableStyleId>{073A0DAA-6AF3-43AB-8588-CEC1D06C72B9}</a:tableStyleId>
              </a:tblPr>
              <a:tblGrid>
                <a:gridCol w="839757">
                  <a:extLst>
                    <a:ext uri="{9D8B030D-6E8A-4147-A177-3AD203B41FA5}">
                      <a16:colId xmlns:a16="http://schemas.microsoft.com/office/drawing/2014/main" val="2677213698"/>
                    </a:ext>
                  </a:extLst>
                </a:gridCol>
                <a:gridCol w="1366963">
                  <a:extLst>
                    <a:ext uri="{9D8B030D-6E8A-4147-A177-3AD203B41FA5}">
                      <a16:colId xmlns:a16="http://schemas.microsoft.com/office/drawing/2014/main" val="3179823401"/>
                    </a:ext>
                  </a:extLst>
                </a:gridCol>
                <a:gridCol w="1366963">
                  <a:extLst>
                    <a:ext uri="{9D8B030D-6E8A-4147-A177-3AD203B41FA5}">
                      <a16:colId xmlns:a16="http://schemas.microsoft.com/office/drawing/2014/main" val="3499664135"/>
                    </a:ext>
                  </a:extLst>
                </a:gridCol>
              </a:tblGrid>
              <a:tr h="848764">
                <a:tc>
                  <a:txBody>
                    <a:bodyPr/>
                    <a:lstStyle/>
                    <a:p>
                      <a:pPr algn="ctr"/>
                      <a:r>
                        <a:rPr lang="en-US" sz="2400" dirty="0"/>
                        <a:t>y</a:t>
                      </a:r>
                    </a:p>
                  </a:txBody>
                  <a:tcPr anchor="ctr"/>
                </a:tc>
                <a:tc>
                  <a:txBody>
                    <a:bodyPr/>
                    <a:lstStyle/>
                    <a:p>
                      <a:pPr algn="ctr"/>
                      <a:r>
                        <a:rPr lang="en-US" sz="2400" dirty="0"/>
                        <a:t>E[X|Y=y]</a:t>
                      </a:r>
                    </a:p>
                  </a:txBody>
                  <a:tcPr anchor="ctr"/>
                </a:tc>
                <a:tc>
                  <a:txBody>
                    <a:bodyPr/>
                    <a:lstStyle/>
                    <a:p>
                      <a:pPr algn="ctr"/>
                      <a:r>
                        <a:rPr lang="en-US" sz="2400" dirty="0"/>
                        <a:t>P(Y=y)</a:t>
                      </a:r>
                    </a:p>
                  </a:txBody>
                  <a:tcPr anchor="ctr"/>
                </a:tc>
                <a:extLst>
                  <a:ext uri="{0D108BD9-81ED-4DB2-BD59-A6C34878D82A}">
                    <a16:rowId xmlns:a16="http://schemas.microsoft.com/office/drawing/2014/main" val="166656366"/>
                  </a:ext>
                </a:extLst>
              </a:tr>
              <a:tr h="457200">
                <a:tc>
                  <a:txBody>
                    <a:bodyPr/>
                    <a:lstStyle/>
                    <a:p>
                      <a:pPr algn="ctr"/>
                      <a:r>
                        <a:rPr lang="en-US" sz="2400" dirty="0"/>
                        <a:t>0</a:t>
                      </a:r>
                    </a:p>
                  </a:txBody>
                  <a:tcPr anchor="ctr"/>
                </a:tc>
                <a:tc>
                  <a:txBody>
                    <a:bodyPr/>
                    <a:lstStyle/>
                    <a:p>
                      <a:pPr algn="ctr"/>
                      <a:r>
                        <a:rPr lang="en-US" sz="2400" dirty="0"/>
                        <a:t>1.83</a:t>
                      </a:r>
                    </a:p>
                  </a:txBody>
                  <a:tcPr anchor="ctr"/>
                </a:tc>
                <a:tc>
                  <a:txBody>
                    <a:bodyPr/>
                    <a:lstStyle/>
                    <a:p>
                      <a:pPr algn="ctr"/>
                      <a:r>
                        <a:rPr lang="en-US" sz="2400" dirty="0"/>
                        <a:t>0.43</a:t>
                      </a:r>
                    </a:p>
                  </a:txBody>
                  <a:tcPr anchor="ctr"/>
                </a:tc>
                <a:extLst>
                  <a:ext uri="{0D108BD9-81ED-4DB2-BD59-A6C34878D82A}">
                    <a16:rowId xmlns:a16="http://schemas.microsoft.com/office/drawing/2014/main" val="1239199008"/>
                  </a:ext>
                </a:extLst>
              </a:tr>
              <a:tr h="457200">
                <a:tc>
                  <a:txBody>
                    <a:bodyPr/>
                    <a:lstStyle/>
                    <a:p>
                      <a:pPr algn="ctr"/>
                      <a:r>
                        <a:rPr lang="en-US" sz="2400" dirty="0"/>
                        <a:t>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t>0.99</a:t>
                      </a:r>
                    </a:p>
                  </a:txBody>
                  <a:tcPr anchor="ctr"/>
                </a:tc>
                <a:tc>
                  <a:txBody>
                    <a:bodyPr/>
                    <a:lstStyle/>
                    <a:p>
                      <a:pPr algn="ctr"/>
                      <a:r>
                        <a:rPr lang="en-US" sz="2400" dirty="0"/>
                        <a:t>0.57</a:t>
                      </a:r>
                    </a:p>
                  </a:txBody>
                  <a:tcPr anchor="ctr"/>
                </a:tc>
                <a:extLst>
                  <a:ext uri="{0D108BD9-81ED-4DB2-BD59-A6C34878D82A}">
                    <a16:rowId xmlns:a16="http://schemas.microsoft.com/office/drawing/2014/main" val="2647085556"/>
                  </a:ext>
                </a:extLst>
              </a:tr>
            </a:tbl>
          </a:graphicData>
        </a:graphic>
      </p:graphicFrame>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1A8D547-876B-4C21-8808-97542BEB2EC7}"/>
                  </a:ext>
                </a:extLst>
              </p:cNvPr>
              <p:cNvSpPr txBox="1"/>
              <p:nvPr/>
            </p:nvSpPr>
            <p:spPr>
              <a:xfrm>
                <a:off x="3261070" y="3365356"/>
                <a:ext cx="7214761"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a:solidFill>
                            <a:schemeClr val="bg1"/>
                          </a:solidFill>
                          <a:latin typeface="Cambria Math" panose="02040503050406030204" pitchFamily="18" charset="0"/>
                        </a:rPr>
                        <m:t>𝑬</m:t>
                      </m:r>
                      <m:d>
                        <m:dPr>
                          <m:begChr m:val="["/>
                          <m:endChr m:val="]"/>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𝑿</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𝟖𝟑</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𝟒𝟑</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𝟗𝟗</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𝟓𝟕</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𝟑𝟓</m:t>
                      </m:r>
                    </m:oMath>
                  </m:oMathPara>
                </a14:m>
                <a:endParaRPr lang="en-US" sz="2000" b="1" dirty="0">
                  <a:solidFill>
                    <a:schemeClr val="bg1"/>
                  </a:solidFill>
                </a:endParaRPr>
              </a:p>
            </p:txBody>
          </p:sp>
        </mc:Choice>
        <mc:Fallback xmlns="">
          <p:sp>
            <p:nvSpPr>
              <p:cNvPr id="15" name="TextBox 14">
                <a:extLst>
                  <a:ext uri="{FF2B5EF4-FFF2-40B4-BE49-F238E27FC236}">
                    <a16:creationId xmlns:a16="http://schemas.microsoft.com/office/drawing/2014/main" id="{91A8D547-876B-4C21-8808-97542BEB2EC7}"/>
                  </a:ext>
                </a:extLst>
              </p:cNvPr>
              <p:cNvSpPr txBox="1">
                <a:spLocks noRot="1" noChangeAspect="1" noMove="1" noResize="1" noEditPoints="1" noAdjustHandles="1" noChangeArrowheads="1" noChangeShapeType="1" noTextEdit="1"/>
              </p:cNvSpPr>
              <p:nvPr/>
            </p:nvSpPr>
            <p:spPr>
              <a:xfrm>
                <a:off x="3261070" y="3365356"/>
                <a:ext cx="7214761" cy="400110"/>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963111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26391" y="-52157"/>
            <a:ext cx="12192000"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080083" y="1520793"/>
            <a:ext cx="7834845" cy="1077218"/>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Should We Bunt with Man on First and No Outs?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Expect 0.87 Runs Under Current State = 0100</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List of Possible Resulting  States With Probabilities</a:t>
            </a:r>
          </a:p>
        </p:txBody>
      </p:sp>
      <p:sp>
        <p:nvSpPr>
          <p:cNvPr id="3" name="TextBox 2">
            <a:extLst>
              <a:ext uri="{FF2B5EF4-FFF2-40B4-BE49-F238E27FC236}">
                <a16:creationId xmlns:a16="http://schemas.microsoft.com/office/drawing/2014/main" id="{E1C961E3-EC5F-4577-BEDA-30612C755085}"/>
              </a:ext>
            </a:extLst>
          </p:cNvPr>
          <p:cNvSpPr txBox="1"/>
          <p:nvPr/>
        </p:nvSpPr>
        <p:spPr>
          <a:xfrm>
            <a:off x="10123373" y="3597025"/>
            <a:ext cx="1812747" cy="707886"/>
          </a:xfrm>
          <a:prstGeom prst="rect">
            <a:avLst/>
          </a:prstGeom>
          <a:noFill/>
        </p:spPr>
        <p:txBody>
          <a:bodyPr wrap="square" rtlCol="0">
            <a:spAutoFit/>
          </a:bodyPr>
          <a:lstStyle/>
          <a:p>
            <a:pPr algn="ctr"/>
            <a:r>
              <a:rPr lang="en-US" sz="2000" dirty="0">
                <a:solidFill>
                  <a:schemeClr val="bg1"/>
                </a:solidFill>
              </a:rPr>
              <a:t>Based on Previous Table</a:t>
            </a:r>
          </a:p>
        </p:txBody>
      </p:sp>
      <p:cxnSp>
        <p:nvCxnSpPr>
          <p:cNvPr id="6" name="Straight Arrow Connector 5">
            <a:extLst>
              <a:ext uri="{FF2B5EF4-FFF2-40B4-BE49-F238E27FC236}">
                <a16:creationId xmlns:a16="http://schemas.microsoft.com/office/drawing/2014/main" id="{9652C815-0A16-4DB6-87F0-D3448D320874}"/>
              </a:ext>
            </a:extLst>
          </p:cNvPr>
          <p:cNvCxnSpPr>
            <a:cxnSpLocks/>
          </p:cNvCxnSpPr>
          <p:nvPr/>
        </p:nvCxnSpPr>
        <p:spPr>
          <a:xfrm>
            <a:off x="7678357" y="3802384"/>
            <a:ext cx="2700898" cy="46633"/>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9CBC57D-7756-4F19-93F9-B098E8A91A45}"/>
              </a:ext>
            </a:extLst>
          </p:cNvPr>
          <p:cNvSpPr txBox="1"/>
          <p:nvPr/>
        </p:nvSpPr>
        <p:spPr>
          <a:xfrm>
            <a:off x="9774959" y="4814328"/>
            <a:ext cx="2495652" cy="707886"/>
          </a:xfrm>
          <a:prstGeom prst="rect">
            <a:avLst/>
          </a:prstGeom>
          <a:noFill/>
        </p:spPr>
        <p:txBody>
          <a:bodyPr wrap="square" rtlCol="0">
            <a:spAutoFit/>
          </a:bodyPr>
          <a:lstStyle/>
          <a:p>
            <a:pPr algn="ctr"/>
            <a:r>
              <a:rPr lang="en-US" sz="2000" dirty="0">
                <a:solidFill>
                  <a:schemeClr val="bg1"/>
                </a:solidFill>
              </a:rPr>
              <a:t>Based on Known Relative Frequencies</a:t>
            </a:r>
          </a:p>
        </p:txBody>
      </p:sp>
      <p:pic>
        <p:nvPicPr>
          <p:cNvPr id="11" name="Picture 10">
            <a:extLst>
              <a:ext uri="{FF2B5EF4-FFF2-40B4-BE49-F238E27FC236}">
                <a16:creationId xmlns:a16="http://schemas.microsoft.com/office/drawing/2014/main" id="{9AF7A3A6-C6D0-0314-0A79-14C01F44DDCF}"/>
              </a:ext>
            </a:extLst>
          </p:cNvPr>
          <p:cNvPicPr>
            <a:picLocks noChangeAspect="1"/>
          </p:cNvPicPr>
          <p:nvPr/>
        </p:nvPicPr>
        <p:blipFill>
          <a:blip r:embed="rId4"/>
          <a:stretch>
            <a:fillRect/>
          </a:stretch>
        </p:blipFill>
        <p:spPr>
          <a:xfrm>
            <a:off x="3954878" y="2598011"/>
            <a:ext cx="3587962" cy="4133956"/>
          </a:xfrm>
          <a:prstGeom prst="rect">
            <a:avLst/>
          </a:prstGeom>
        </p:spPr>
      </p:pic>
      <p:sp>
        <p:nvSpPr>
          <p:cNvPr id="12" name="Rectangle 11">
            <a:extLst>
              <a:ext uri="{FF2B5EF4-FFF2-40B4-BE49-F238E27FC236}">
                <a16:creationId xmlns:a16="http://schemas.microsoft.com/office/drawing/2014/main" id="{E62497A3-C4A0-4F02-8E9B-C855BD75D319}"/>
              </a:ext>
            </a:extLst>
          </p:cNvPr>
          <p:cNvSpPr/>
          <p:nvPr/>
        </p:nvSpPr>
        <p:spPr>
          <a:xfrm>
            <a:off x="6226179" y="3597025"/>
            <a:ext cx="636516" cy="321248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4EEC9CB7-6A8E-4AB3-84E3-D7821A7BB18F}"/>
              </a:ext>
            </a:extLst>
          </p:cNvPr>
          <p:cNvCxnSpPr>
            <a:cxnSpLocks/>
          </p:cNvCxnSpPr>
          <p:nvPr/>
        </p:nvCxnSpPr>
        <p:spPr>
          <a:xfrm flipV="1">
            <a:off x="6862695" y="5131079"/>
            <a:ext cx="3162274" cy="272194"/>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0CB2126D-066F-41AB-9607-A2EE64975DB8}"/>
              </a:ext>
            </a:extLst>
          </p:cNvPr>
          <p:cNvSpPr/>
          <p:nvPr/>
        </p:nvSpPr>
        <p:spPr>
          <a:xfrm>
            <a:off x="7093666" y="3565103"/>
            <a:ext cx="590309" cy="47456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32384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0" y="-52156"/>
            <a:ext cx="12192000"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080083" y="1520794"/>
            <a:ext cx="8158936" cy="4401205"/>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Should We Bunt with Man on First and No Outs?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Expected Number of Runs Scored After Bunt (X)</a:t>
            </a: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Comparing Expected Runs Without Bunt Versus After Bunt</a:t>
            </a:r>
          </a:p>
          <a:p>
            <a:pPr marL="1257269" lvl="2" indent="-342891">
              <a:buFont typeface="Arial" panose="020B0604020202020204" pitchFamily="34" charset="0"/>
              <a:buChar char="•"/>
            </a:pPr>
            <a:r>
              <a:rPr lang="en-US" dirty="0">
                <a:solidFill>
                  <a:schemeClr val="bg1"/>
                </a:solidFill>
                <a:latin typeface="Selawik Semibold" panose="020B0702040204020203" pitchFamily="34" charset="0"/>
              </a:rPr>
              <a:t>Under Current State = 0.87 Runs</a:t>
            </a:r>
          </a:p>
          <a:p>
            <a:pPr marL="1257269" lvl="2" indent="-342891">
              <a:buFont typeface="Arial" panose="020B0604020202020204" pitchFamily="34" charset="0"/>
              <a:buChar char="•"/>
            </a:pPr>
            <a:r>
              <a:rPr lang="en-US" dirty="0">
                <a:solidFill>
                  <a:schemeClr val="bg1"/>
                </a:solidFill>
                <a:latin typeface="Selawik Semibold" panose="020B0702040204020203" pitchFamily="34" charset="0"/>
              </a:rPr>
              <a:t>After Bunt = 0.71 Runs (Clearly Worse)</a:t>
            </a:r>
          </a:p>
          <a:p>
            <a:pPr marL="800080" lvl="1" indent="-342891">
              <a:buFont typeface="Arial" panose="020B0604020202020204" pitchFamily="34" charset="0"/>
              <a:buChar char="•"/>
            </a:pPr>
            <a:r>
              <a:rPr lang="en-US" dirty="0">
                <a:solidFill>
                  <a:schemeClr val="bg1"/>
                </a:solidFill>
                <a:latin typeface="Selawik Semibold" panose="020B0702040204020203" pitchFamily="34" charset="0"/>
              </a:rPr>
              <a:t>All of This is Based on the </a:t>
            </a:r>
            <a:r>
              <a:rPr lang="en-US" u="sng" dirty="0">
                <a:solidFill>
                  <a:schemeClr val="bg1"/>
                </a:solidFill>
                <a:latin typeface="Selawik Semibold" panose="020B0702040204020203" pitchFamily="34" charset="0"/>
              </a:rPr>
              <a:t>Average Hitter</a:t>
            </a:r>
          </a:p>
          <a:p>
            <a:pPr marL="1257269" lvl="2" indent="-342891">
              <a:buFont typeface="Arial" panose="020B0604020202020204" pitchFamily="34" charset="0"/>
              <a:buChar char="•"/>
            </a:pPr>
            <a:endParaRPr lang="en-US" dirty="0">
              <a:solidFill>
                <a:schemeClr val="bg1"/>
              </a:solidFill>
              <a:latin typeface="Selawik Semibold" panose="020B0702040204020203" pitchFamily="34" charset="0"/>
            </a:endParaRPr>
          </a:p>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What if I am Batting? Should I Bunt?</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Strike Out 85% of the Time</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Single 10% of the Time</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Walk 5% of the Time</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Suppose Stupid Manager Lets Me Swing for the Fence</a:t>
            </a:r>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EAEB7D0B-F189-40B6-BBBD-6C04EFE09AB4}"/>
                  </a:ext>
                </a:extLst>
              </p:cNvPr>
              <p:cNvSpPr/>
              <p:nvPr/>
            </p:nvSpPr>
            <p:spPr>
              <a:xfrm>
                <a:off x="3846034" y="2229627"/>
                <a:ext cx="5640583"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1" i="1" smtClean="0">
                          <a:solidFill>
                            <a:schemeClr val="bg1"/>
                          </a:solidFill>
                          <a:latin typeface="Cambria Math" panose="02040503050406030204" pitchFamily="18" charset="0"/>
                        </a:rPr>
                        <m:t>𝑬</m:t>
                      </m:r>
                      <m:d>
                        <m:dPr>
                          <m:begChr m:val="["/>
                          <m:endChr m:val="]"/>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𝑿</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𝟒𝟔</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𝟕</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𝟔𝟕</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𝟎𝟐</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oMath>
                  </m:oMathPara>
                </a14:m>
                <a:endParaRPr lang="en-US" sz="2000" b="1" i="1" dirty="0">
                  <a:solidFill>
                    <a:schemeClr val="bg1"/>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 </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𝟎𝟖</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𝟓𝟑</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𝟓𝟑</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𝟕𝟏</m:t>
                      </m:r>
                    </m:oMath>
                  </m:oMathPara>
                </a14:m>
                <a:endParaRPr lang="en-US" sz="2000" b="1" dirty="0">
                  <a:solidFill>
                    <a:schemeClr val="bg1"/>
                  </a:solidFill>
                </a:endParaRPr>
              </a:p>
            </p:txBody>
          </p:sp>
        </mc:Choice>
        <mc:Fallback xmlns="">
          <p:sp>
            <p:nvSpPr>
              <p:cNvPr id="5" name="Rectangle 4">
                <a:extLst>
                  <a:ext uri="{FF2B5EF4-FFF2-40B4-BE49-F238E27FC236}">
                    <a16:creationId xmlns:a16="http://schemas.microsoft.com/office/drawing/2014/main" id="{EAEB7D0B-F189-40B6-BBBD-6C04EFE09AB4}"/>
                  </a:ext>
                </a:extLst>
              </p:cNvPr>
              <p:cNvSpPr>
                <a:spLocks noRot="1" noChangeAspect="1" noMove="1" noResize="1" noEditPoints="1" noAdjustHandles="1" noChangeArrowheads="1" noChangeShapeType="1" noTextEdit="1"/>
              </p:cNvSpPr>
              <p:nvPr/>
            </p:nvSpPr>
            <p:spPr>
              <a:xfrm>
                <a:off x="3846034" y="2229627"/>
                <a:ext cx="5640583"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EF9E19E3-1E45-4D88-989F-2F21D01070FF}"/>
                  </a:ext>
                </a:extLst>
              </p:cNvPr>
              <p:cNvSpPr/>
              <p:nvPr/>
            </p:nvSpPr>
            <p:spPr>
              <a:xfrm>
                <a:off x="3115383" y="5863364"/>
                <a:ext cx="8683787"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1" i="1" smtClean="0">
                          <a:solidFill>
                            <a:schemeClr val="bg1"/>
                          </a:solidFill>
                          <a:latin typeface="Cambria Math" panose="02040503050406030204" pitchFamily="18" charset="0"/>
                        </a:rPr>
                        <m:t>𝑬</m:t>
                      </m:r>
                      <m:d>
                        <m:dPr>
                          <m:begChr m:val="["/>
                          <m:endChr m:val="]"/>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𝑿</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𝟖𝟓</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𝑬</m:t>
                      </m:r>
                      <m:d>
                        <m:dPr>
                          <m:begChr m:val="["/>
                          <m:endChr m:val="]"/>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𝑿</m:t>
                          </m:r>
                        </m:e>
                        <m:e>
                          <m:r>
                            <a:rPr lang="en-US" sz="2000" b="1" i="1">
                              <a:solidFill>
                                <a:schemeClr val="bg1"/>
                              </a:solidFill>
                              <a:latin typeface="Cambria Math" panose="02040503050406030204" pitchFamily="18" charset="0"/>
                            </a:rPr>
                            <m:t>𝟏𝟏𝟎𝟎</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𝑬</m:t>
                      </m:r>
                      <m:d>
                        <m:dPr>
                          <m:begChr m:val="["/>
                          <m:endChr m:val="]"/>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𝑿</m:t>
                          </m:r>
                        </m:e>
                        <m:e>
                          <m:r>
                            <a:rPr lang="en-US" sz="2000" b="1" i="1">
                              <a:solidFill>
                                <a:schemeClr val="bg1"/>
                              </a:solidFill>
                              <a:latin typeface="Cambria Math" panose="02040503050406030204" pitchFamily="18" charset="0"/>
                            </a:rPr>
                            <m:t>𝟎𝟏𝟎𝟏</m:t>
                          </m:r>
                        </m:e>
                      </m:d>
                      <m:r>
                        <a:rPr lang="en-US" sz="2000" b="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𝟎𝟓</m:t>
                      </m:r>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𝑬</m:t>
                      </m:r>
                      <m:d>
                        <m:dPr>
                          <m:begChr m:val="["/>
                          <m:endChr m:val="]"/>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𝑿</m:t>
                          </m:r>
                        </m:e>
                        <m:e>
                          <m:r>
                            <a:rPr lang="en-US" sz="2000" b="1" i="1">
                              <a:solidFill>
                                <a:schemeClr val="bg1"/>
                              </a:solidFill>
                              <a:latin typeface="Cambria Math" panose="02040503050406030204" pitchFamily="18" charset="0"/>
                            </a:rPr>
                            <m:t>𝟎𝟏𝟏𝟎</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𝟔𝟗</m:t>
                      </m:r>
                    </m:oMath>
                  </m:oMathPara>
                </a14:m>
                <a:endParaRPr lang="en-US" sz="2000" b="1" dirty="0">
                  <a:solidFill>
                    <a:schemeClr val="bg1"/>
                  </a:solidFill>
                </a:endParaRPr>
              </a:p>
            </p:txBody>
          </p:sp>
        </mc:Choice>
        <mc:Fallback xmlns="">
          <p:sp>
            <p:nvSpPr>
              <p:cNvPr id="18" name="Rectangle 17">
                <a:extLst>
                  <a:ext uri="{FF2B5EF4-FFF2-40B4-BE49-F238E27FC236}">
                    <a16:creationId xmlns:a16="http://schemas.microsoft.com/office/drawing/2014/main" id="{EF9E19E3-1E45-4D88-989F-2F21D01070FF}"/>
                  </a:ext>
                </a:extLst>
              </p:cNvPr>
              <p:cNvSpPr>
                <a:spLocks noRot="1" noChangeAspect="1" noMove="1" noResize="1" noEditPoints="1" noAdjustHandles="1" noChangeArrowheads="1" noChangeShapeType="1" noTextEdit="1"/>
              </p:cNvSpPr>
              <p:nvPr/>
            </p:nvSpPr>
            <p:spPr>
              <a:xfrm>
                <a:off x="3115383" y="5863364"/>
                <a:ext cx="8683787" cy="400110"/>
              </a:xfrm>
              <a:prstGeom prst="rect">
                <a:avLst/>
              </a:prstGeom>
              <a:blipFill>
                <a:blip r:embed="rId5"/>
                <a:stretch>
                  <a:fillRect/>
                </a:stretch>
              </a:blipFill>
            </p:spPr>
            <p:txBody>
              <a:bodyPr/>
              <a:lstStyle/>
              <a:p>
                <a:r>
                  <a:rPr lang="en-US">
                    <a:noFill/>
                  </a:rPr>
                  <a:t> </a:t>
                </a:r>
              </a:p>
            </p:txBody>
          </p:sp>
        </mc:Fallback>
      </mc:AlternateContent>
      <p:sp>
        <p:nvSpPr>
          <p:cNvPr id="6" name="Arrow: Bent 5">
            <a:extLst>
              <a:ext uri="{FF2B5EF4-FFF2-40B4-BE49-F238E27FC236}">
                <a16:creationId xmlns:a16="http://schemas.microsoft.com/office/drawing/2014/main" id="{CE02EC35-7D4D-41A2-9D62-83E2E67C938D}"/>
              </a:ext>
            </a:extLst>
          </p:cNvPr>
          <p:cNvSpPr/>
          <p:nvPr/>
        </p:nvSpPr>
        <p:spPr>
          <a:xfrm flipV="1">
            <a:off x="7598058" y="6263474"/>
            <a:ext cx="529060" cy="436287"/>
          </a:xfrm>
          <a:prstGeom prst="ben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9" name="TextBox 18">
            <a:extLst>
              <a:ext uri="{FF2B5EF4-FFF2-40B4-BE49-F238E27FC236}">
                <a16:creationId xmlns:a16="http://schemas.microsoft.com/office/drawing/2014/main" id="{47E9B179-6A6A-4035-BA52-4D1999F4E4A4}"/>
              </a:ext>
            </a:extLst>
          </p:cNvPr>
          <p:cNvSpPr txBox="1"/>
          <p:nvPr/>
        </p:nvSpPr>
        <p:spPr>
          <a:xfrm>
            <a:off x="7758277" y="6367896"/>
            <a:ext cx="3857955" cy="400110"/>
          </a:xfrm>
          <a:prstGeom prst="rect">
            <a:avLst/>
          </a:prstGeom>
          <a:noFill/>
        </p:spPr>
        <p:txBody>
          <a:bodyPr wrap="square" rtlCol="0">
            <a:spAutoFit/>
          </a:bodyPr>
          <a:lstStyle/>
          <a:p>
            <a:pPr algn="ctr"/>
            <a:r>
              <a:rPr lang="en-US" sz="2000" dirty="0">
                <a:solidFill>
                  <a:schemeClr val="bg1"/>
                </a:solidFill>
              </a:rPr>
              <a:t>Assume Runner Gets to Third</a:t>
            </a:r>
          </a:p>
        </p:txBody>
      </p:sp>
    </p:spTree>
    <p:extLst>
      <p:ext uri="{BB962C8B-B14F-4D97-AF65-F5344CB8AC3E}">
        <p14:creationId xmlns:p14="http://schemas.microsoft.com/office/powerpoint/2010/main" val="3541472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2" y="-52157"/>
            <a:ext cx="12192000"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091281" y="1505396"/>
            <a:ext cx="9698369" cy="4462760"/>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Should We Steal if Man on First and No Outs?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Suppose I am on First Base…No</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Suppose Usain Bolt is on First Base…Yes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Short Answer: Depends on How Fast the Runner Is?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Let p = Probability of a Successful Steal</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Expect 0.87 Runs Under Current State = 0100</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Success: State = 0010 with 1.09 Expected Runs </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Failure: State = 1000 with 0.27 Expected Runs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Based on Law of Conditional Expectations for </a:t>
            </a:r>
          </a:p>
          <a:p>
            <a:pPr marL="457189" lvl="1"/>
            <a:r>
              <a:rPr lang="en-US" sz="2000" dirty="0">
                <a:solidFill>
                  <a:schemeClr val="bg1"/>
                </a:solidFill>
                <a:latin typeface="Selawik Semibold" panose="020B0702040204020203" pitchFamily="34" charset="0"/>
              </a:rPr>
              <a:t>     Expected Runs After Steal</a:t>
            </a: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When do We Want to Steal?</a:t>
            </a: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p:txBody>
      </p:sp>
      <mc:AlternateContent xmlns:mc="http://schemas.openxmlformats.org/markup-compatibility/2006" xmlns:a14="http://schemas.microsoft.com/office/drawing/2010/main">
        <mc:Choice Requires="a14">
          <p:sp>
            <p:nvSpPr>
              <p:cNvPr id="20" name="Rectangle 19">
                <a:extLst>
                  <a:ext uri="{FF2B5EF4-FFF2-40B4-BE49-F238E27FC236}">
                    <a16:creationId xmlns:a16="http://schemas.microsoft.com/office/drawing/2014/main" id="{4B886374-231C-4593-A3C7-3F132720BBD3}"/>
                  </a:ext>
                </a:extLst>
              </p:cNvPr>
              <p:cNvSpPr/>
              <p:nvPr/>
            </p:nvSpPr>
            <p:spPr>
              <a:xfrm>
                <a:off x="3832417" y="4675280"/>
                <a:ext cx="410804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1" i="1" smtClean="0">
                          <a:solidFill>
                            <a:schemeClr val="bg1"/>
                          </a:solidFill>
                          <a:latin typeface="Cambria Math" panose="02040503050406030204" pitchFamily="18" charset="0"/>
                        </a:rPr>
                        <m:t>𝑬</m:t>
                      </m:r>
                      <m:d>
                        <m:dPr>
                          <m:begChr m:val="["/>
                          <m:endChr m:val="]"/>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𝑿</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𝒑</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𝟎𝟗</m:t>
                      </m:r>
                      <m:r>
                        <a:rPr lang="en-US" sz="2000" b="1" i="1">
                          <a:solidFill>
                            <a:schemeClr val="bg1"/>
                          </a:solidFill>
                          <a:latin typeface="Cambria Math" panose="02040503050406030204" pitchFamily="18" charset="0"/>
                        </a:rPr>
                        <m:t>+</m:t>
                      </m:r>
                      <m:d>
                        <m:dPr>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𝒑</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𝟐𝟕</m:t>
                      </m:r>
                    </m:oMath>
                  </m:oMathPara>
                </a14:m>
                <a:endParaRPr lang="en-US" sz="2000" b="1" dirty="0">
                  <a:solidFill>
                    <a:schemeClr val="bg1"/>
                  </a:solidFill>
                </a:endParaRPr>
              </a:p>
            </p:txBody>
          </p:sp>
        </mc:Choice>
        <mc:Fallback xmlns="">
          <p:sp>
            <p:nvSpPr>
              <p:cNvPr id="20" name="Rectangle 19">
                <a:extLst>
                  <a:ext uri="{FF2B5EF4-FFF2-40B4-BE49-F238E27FC236}">
                    <a16:creationId xmlns:a16="http://schemas.microsoft.com/office/drawing/2014/main" id="{4B886374-231C-4593-A3C7-3F132720BBD3}"/>
                  </a:ext>
                </a:extLst>
              </p:cNvPr>
              <p:cNvSpPr>
                <a:spLocks noRot="1" noChangeAspect="1" noMove="1" noResize="1" noEditPoints="1" noAdjustHandles="1" noChangeArrowheads="1" noChangeShapeType="1" noTextEdit="1"/>
              </p:cNvSpPr>
              <p:nvPr/>
            </p:nvSpPr>
            <p:spPr>
              <a:xfrm>
                <a:off x="3832417" y="4675280"/>
                <a:ext cx="4108048" cy="400110"/>
              </a:xfrm>
              <a:prstGeom prst="rect">
                <a:avLst/>
              </a:prstGeom>
              <a:blipFill>
                <a:blip r:embed="rId4"/>
                <a:stretch>
                  <a:fillRect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820A2504-08C8-479E-9756-A02315840C34}"/>
                  </a:ext>
                </a:extLst>
              </p:cNvPr>
              <p:cNvSpPr/>
              <p:nvPr/>
            </p:nvSpPr>
            <p:spPr>
              <a:xfrm>
                <a:off x="3898537" y="5576601"/>
                <a:ext cx="4139595" cy="101566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1" i="1" smtClean="0">
                          <a:solidFill>
                            <a:schemeClr val="bg1"/>
                          </a:solidFill>
                          <a:latin typeface="Cambria Math" panose="02040503050406030204" pitchFamily="18" charset="0"/>
                        </a:rPr>
                        <m:t>𝒑</m:t>
                      </m:r>
                      <m:r>
                        <a:rPr lang="en-US" sz="2000" b="1" i="1" smtClean="0">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𝟏</m:t>
                      </m:r>
                      <m:r>
                        <a:rPr lang="en-US" sz="2000" b="1" i="1" smtClean="0">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𝟎𝟗</m:t>
                      </m:r>
                      <m:r>
                        <a:rPr lang="en-US" sz="2000" b="1" i="1" smtClean="0">
                          <a:solidFill>
                            <a:schemeClr val="bg1"/>
                          </a:solidFill>
                          <a:latin typeface="Cambria Math" panose="02040503050406030204" pitchFamily="18" charset="0"/>
                        </a:rPr>
                        <m:t>+</m:t>
                      </m:r>
                      <m:d>
                        <m:dPr>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𝒑</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𝟐𝟕</m:t>
                      </m:r>
                      <m:r>
                        <a:rPr lang="en-US" sz="2000" b="1" i="1">
                          <a:solidFill>
                            <a:schemeClr val="bg1"/>
                          </a:solidFill>
                          <a:latin typeface="Cambria Math" panose="02040503050406030204" pitchFamily="18" charset="0"/>
                        </a:rPr>
                        <m:t>&gt;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𝟖𝟕</m:t>
                      </m:r>
                    </m:oMath>
                  </m:oMathPara>
                </a14:m>
                <a:endParaRPr lang="en-US" sz="2000" b="1" dirty="0">
                  <a:solidFill>
                    <a:schemeClr val="bg1"/>
                  </a:solidFill>
                </a:endParaRPr>
              </a:p>
              <a:p>
                <a:pPr/>
                <a14:m>
                  <m:oMathPara xmlns:m="http://schemas.openxmlformats.org/officeDocument/2006/math">
                    <m:oMathParaPr>
                      <m:jc m:val="centerGroup"/>
                    </m:oMathParaPr>
                    <m:oMath xmlns:m="http://schemas.openxmlformats.org/officeDocument/2006/math">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𝟎𝟗</m:t>
                      </m:r>
                      <m:r>
                        <a:rPr lang="en-US" sz="2000" b="1" i="1">
                          <a:solidFill>
                            <a:schemeClr val="bg1"/>
                          </a:solidFill>
                          <a:latin typeface="Cambria Math" panose="02040503050406030204" pitchFamily="18" charset="0"/>
                        </a:rPr>
                        <m:t>𝒑</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𝟐𝟕</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𝟐𝟕</m:t>
                      </m:r>
                      <m:r>
                        <a:rPr lang="en-US" sz="2000" b="1" i="1">
                          <a:solidFill>
                            <a:schemeClr val="bg1"/>
                          </a:solidFill>
                          <a:latin typeface="Cambria Math" panose="02040503050406030204" pitchFamily="18" charset="0"/>
                        </a:rPr>
                        <m:t>𝒑</m:t>
                      </m:r>
                      <m:r>
                        <a:rPr lang="en-US" sz="2000" b="1" i="1">
                          <a:solidFill>
                            <a:schemeClr val="bg1"/>
                          </a:solidFill>
                          <a:latin typeface="Cambria Math" panose="02040503050406030204" pitchFamily="18" charset="0"/>
                        </a:rPr>
                        <m:t>&gt;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𝟖𝟕</m:t>
                      </m:r>
                    </m:oMath>
                  </m:oMathPara>
                </a14:m>
                <a:endParaRPr lang="en-US" sz="2000" b="1" dirty="0">
                  <a:solidFill>
                    <a:schemeClr val="bg1"/>
                  </a:solidFill>
                </a:endParaRPr>
              </a:p>
              <a:p>
                <a:pPr/>
                <a14:m>
                  <m:oMathPara xmlns:m="http://schemas.openxmlformats.org/officeDocument/2006/math">
                    <m:oMathParaPr>
                      <m:jc m:val="centerGroup"/>
                    </m:oMathParaPr>
                    <m:oMath xmlns:m="http://schemas.openxmlformats.org/officeDocument/2006/math">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𝟖𝟐</m:t>
                      </m:r>
                      <m:r>
                        <a:rPr lang="en-US" sz="2000" b="1" i="1">
                          <a:solidFill>
                            <a:schemeClr val="bg1"/>
                          </a:solidFill>
                          <a:latin typeface="Cambria Math" panose="02040503050406030204" pitchFamily="18" charset="0"/>
                        </a:rPr>
                        <m:t>𝒑</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𝟐𝟕</m:t>
                      </m:r>
                      <m:r>
                        <a:rPr lang="en-US" sz="2000" b="1" i="1">
                          <a:solidFill>
                            <a:schemeClr val="bg1"/>
                          </a:solidFill>
                          <a:latin typeface="Cambria Math" panose="02040503050406030204" pitchFamily="18" charset="0"/>
                        </a:rPr>
                        <m:t>&gt;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𝟖𝟕</m:t>
                      </m:r>
                    </m:oMath>
                  </m:oMathPara>
                </a14:m>
                <a:endParaRPr lang="en-US" sz="2000" b="1" dirty="0">
                  <a:solidFill>
                    <a:schemeClr val="bg1"/>
                  </a:solidFill>
                </a:endParaRPr>
              </a:p>
            </p:txBody>
          </p:sp>
        </mc:Choice>
        <mc:Fallback xmlns="">
          <p:sp>
            <p:nvSpPr>
              <p:cNvPr id="21" name="Rectangle 20">
                <a:extLst>
                  <a:ext uri="{FF2B5EF4-FFF2-40B4-BE49-F238E27FC236}">
                    <a16:creationId xmlns:a16="http://schemas.microsoft.com/office/drawing/2014/main" id="{820A2504-08C8-479E-9756-A02315840C34}"/>
                  </a:ext>
                </a:extLst>
              </p:cNvPr>
              <p:cNvSpPr>
                <a:spLocks noRot="1" noChangeAspect="1" noMove="1" noResize="1" noEditPoints="1" noAdjustHandles="1" noChangeArrowheads="1" noChangeShapeType="1" noTextEdit="1"/>
              </p:cNvSpPr>
              <p:nvPr/>
            </p:nvSpPr>
            <p:spPr>
              <a:xfrm>
                <a:off x="3898537" y="5576601"/>
                <a:ext cx="4139595" cy="1015663"/>
              </a:xfrm>
              <a:prstGeom prst="rect">
                <a:avLst/>
              </a:prstGeom>
              <a:blipFill>
                <a:blip r:embed="rId5"/>
                <a:stretch>
                  <a:fillRect b="-30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69B45955-0681-46FB-BE16-332DBEED8295}"/>
                  </a:ext>
                </a:extLst>
              </p:cNvPr>
              <p:cNvSpPr/>
              <p:nvPr/>
            </p:nvSpPr>
            <p:spPr>
              <a:xfrm>
                <a:off x="8528718" y="5684127"/>
                <a:ext cx="3276731" cy="67063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1" i="1" smtClean="0">
                          <a:solidFill>
                            <a:schemeClr val="bg1"/>
                          </a:solidFill>
                          <a:latin typeface="Cambria Math" panose="02040503050406030204" pitchFamily="18" charset="0"/>
                        </a:rPr>
                        <m:t>𝒑</m:t>
                      </m:r>
                      <m:r>
                        <a:rPr lang="en-US" sz="2000" b="1" i="1" smtClean="0">
                          <a:solidFill>
                            <a:schemeClr val="bg1"/>
                          </a:solidFill>
                          <a:latin typeface="Cambria Math" panose="02040503050406030204" pitchFamily="18" charset="0"/>
                        </a:rPr>
                        <m:t>&gt;</m:t>
                      </m:r>
                      <m:f>
                        <m:fPr>
                          <m:ctrlPr>
                            <a:rPr lang="en-US" sz="2000" b="1" i="1">
                              <a:solidFill>
                                <a:schemeClr val="bg1"/>
                              </a:solidFill>
                              <a:latin typeface="Cambria Math" panose="02040503050406030204" pitchFamily="18" charset="0"/>
                            </a:rPr>
                          </m:ctrlPr>
                        </m:fPr>
                        <m:num>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𝟖𝟕</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𝟐𝟕</m:t>
                          </m:r>
                        </m:num>
                        <m:den>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𝟖𝟐</m:t>
                          </m:r>
                        </m:den>
                      </m:f>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𝟕𝟑</m:t>
                      </m:r>
                      <m:r>
                        <a:rPr lang="en-US" sz="2000" b="1" i="1" smtClean="0">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𝟐</m:t>
                      </m:r>
                      <m:r>
                        <a:rPr lang="en-US" sz="2000" b="1" i="1">
                          <a:solidFill>
                            <a:schemeClr val="bg1"/>
                          </a:solidFill>
                          <a:latin typeface="Cambria Math" panose="02040503050406030204" pitchFamily="18" charset="0"/>
                        </a:rPr>
                        <m:t>%</m:t>
                      </m:r>
                    </m:oMath>
                  </m:oMathPara>
                </a14:m>
                <a:endParaRPr lang="en-US" sz="2000" b="1" dirty="0">
                  <a:solidFill>
                    <a:schemeClr val="bg1"/>
                  </a:solidFill>
                </a:endParaRPr>
              </a:p>
            </p:txBody>
          </p:sp>
        </mc:Choice>
        <mc:Fallback xmlns="">
          <p:sp>
            <p:nvSpPr>
              <p:cNvPr id="7" name="Rectangle 6">
                <a:extLst>
                  <a:ext uri="{FF2B5EF4-FFF2-40B4-BE49-F238E27FC236}">
                    <a16:creationId xmlns:a16="http://schemas.microsoft.com/office/drawing/2014/main" id="{69B45955-0681-46FB-BE16-332DBEED8295}"/>
                  </a:ext>
                </a:extLst>
              </p:cNvPr>
              <p:cNvSpPr>
                <a:spLocks noRot="1" noChangeAspect="1" noMove="1" noResize="1" noEditPoints="1" noAdjustHandles="1" noChangeArrowheads="1" noChangeShapeType="1" noTextEdit="1"/>
              </p:cNvSpPr>
              <p:nvPr/>
            </p:nvSpPr>
            <p:spPr>
              <a:xfrm>
                <a:off x="8528718" y="5684127"/>
                <a:ext cx="3276731" cy="670633"/>
              </a:xfrm>
              <a:prstGeom prst="rect">
                <a:avLst/>
              </a:prstGeom>
              <a:blipFill>
                <a:blip r:embed="rId6"/>
                <a:stretch>
                  <a:fillRect/>
                </a:stretch>
              </a:blipFill>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1F163F42-D15D-4A6B-9B56-E659E4F9D26B}"/>
              </a:ext>
            </a:extLst>
          </p:cNvPr>
          <p:cNvCxnSpPr>
            <a:cxnSpLocks/>
          </p:cNvCxnSpPr>
          <p:nvPr/>
        </p:nvCxnSpPr>
        <p:spPr>
          <a:xfrm flipV="1">
            <a:off x="7749475" y="6070730"/>
            <a:ext cx="779243" cy="3"/>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3295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2" y="-52156"/>
            <a:ext cx="12192000"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091281" y="1505396"/>
            <a:ext cx="9698369" cy="4770537"/>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Should We Steal if Man on First and No Outs?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In 2016, 71% Chance of Success on Steals</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Implies Bad Idea Based on Average Rate</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Suppose Super Mario is on 1</a:t>
            </a:r>
            <a:r>
              <a:rPr lang="en-US" sz="2000" baseline="30000" dirty="0">
                <a:solidFill>
                  <a:schemeClr val="bg1"/>
                </a:solidFill>
                <a:latin typeface="Selawik Semibold" panose="020B0702040204020203" pitchFamily="34" charset="0"/>
              </a:rPr>
              <a:t>st</a:t>
            </a:r>
            <a:r>
              <a:rPr lang="en-US" sz="2000" dirty="0">
                <a:solidFill>
                  <a:schemeClr val="bg1"/>
                </a:solidFill>
                <a:latin typeface="Selawik Semibold" panose="020B0702040204020203" pitchFamily="34" charset="0"/>
              </a:rPr>
              <a:t> Base with 95% Chance of Stealing</a:t>
            </a: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Marginal Increase: </a:t>
            </a:r>
          </a:p>
          <a:p>
            <a:pPr lvl="1"/>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Conservative Versus Liberal Base Running</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Expected 0.87 Runs in State = 0100</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Single Gets Hit and Runner Is Faced With Two Choices</a:t>
            </a:r>
          </a:p>
          <a:p>
            <a:pPr marL="1257269" lvl="2" indent="-342891">
              <a:buFont typeface="Arial" panose="020B0604020202020204" pitchFamily="34" charset="0"/>
              <a:buChar char="•"/>
            </a:pPr>
            <a:r>
              <a:rPr lang="en-US" dirty="0">
                <a:solidFill>
                  <a:schemeClr val="bg1"/>
                </a:solidFill>
                <a:latin typeface="Selawik Semibold" panose="020B0702040204020203" pitchFamily="34" charset="0"/>
              </a:rPr>
              <a:t>Scenario 1: Attempt to Get to 3</a:t>
            </a:r>
            <a:r>
              <a:rPr lang="en-US" baseline="30000" dirty="0">
                <a:solidFill>
                  <a:schemeClr val="bg1"/>
                </a:solidFill>
                <a:latin typeface="Selawik Semibold" panose="020B0702040204020203" pitchFamily="34" charset="0"/>
              </a:rPr>
              <a:t>rd</a:t>
            </a:r>
            <a:r>
              <a:rPr lang="en-US" dirty="0">
                <a:solidFill>
                  <a:schemeClr val="bg1"/>
                </a:solidFill>
                <a:latin typeface="Selawik Semibold" panose="020B0702040204020203" pitchFamily="34" charset="0"/>
              </a:rPr>
              <a:t> Base</a:t>
            </a:r>
          </a:p>
          <a:p>
            <a:pPr marL="1257269" lvl="2" indent="-342891">
              <a:buFont typeface="Arial" panose="020B0604020202020204" pitchFamily="34" charset="0"/>
              <a:buChar char="•"/>
            </a:pPr>
            <a:r>
              <a:rPr lang="en-US" dirty="0">
                <a:solidFill>
                  <a:schemeClr val="bg1"/>
                </a:solidFill>
                <a:latin typeface="Selawik Semibold" panose="020B0702040204020203" pitchFamily="34" charset="0"/>
              </a:rPr>
              <a:t>Scenario 2: Stop at 2</a:t>
            </a:r>
            <a:r>
              <a:rPr lang="en-US" baseline="30000" dirty="0">
                <a:solidFill>
                  <a:schemeClr val="bg1"/>
                </a:solidFill>
                <a:latin typeface="Selawik Semibold" panose="020B0702040204020203" pitchFamily="34" charset="0"/>
              </a:rPr>
              <a:t>nd</a:t>
            </a:r>
            <a:r>
              <a:rPr lang="en-US" dirty="0">
                <a:solidFill>
                  <a:schemeClr val="bg1"/>
                </a:solidFill>
                <a:latin typeface="Selawik Semibold" panose="020B0702040204020203" pitchFamily="34" charset="0"/>
              </a:rPr>
              <a:t> Base </a:t>
            </a:r>
          </a:p>
        </p:txBody>
      </p: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40AE6C3F-B6E1-40B7-AA17-133C6A13CE54}"/>
                  </a:ext>
                </a:extLst>
              </p:cNvPr>
              <p:cNvSpPr/>
              <p:nvPr/>
            </p:nvSpPr>
            <p:spPr>
              <a:xfrm>
                <a:off x="3803221" y="2953852"/>
                <a:ext cx="5951373"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1" i="1" smtClean="0">
                          <a:solidFill>
                            <a:schemeClr val="bg1"/>
                          </a:solidFill>
                          <a:latin typeface="Cambria Math" panose="02040503050406030204" pitchFamily="18" charset="0"/>
                        </a:rPr>
                        <m:t>𝑬</m:t>
                      </m:r>
                      <m:d>
                        <m:dPr>
                          <m:begChr m:val="["/>
                          <m:endChr m:val="]"/>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𝑿</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𝟗𝟓</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𝟎𝟗</m:t>
                      </m:r>
                      <m:r>
                        <a:rPr lang="en-US" sz="2000" b="1" i="1">
                          <a:solidFill>
                            <a:schemeClr val="bg1"/>
                          </a:solidFill>
                          <a:latin typeface="Cambria Math" panose="02040503050406030204" pitchFamily="18" charset="0"/>
                        </a:rPr>
                        <m:t>+</m:t>
                      </m:r>
                      <m:d>
                        <m:dPr>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𝟗𝟓</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𝟐𝟕</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𝟎𝟒𝟗</m:t>
                      </m:r>
                    </m:oMath>
                  </m:oMathPara>
                </a14:m>
                <a:endParaRPr lang="en-US" sz="2000" b="1" dirty="0">
                  <a:solidFill>
                    <a:schemeClr val="bg1"/>
                  </a:solidFill>
                </a:endParaRPr>
              </a:p>
            </p:txBody>
          </p:sp>
        </mc:Choice>
        <mc:Fallback xmlns="">
          <p:sp>
            <p:nvSpPr>
              <p:cNvPr id="14" name="Rectangle 13">
                <a:extLst>
                  <a:ext uri="{FF2B5EF4-FFF2-40B4-BE49-F238E27FC236}">
                    <a16:creationId xmlns:a16="http://schemas.microsoft.com/office/drawing/2014/main" id="{40AE6C3F-B6E1-40B7-AA17-133C6A13CE54}"/>
                  </a:ext>
                </a:extLst>
              </p:cNvPr>
              <p:cNvSpPr>
                <a:spLocks noRot="1" noChangeAspect="1" noMove="1" noResize="1" noEditPoints="1" noAdjustHandles="1" noChangeArrowheads="1" noChangeShapeType="1" noTextEdit="1"/>
              </p:cNvSpPr>
              <p:nvPr/>
            </p:nvSpPr>
            <p:spPr>
              <a:xfrm>
                <a:off x="3803221" y="2953852"/>
                <a:ext cx="5951373" cy="40011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B6BC5217-F60D-4828-9A34-3570F52F07EC}"/>
                  </a:ext>
                </a:extLst>
              </p:cNvPr>
              <p:cNvSpPr/>
              <p:nvPr/>
            </p:nvSpPr>
            <p:spPr>
              <a:xfrm>
                <a:off x="3803220" y="3845452"/>
                <a:ext cx="3749809"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1" i="1" smtClean="0">
                          <a:solidFill>
                            <a:schemeClr val="bg1"/>
                          </a:solidFill>
                          <a:latin typeface="Cambria Math" panose="02040503050406030204" pitchFamily="18" charset="0"/>
                        </a:rPr>
                        <m:t>𝟏</m:t>
                      </m:r>
                      <m:r>
                        <a:rPr lang="en-US" sz="2000" b="1" i="1" smtClean="0">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𝟎𝟒𝟗</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smtClean="0">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𝟖𝟕</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𝟏𝟕𝟗</m:t>
                      </m:r>
                      <m:r>
                        <a:rPr lang="en-US" sz="2000" b="1" i="1">
                          <a:solidFill>
                            <a:schemeClr val="bg1"/>
                          </a:solidFill>
                          <a:latin typeface="Cambria Math" panose="02040503050406030204" pitchFamily="18" charset="0"/>
                        </a:rPr>
                        <m:t> </m:t>
                      </m:r>
                      <m:r>
                        <a:rPr lang="en-US" sz="2000" b="1" i="1">
                          <a:solidFill>
                            <a:schemeClr val="bg1"/>
                          </a:solidFill>
                          <a:latin typeface="Cambria Math" panose="02040503050406030204" pitchFamily="18" charset="0"/>
                        </a:rPr>
                        <m:t>𝑹𝒖𝒏𝒔</m:t>
                      </m:r>
                    </m:oMath>
                  </m:oMathPara>
                </a14:m>
                <a:endParaRPr lang="en-US" sz="2000" b="1" dirty="0">
                  <a:solidFill>
                    <a:schemeClr val="bg1"/>
                  </a:solidFill>
                </a:endParaRPr>
              </a:p>
            </p:txBody>
          </p:sp>
        </mc:Choice>
        <mc:Fallback xmlns="">
          <p:sp>
            <p:nvSpPr>
              <p:cNvPr id="15" name="Rectangle 14">
                <a:extLst>
                  <a:ext uri="{FF2B5EF4-FFF2-40B4-BE49-F238E27FC236}">
                    <a16:creationId xmlns:a16="http://schemas.microsoft.com/office/drawing/2014/main" id="{B6BC5217-F60D-4828-9A34-3570F52F07EC}"/>
                  </a:ext>
                </a:extLst>
              </p:cNvPr>
              <p:cNvSpPr>
                <a:spLocks noRot="1" noChangeAspect="1" noMove="1" noResize="1" noEditPoints="1" noAdjustHandles="1" noChangeArrowheads="1" noChangeShapeType="1" noTextEdit="1"/>
              </p:cNvSpPr>
              <p:nvPr/>
            </p:nvSpPr>
            <p:spPr>
              <a:xfrm>
                <a:off x="3803220" y="3845452"/>
                <a:ext cx="3749809" cy="40011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370505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4" y="-52156"/>
            <a:ext cx="12192002"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102857" y="1505398"/>
            <a:ext cx="8931919" cy="4832092"/>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Conservative Versus Liberal Base Running</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Under Scenario 1: Expect 1.68 Runs in State = 0101</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Under Scenario 2: Expect 1.46 Runs in State = 0110</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If Runner is Out: Expect 0.53 Runs in State = 1100</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Let p = Probability Base Runner Gets to 3</a:t>
            </a:r>
            <a:r>
              <a:rPr lang="en-US" sz="2000" baseline="30000" dirty="0">
                <a:solidFill>
                  <a:schemeClr val="bg1"/>
                </a:solidFill>
                <a:latin typeface="Selawik Semibold" panose="020B0702040204020203" pitchFamily="34" charset="0"/>
              </a:rPr>
              <a:t>rd</a:t>
            </a:r>
            <a:r>
              <a:rPr lang="en-US" sz="2000" dirty="0">
                <a:solidFill>
                  <a:schemeClr val="bg1"/>
                </a:solidFill>
                <a:latin typeface="Selawik Semibold" panose="020B0702040204020203" pitchFamily="34" charset="0"/>
              </a:rPr>
              <a:t> Base</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If p = 0.81, then…</a:t>
            </a: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endParaRPr lang="en-US" sz="2000" dirty="0">
              <a:solidFill>
                <a:schemeClr val="bg1"/>
              </a:solidFill>
              <a:latin typeface="Selawik Semibold" panose="020B0702040204020203" pitchFamily="34" charset="0"/>
            </a:endParaRP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Interpretation: If Base Runner has a 81% Chance of Getting to 3</a:t>
            </a:r>
            <a:r>
              <a:rPr lang="en-US" sz="2000" baseline="30000" dirty="0">
                <a:solidFill>
                  <a:schemeClr val="bg1"/>
                </a:solidFill>
                <a:latin typeface="Selawik Semibold" panose="020B0702040204020203" pitchFamily="34" charset="0"/>
              </a:rPr>
              <a:t>rd</a:t>
            </a:r>
            <a:r>
              <a:rPr lang="en-US" sz="2000" dirty="0">
                <a:solidFill>
                  <a:schemeClr val="bg1"/>
                </a:solidFill>
                <a:latin typeface="Selawik Semibold" panose="020B0702040204020203" pitchFamily="34" charset="0"/>
              </a:rPr>
              <a:t> Base, the Expected Number of Runs Under the Attempt “Breaks Even” with the Expected Number of Runs of Being a Coward</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Data from 2005: 97% of the Time Base Runner Succeeded</a:t>
            </a:r>
          </a:p>
          <a:p>
            <a:pPr marL="800080" lvl="1" indent="-342891">
              <a:buFont typeface="Arial" panose="020B0604020202020204" pitchFamily="34" charset="0"/>
              <a:buChar char="•"/>
            </a:pPr>
            <a:r>
              <a:rPr lang="en-US" sz="2000" dirty="0">
                <a:solidFill>
                  <a:schemeClr val="bg1"/>
                </a:solidFill>
                <a:latin typeface="Selawik Semibold" panose="020B0702040204020203" pitchFamily="34" charset="0"/>
              </a:rPr>
              <a:t>Only Thing That’s on My Mind, is Who’s </a:t>
            </a:r>
            <a:r>
              <a:rPr lang="en-US" sz="2000" dirty="0" err="1">
                <a:solidFill>
                  <a:schemeClr val="bg1"/>
                </a:solidFill>
                <a:latin typeface="Selawik Semibold" panose="020B0702040204020203" pitchFamily="34" charset="0"/>
              </a:rPr>
              <a:t>Gonna</a:t>
            </a:r>
            <a:r>
              <a:rPr lang="en-US" sz="2000" dirty="0">
                <a:solidFill>
                  <a:schemeClr val="bg1"/>
                </a:solidFill>
                <a:latin typeface="Selawik Semibold" panose="020B0702040204020203" pitchFamily="34" charset="0"/>
              </a:rPr>
              <a:t> Run This Town Tonight</a:t>
            </a:r>
          </a:p>
          <a:p>
            <a:pPr marL="800080" lvl="1" indent="-342891">
              <a:buFont typeface="Arial" panose="020B0604020202020204" pitchFamily="34" charset="0"/>
              <a:buChar char="•"/>
            </a:pPr>
            <a:endParaRPr lang="en-US" sz="2400" dirty="0">
              <a:solidFill>
                <a:schemeClr val="bg1"/>
              </a:solidFill>
              <a:latin typeface="Selawik Semibold" panose="020B0702040204020203" pitchFamily="34" charset="0"/>
            </a:endParaRPr>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AD5F1AA6-00B8-4EC6-B2CA-0F4E1706E829}"/>
                  </a:ext>
                </a:extLst>
              </p:cNvPr>
              <p:cNvSpPr/>
              <p:nvPr/>
            </p:nvSpPr>
            <p:spPr>
              <a:xfrm>
                <a:off x="3901865" y="3517155"/>
                <a:ext cx="4139595"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1" i="1" smtClean="0">
                          <a:solidFill>
                            <a:schemeClr val="bg1"/>
                          </a:solidFill>
                          <a:latin typeface="Cambria Math" panose="02040503050406030204" pitchFamily="18" charset="0"/>
                        </a:rPr>
                        <m:t>𝒑</m:t>
                      </m:r>
                      <m:r>
                        <a:rPr lang="en-US" sz="2000" b="1" i="1" smtClean="0">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𝟏</m:t>
                      </m:r>
                      <m:r>
                        <a:rPr lang="en-US" sz="2000" b="1" i="1" smtClean="0">
                          <a:solidFill>
                            <a:schemeClr val="bg1"/>
                          </a:solidFill>
                          <a:latin typeface="Cambria Math" panose="02040503050406030204" pitchFamily="18" charset="0"/>
                        </a:rPr>
                        <m:t>.</m:t>
                      </m:r>
                      <m:r>
                        <a:rPr lang="en-US" sz="2000" b="1" i="1" smtClean="0">
                          <a:solidFill>
                            <a:schemeClr val="bg1"/>
                          </a:solidFill>
                          <a:latin typeface="Cambria Math" panose="02040503050406030204" pitchFamily="18" charset="0"/>
                        </a:rPr>
                        <m:t>𝟔𝟖</m:t>
                      </m:r>
                      <m:r>
                        <a:rPr lang="en-US" sz="2000" b="1" i="1">
                          <a:solidFill>
                            <a:schemeClr val="bg1"/>
                          </a:solidFill>
                          <a:latin typeface="Cambria Math" panose="02040503050406030204" pitchFamily="18" charset="0"/>
                        </a:rPr>
                        <m:t>+</m:t>
                      </m:r>
                      <m:d>
                        <m:dPr>
                          <m:ctrlPr>
                            <a:rPr lang="en-US" sz="2000" b="1" i="1">
                              <a:solidFill>
                                <a:schemeClr val="bg1"/>
                              </a:solidFill>
                              <a:latin typeface="Cambria Math" panose="02040503050406030204" pitchFamily="18" charset="0"/>
                            </a:rPr>
                          </m:ctrlPr>
                        </m:dPr>
                        <m:e>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𝒑</m:t>
                          </m:r>
                        </m:e>
                      </m:d>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𝟎</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𝟓𝟑</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𝟏</m:t>
                      </m:r>
                      <m:r>
                        <a:rPr lang="en-US" sz="2000" b="1" i="1">
                          <a:solidFill>
                            <a:schemeClr val="bg1"/>
                          </a:solidFill>
                          <a:latin typeface="Cambria Math" panose="02040503050406030204" pitchFamily="18" charset="0"/>
                        </a:rPr>
                        <m:t>.</m:t>
                      </m:r>
                      <m:r>
                        <a:rPr lang="en-US" sz="2000" b="1" i="1">
                          <a:solidFill>
                            <a:schemeClr val="bg1"/>
                          </a:solidFill>
                          <a:latin typeface="Cambria Math" panose="02040503050406030204" pitchFamily="18" charset="0"/>
                        </a:rPr>
                        <m:t>𝟒𝟔</m:t>
                      </m:r>
                    </m:oMath>
                  </m:oMathPara>
                </a14:m>
                <a:endParaRPr lang="en-US" sz="2000" b="1" dirty="0">
                  <a:solidFill>
                    <a:schemeClr val="bg1"/>
                  </a:solidFill>
                </a:endParaRPr>
              </a:p>
            </p:txBody>
          </p:sp>
        </mc:Choice>
        <mc:Fallback xmlns="">
          <p:sp>
            <p:nvSpPr>
              <p:cNvPr id="12" name="Rectangle 11">
                <a:extLst>
                  <a:ext uri="{FF2B5EF4-FFF2-40B4-BE49-F238E27FC236}">
                    <a16:creationId xmlns:a16="http://schemas.microsoft.com/office/drawing/2014/main" id="{AD5F1AA6-00B8-4EC6-B2CA-0F4E1706E829}"/>
                  </a:ext>
                </a:extLst>
              </p:cNvPr>
              <p:cNvSpPr>
                <a:spLocks noRot="1" noChangeAspect="1" noMove="1" noResize="1" noEditPoints="1" noAdjustHandles="1" noChangeArrowheads="1" noChangeShapeType="1" noTextEdit="1"/>
              </p:cNvSpPr>
              <p:nvPr/>
            </p:nvSpPr>
            <p:spPr>
              <a:xfrm>
                <a:off x="3901865" y="3517155"/>
                <a:ext cx="4139595" cy="400110"/>
              </a:xfrm>
              <a:prstGeom prst="rect">
                <a:avLst/>
              </a:prstGeom>
              <a:blipFill>
                <a:blip r:embed="rId4"/>
                <a:stretch>
                  <a:fillRect b="-7576"/>
                </a:stretch>
              </a:blipFill>
            </p:spPr>
            <p:txBody>
              <a:bodyPr/>
              <a:lstStyle/>
              <a:p>
                <a:r>
                  <a:rPr lang="en-US">
                    <a:noFill/>
                  </a:rPr>
                  <a:t> </a:t>
                </a:r>
              </a:p>
            </p:txBody>
          </p:sp>
        </mc:Fallback>
      </mc:AlternateContent>
    </p:spTree>
    <p:extLst>
      <p:ext uri="{BB962C8B-B14F-4D97-AF65-F5344CB8AC3E}">
        <p14:creationId xmlns:p14="http://schemas.microsoft.com/office/powerpoint/2010/main" val="31652374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A8FE870-A334-4DE1-84A7-AB191ED10D63}"/>
              </a:ext>
            </a:extLst>
          </p:cNvPr>
          <p:cNvSpPr/>
          <p:nvPr/>
        </p:nvSpPr>
        <p:spPr>
          <a:xfrm>
            <a:off x="-2" y="0"/>
            <a:ext cx="12192000" cy="6910157"/>
          </a:xfrm>
          <a:prstGeom prst="rect">
            <a:avLst/>
          </a:prstGeom>
          <a:solidFill>
            <a:srgbClr val="39558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 up of a toy&#10;&#10;Description automatically generated">
            <a:extLst>
              <a:ext uri="{FF2B5EF4-FFF2-40B4-BE49-F238E27FC236}">
                <a16:creationId xmlns:a16="http://schemas.microsoft.com/office/drawing/2014/main" id="{131D5527-B848-4F84-9601-62DB93565332}"/>
              </a:ext>
            </a:extLst>
          </p:cNvPr>
          <p:cNvPicPr>
            <a:picLocks noChangeAspect="1"/>
          </p:cNvPicPr>
          <p:nvPr/>
        </p:nvPicPr>
        <p:blipFill rotWithShape="1">
          <a:blip r:embed="rId2">
            <a:extLst>
              <a:ext uri="{28A0092B-C50C-407E-A947-70E740481C1C}">
                <a14:useLocalDpi xmlns:a14="http://schemas.microsoft.com/office/drawing/2010/main" val="0"/>
              </a:ext>
            </a:extLst>
          </a:blip>
          <a:srcRect l="6238" r="10796"/>
          <a:stretch/>
        </p:blipFill>
        <p:spPr>
          <a:xfrm>
            <a:off x="2" y="-52156"/>
            <a:ext cx="2684015" cy="3969421"/>
          </a:xfrm>
          <a:prstGeom prst="rect">
            <a:avLst/>
          </a:prstGeom>
        </p:spPr>
      </p:pic>
      <p:sp>
        <p:nvSpPr>
          <p:cNvPr id="33" name="Rectangle 32">
            <a:extLst>
              <a:ext uri="{FF2B5EF4-FFF2-40B4-BE49-F238E27FC236}">
                <a16:creationId xmlns:a16="http://schemas.microsoft.com/office/drawing/2014/main" id="{6F93929A-DE1C-47C4-AF97-F99DB104E96F}"/>
              </a:ext>
            </a:extLst>
          </p:cNvPr>
          <p:cNvSpPr/>
          <p:nvPr/>
        </p:nvSpPr>
        <p:spPr>
          <a:xfrm rot="16200000">
            <a:off x="782432" y="1849427"/>
            <a:ext cx="3969421" cy="16625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35" name="Rectangle 34">
            <a:extLst>
              <a:ext uri="{FF2B5EF4-FFF2-40B4-BE49-F238E27FC236}">
                <a16:creationId xmlns:a16="http://schemas.microsoft.com/office/drawing/2014/main" id="{259A39E4-556F-4581-82A2-C6B68A8147A4}"/>
              </a:ext>
            </a:extLst>
          </p:cNvPr>
          <p:cNvSpPr/>
          <p:nvPr/>
        </p:nvSpPr>
        <p:spPr>
          <a:xfrm rot="10800000">
            <a:off x="-2" y="3756674"/>
            <a:ext cx="2850269" cy="310132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23" name="Subtitle 22">
            <a:extLst>
              <a:ext uri="{FF2B5EF4-FFF2-40B4-BE49-F238E27FC236}">
                <a16:creationId xmlns:a16="http://schemas.microsoft.com/office/drawing/2014/main" id="{1E5D6413-9C6F-483D-BE52-F3BBB1E74630}"/>
              </a:ext>
            </a:extLst>
          </p:cNvPr>
          <p:cNvSpPr>
            <a:spLocks noGrp="1"/>
          </p:cNvSpPr>
          <p:nvPr>
            <p:ph type="subTitle" idx="1"/>
          </p:nvPr>
        </p:nvSpPr>
        <p:spPr>
          <a:xfrm>
            <a:off x="3007491" y="137621"/>
            <a:ext cx="9341732" cy="1684867"/>
          </a:xfrm>
        </p:spPr>
        <p:txBody>
          <a:bodyPr>
            <a:normAutofit/>
          </a:bodyPr>
          <a:lstStyle/>
          <a:p>
            <a:pPr algn="l"/>
            <a:r>
              <a:rPr lang="en-US" sz="4400" dirty="0">
                <a:solidFill>
                  <a:schemeClr val="bg1"/>
                </a:solidFill>
                <a:latin typeface="Selawik Semibold" panose="020B0702040204020203" pitchFamily="34" charset="0"/>
              </a:rPr>
              <a:t>Baseball Decision-Making</a:t>
            </a:r>
          </a:p>
        </p:txBody>
      </p:sp>
      <p:pic>
        <p:nvPicPr>
          <p:cNvPr id="16" name="Picture 15" descr="A close up of a toy&#10;&#10;Description automatically generated">
            <a:extLst>
              <a:ext uri="{FF2B5EF4-FFF2-40B4-BE49-F238E27FC236}">
                <a16:creationId xmlns:a16="http://schemas.microsoft.com/office/drawing/2014/main" id="{94C75949-F15C-4E05-810D-EF40FCE891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7790" y="4380290"/>
            <a:ext cx="2014687" cy="201468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38" name="Rectangle 37">
            <a:extLst>
              <a:ext uri="{FF2B5EF4-FFF2-40B4-BE49-F238E27FC236}">
                <a16:creationId xmlns:a16="http://schemas.microsoft.com/office/drawing/2014/main" id="{28B1909D-4141-4FB1-8633-83F335349C97}"/>
              </a:ext>
            </a:extLst>
          </p:cNvPr>
          <p:cNvSpPr/>
          <p:nvPr/>
        </p:nvSpPr>
        <p:spPr>
          <a:xfrm rot="10800000">
            <a:off x="3007493" y="844063"/>
            <a:ext cx="9027283" cy="1370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DB5B5C"/>
              </a:solidFill>
            </a:endParaRPr>
          </a:p>
        </p:txBody>
      </p:sp>
      <p:sp>
        <p:nvSpPr>
          <p:cNvPr id="10" name="TextBox 9">
            <a:extLst>
              <a:ext uri="{FF2B5EF4-FFF2-40B4-BE49-F238E27FC236}">
                <a16:creationId xmlns:a16="http://schemas.microsoft.com/office/drawing/2014/main" id="{8A07C2CC-416F-4D29-84CF-D1F8B766EE5F}"/>
              </a:ext>
            </a:extLst>
          </p:cNvPr>
          <p:cNvSpPr txBox="1"/>
          <p:nvPr/>
        </p:nvSpPr>
        <p:spPr>
          <a:xfrm>
            <a:off x="3102857" y="1505397"/>
            <a:ext cx="9698369" cy="461665"/>
          </a:xfrm>
          <a:prstGeom prst="rect">
            <a:avLst/>
          </a:prstGeom>
          <a:noFill/>
        </p:spPr>
        <p:txBody>
          <a:bodyPr wrap="square" rtlCol="0">
            <a:spAutoFit/>
          </a:bodyPr>
          <a:lstStyle/>
          <a:p>
            <a:pPr marL="342891" indent="-342891">
              <a:buFont typeface="Arial" panose="020B0604020202020204" pitchFamily="34" charset="0"/>
              <a:buChar char="•"/>
            </a:pPr>
            <a:r>
              <a:rPr lang="en-US" sz="2400" dirty="0">
                <a:solidFill>
                  <a:schemeClr val="bg1"/>
                </a:solidFill>
                <a:latin typeface="Selawik Semibold" panose="020B0702040204020203" pitchFamily="34" charset="0"/>
              </a:rPr>
              <a:t>Conservative Versus Liberal Base Running</a:t>
            </a:r>
          </a:p>
        </p:txBody>
      </p:sp>
      <p:pic>
        <p:nvPicPr>
          <p:cNvPr id="4" name="Picture 3">
            <a:extLst>
              <a:ext uri="{FF2B5EF4-FFF2-40B4-BE49-F238E27FC236}">
                <a16:creationId xmlns:a16="http://schemas.microsoft.com/office/drawing/2014/main" id="{04AA395F-BA44-799F-1D70-AF252F4416D3}"/>
              </a:ext>
            </a:extLst>
          </p:cNvPr>
          <p:cNvPicPr>
            <a:picLocks noChangeAspect="1"/>
          </p:cNvPicPr>
          <p:nvPr/>
        </p:nvPicPr>
        <p:blipFill>
          <a:blip r:embed="rId4"/>
          <a:stretch>
            <a:fillRect/>
          </a:stretch>
        </p:blipFill>
        <p:spPr>
          <a:xfrm>
            <a:off x="3620919" y="2164109"/>
            <a:ext cx="4950162" cy="4432362"/>
          </a:xfrm>
          <a:prstGeom prst="rect">
            <a:avLst/>
          </a:prstGeom>
          <a:ln w="25400">
            <a:solidFill>
              <a:schemeClr val="tx1"/>
            </a:solidFill>
          </a:ln>
        </p:spPr>
      </p:pic>
    </p:spTree>
    <p:extLst>
      <p:ext uri="{BB962C8B-B14F-4D97-AF65-F5344CB8AC3E}">
        <p14:creationId xmlns:p14="http://schemas.microsoft.com/office/powerpoint/2010/main" val="30131605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395583"/>
        </a:solidFill>
        <a:effectLst/>
      </p:bgPr>
    </p:bg>
    <p:spTree>
      <p:nvGrpSpPr>
        <p:cNvPr id="1" name=""/>
        <p:cNvGrpSpPr/>
        <p:nvPr/>
      </p:nvGrpSpPr>
      <p:grpSpPr>
        <a:xfrm>
          <a:off x="0" y="0"/>
          <a:ext cx="0" cy="0"/>
          <a:chOff x="0" y="0"/>
          <a:chExt cx="0" cy="0"/>
        </a:xfrm>
      </p:grpSpPr>
      <p:pic>
        <p:nvPicPr>
          <p:cNvPr id="5" name="Picture 4" descr="A picture containing indoor&#10;&#10;Description automatically generated">
            <a:extLst>
              <a:ext uri="{FF2B5EF4-FFF2-40B4-BE49-F238E27FC236}">
                <a16:creationId xmlns:a16="http://schemas.microsoft.com/office/drawing/2014/main" id="{48589EA3-03B9-4D42-8282-8AC52D63CBF3}"/>
              </a:ext>
            </a:extLst>
          </p:cNvPr>
          <p:cNvPicPr>
            <a:picLocks noChangeAspect="1"/>
          </p:cNvPicPr>
          <p:nvPr/>
        </p:nvPicPr>
        <p:blipFill rotWithShape="1">
          <a:blip r:embed="rId2">
            <a:extLst>
              <a:ext uri="{28A0092B-C50C-407E-A947-70E740481C1C}">
                <a14:useLocalDpi xmlns:a14="http://schemas.microsoft.com/office/drawing/2010/main" val="0"/>
              </a:ext>
            </a:extLst>
          </a:blip>
          <a:srcRect l="19805" r="19804" b="-1"/>
          <a:stretch/>
        </p:blipFill>
        <p:spPr>
          <a:xfrm>
            <a:off x="21" y="10"/>
            <a:ext cx="6024135" cy="6857991"/>
          </a:xfrm>
          <a:custGeom>
            <a:avLst/>
            <a:gdLst>
              <a:gd name="connsiteX0" fmla="*/ 0 w 6024154"/>
              <a:gd name="connsiteY0" fmla="*/ 0 h 6858000"/>
              <a:gd name="connsiteX1" fmla="*/ 5953780 w 6024154"/>
              <a:gd name="connsiteY1" fmla="*/ 0 h 6858000"/>
              <a:gd name="connsiteX2" fmla="*/ 5989880 w 6024154"/>
              <a:gd name="connsiteY2" fmla="*/ 284091 h 6858000"/>
              <a:gd name="connsiteX3" fmla="*/ 6024154 w 6024154"/>
              <a:gd name="connsiteY3" fmla="*/ 962844 h 6858000"/>
              <a:gd name="connsiteX4" fmla="*/ 2549934 w 6024154"/>
              <a:gd name="connsiteY4" fmla="*/ 6800152 h 6858000"/>
              <a:gd name="connsiteX5" fmla="*/ 2436987 w 6024154"/>
              <a:gd name="connsiteY5" fmla="*/ 6858000 h 6858000"/>
              <a:gd name="connsiteX6" fmla="*/ 0 w 6024154"/>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24154" h="6858000">
                <a:moveTo>
                  <a:pt x="0" y="0"/>
                </a:moveTo>
                <a:lnTo>
                  <a:pt x="5953780" y="0"/>
                </a:lnTo>
                <a:lnTo>
                  <a:pt x="5989880" y="284091"/>
                </a:lnTo>
                <a:cubicBezTo>
                  <a:pt x="6012544" y="507260"/>
                  <a:pt x="6024154" y="733696"/>
                  <a:pt x="6024154" y="962844"/>
                </a:cubicBezTo>
                <a:cubicBezTo>
                  <a:pt x="6024154" y="3483472"/>
                  <a:pt x="4619336" y="5675986"/>
                  <a:pt x="2549934" y="6800152"/>
                </a:cubicBezTo>
                <a:lnTo>
                  <a:pt x="2436987" y="6858000"/>
                </a:lnTo>
                <a:lnTo>
                  <a:pt x="0" y="6858000"/>
                </a:lnTo>
                <a:close/>
              </a:path>
            </a:pathLst>
          </a:custGeom>
          <a:ln w="28575">
            <a:noFill/>
          </a:ln>
        </p:spPr>
      </p:pic>
      <p:sp>
        <p:nvSpPr>
          <p:cNvPr id="12" name="Title 1">
            <a:extLst>
              <a:ext uri="{FF2B5EF4-FFF2-40B4-BE49-F238E27FC236}">
                <a16:creationId xmlns:a16="http://schemas.microsoft.com/office/drawing/2014/main" id="{0B9C460C-DD3D-4F1C-9FEE-8EC7228DF8C8}"/>
              </a:ext>
            </a:extLst>
          </p:cNvPr>
          <p:cNvSpPr>
            <a:spLocks noGrp="1"/>
          </p:cNvSpPr>
          <p:nvPr>
            <p:ph type="ctrTitle"/>
          </p:nvPr>
        </p:nvSpPr>
        <p:spPr>
          <a:xfrm>
            <a:off x="4232781" y="359965"/>
            <a:ext cx="7834193" cy="1264588"/>
          </a:xfrm>
        </p:spPr>
        <p:txBody>
          <a:bodyPr anchor="ctr">
            <a:normAutofit/>
          </a:bodyPr>
          <a:lstStyle/>
          <a:p>
            <a:pPr algn="r"/>
            <a:r>
              <a:rPr lang="en-US" dirty="0">
                <a:latin typeface="Selawik Semibold" panose="020B0702040204020203" pitchFamily="34" charset="0"/>
              </a:rPr>
              <a:t>Final Inspiration</a:t>
            </a:r>
          </a:p>
        </p:txBody>
      </p:sp>
      <p:sp>
        <p:nvSpPr>
          <p:cNvPr id="16" name="Content Placeholder 8">
            <a:extLst>
              <a:ext uri="{FF2B5EF4-FFF2-40B4-BE49-F238E27FC236}">
                <a16:creationId xmlns:a16="http://schemas.microsoft.com/office/drawing/2014/main" id="{EFC1D832-5298-413A-ACCB-93C0C72C636D}"/>
              </a:ext>
            </a:extLst>
          </p:cNvPr>
          <p:cNvSpPr txBox="1">
            <a:spLocks/>
          </p:cNvSpPr>
          <p:nvPr/>
        </p:nvSpPr>
        <p:spPr>
          <a:xfrm>
            <a:off x="4780346" y="4357577"/>
            <a:ext cx="7105564" cy="324700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en-US" sz="2800" dirty="0">
                <a:latin typeface="Selawik Semibold" panose="020B0702040204020203" pitchFamily="34" charset="0"/>
              </a:rPr>
              <a:t>If you are scared of a new situation, then lean in; you may just get hit by a pitch.</a:t>
            </a:r>
          </a:p>
          <a:p>
            <a:pPr algn="r"/>
            <a:r>
              <a:rPr lang="en-US" sz="2800" dirty="0">
                <a:latin typeface="Selawik Semibold" panose="020B0702040204020203" pitchFamily="34" charset="0"/>
              </a:rPr>
              <a:t> </a:t>
            </a:r>
          </a:p>
          <a:p>
            <a:pPr algn="r"/>
            <a:r>
              <a:rPr lang="en-US" sz="2800" dirty="0">
                <a:latin typeface="Selawik Semibold" panose="020B0702040204020203" pitchFamily="34" charset="0"/>
              </a:rPr>
              <a:t>-Mahatma Mario</a:t>
            </a:r>
          </a:p>
          <a:p>
            <a:pPr lvl="2" algn="r"/>
            <a:endParaRPr lang="en-US" sz="2800" dirty="0">
              <a:latin typeface="Selawik Semibold" panose="020B0702040204020203" pitchFamily="34" charset="0"/>
            </a:endParaRPr>
          </a:p>
          <a:p>
            <a:pPr lvl="2" algn="r"/>
            <a:endParaRPr lang="en-US" sz="2800" dirty="0">
              <a:latin typeface="Selawik Semibold" panose="020B0702040204020203" pitchFamily="34" charset="0"/>
            </a:endParaRPr>
          </a:p>
          <a:p>
            <a:pPr lvl="2" algn="r"/>
            <a:endParaRPr lang="en-US" sz="2800" dirty="0">
              <a:latin typeface="Selawik Semibold" panose="020B0702040204020203" pitchFamily="34" charset="0"/>
            </a:endParaRPr>
          </a:p>
        </p:txBody>
      </p:sp>
    </p:spTree>
    <p:extLst>
      <p:ext uri="{BB962C8B-B14F-4D97-AF65-F5344CB8AC3E}">
        <p14:creationId xmlns:p14="http://schemas.microsoft.com/office/powerpoint/2010/main" val="1593475065"/>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4228</TotalTime>
  <Words>1115</Words>
  <Application>Microsoft Office PowerPoint</Application>
  <PresentationFormat>Widescreen</PresentationFormat>
  <Paragraphs>189</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Calibri Light</vt:lpstr>
      <vt:lpstr>Cambria Math</vt:lpstr>
      <vt:lpstr>Selawik Semibold</vt:lpstr>
      <vt:lpstr>Office Theme</vt:lpstr>
      <vt:lpstr>Baseball 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Final Inspiration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Baseball I</dc:title>
  <dc:creator>Super Mario</dc:creator>
  <cp:lastModifiedBy>Giacomazzo, Mario Sy John</cp:lastModifiedBy>
  <cp:revision>166</cp:revision>
  <dcterms:created xsi:type="dcterms:W3CDTF">2019-09-02T18:29:52Z</dcterms:created>
  <dcterms:modified xsi:type="dcterms:W3CDTF">2026-02-20T18:37:30Z</dcterms:modified>
</cp:coreProperties>
</file>